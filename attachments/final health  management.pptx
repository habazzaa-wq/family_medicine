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latinLnBrk="0">
      <a:defRPr sz="1200">
        <a:latin typeface="+mj-lt"/>
        <a:ea typeface="+mj-ea"/>
        <a:cs typeface="+mj-cs"/>
        <a:sym typeface="Calibri"/>
      </a:defRPr>
    </a:lvl1pPr>
    <a:lvl2pPr indent="228600" algn="r" latinLnBrk="0">
      <a:defRPr sz="1200">
        <a:latin typeface="+mj-lt"/>
        <a:ea typeface="+mj-ea"/>
        <a:cs typeface="+mj-cs"/>
        <a:sym typeface="Calibri"/>
      </a:defRPr>
    </a:lvl2pPr>
    <a:lvl3pPr indent="457200" algn="r" latinLnBrk="0">
      <a:defRPr sz="1200">
        <a:latin typeface="+mj-lt"/>
        <a:ea typeface="+mj-ea"/>
        <a:cs typeface="+mj-cs"/>
        <a:sym typeface="Calibri"/>
      </a:defRPr>
    </a:lvl3pPr>
    <a:lvl4pPr indent="685800" algn="r" latinLnBrk="0">
      <a:defRPr sz="1200">
        <a:latin typeface="+mj-lt"/>
        <a:ea typeface="+mj-ea"/>
        <a:cs typeface="+mj-cs"/>
        <a:sym typeface="Calibri"/>
      </a:defRPr>
    </a:lvl4pPr>
    <a:lvl5pPr indent="914400" algn="r" latinLnBrk="0">
      <a:defRPr sz="1200">
        <a:latin typeface="+mj-lt"/>
        <a:ea typeface="+mj-ea"/>
        <a:cs typeface="+mj-cs"/>
        <a:sym typeface="Calibri"/>
      </a:defRPr>
    </a:lvl5pPr>
    <a:lvl6pPr indent="1143000" algn="r" latinLnBrk="0">
      <a:defRPr sz="1200">
        <a:latin typeface="+mj-lt"/>
        <a:ea typeface="+mj-ea"/>
        <a:cs typeface="+mj-cs"/>
        <a:sym typeface="Calibri"/>
      </a:defRPr>
    </a:lvl6pPr>
    <a:lvl7pPr indent="1371600" algn="r" latinLnBrk="0">
      <a:defRPr sz="1200">
        <a:latin typeface="+mj-lt"/>
        <a:ea typeface="+mj-ea"/>
        <a:cs typeface="+mj-cs"/>
        <a:sym typeface="Calibri"/>
      </a:defRPr>
    </a:lvl7pPr>
    <a:lvl8pPr indent="1600200" algn="r" latinLnBrk="0">
      <a:defRPr sz="1200">
        <a:latin typeface="+mj-lt"/>
        <a:ea typeface="+mj-ea"/>
        <a:cs typeface="+mj-cs"/>
        <a:sym typeface="Calibri"/>
      </a:defRPr>
    </a:lvl8pPr>
    <a:lvl9pPr indent="1828800" algn="r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r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r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r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57200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l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gif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Relationship Id="rId3" Type="http://schemas.openxmlformats.org/officeDocument/2006/relationships/image" Target="../media/image4.g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3266"/>
            <a:ext cx="9144000" cy="69341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/>
          <p:nvPr>
            <p:ph type="ctrTitle"/>
          </p:nvPr>
        </p:nvSpPr>
        <p:spPr>
          <a:xfrm>
            <a:off x="571471" y="357165"/>
            <a:ext cx="8229601" cy="2063724"/>
          </a:xfrm>
          <a:prstGeom prst="rect">
            <a:avLst/>
          </a:prstGeom>
        </p:spPr>
        <p:txBody>
          <a:bodyPr/>
          <a:lstStyle>
            <a:lvl1pPr>
              <a:defRPr b="1" sz="6600">
                <a:solidFill>
                  <a:srgbClr val="FF000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Strategic planning  </a:t>
            </a:r>
          </a:p>
        </p:txBody>
      </p:sp>
      <p:sp>
        <p:nvSpPr>
          <p:cNvPr id="97" name="Subtitle 2"/>
          <p:cNvSpPr txBox="1"/>
          <p:nvPr>
            <p:ph type="subTitle" sz="half" idx="1"/>
          </p:nvPr>
        </p:nvSpPr>
        <p:spPr>
          <a:xfrm>
            <a:off x="214313" y="5072074"/>
            <a:ext cx="8643968" cy="1500199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000"/>
              </a:spcBef>
              <a:defRPr b="1" sz="4400">
                <a:solidFill>
                  <a:srgbClr val="17375E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BY</a:t>
            </a:r>
          </a:p>
          <a:p>
            <a:pPr>
              <a:spcBef>
                <a:spcPts val="1000"/>
              </a:spcBef>
              <a:defRPr b="1" sz="4000">
                <a:solidFill>
                  <a:srgbClr val="17375E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Prof.</a:t>
            </a:r>
            <a:r>
              <a:rPr sz="4400"/>
              <a:t>  NAHED HASSAN </a:t>
            </a:r>
          </a:p>
        </p:txBody>
      </p:sp>
      <p:pic>
        <p:nvPicPr>
          <p:cNvPr id="9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57487" y="2928934"/>
            <a:ext cx="3857654" cy="1928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xfrm>
            <a:off x="1357290" y="214289"/>
            <a:ext cx="6429420" cy="819138"/>
          </a:xfrm>
          <a:prstGeom prst="rect">
            <a:avLst/>
          </a:prstGeom>
        </p:spPr>
        <p:txBody>
          <a:bodyPr/>
          <a:lstStyle>
            <a:lvl1pPr>
              <a:defRPr b="1"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Objectives of the lecture 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611559" y="1307544"/>
            <a:ext cx="8318160" cy="5001777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buSzTx/>
              <a:buNone/>
              <a:defRPr b="1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By the end of the lecture you will be able to:</a:t>
            </a:r>
          </a:p>
          <a:p>
            <a:pPr algn="l">
              <a:spcBef>
                <a:spcPts val="800"/>
              </a:spcBef>
              <a:defRPr b="1" sz="3600"/>
            </a:pPr>
            <a:r>
              <a:t>Define strategic planning. </a:t>
            </a:r>
          </a:p>
          <a:p>
            <a:pPr algn="l">
              <a:spcBef>
                <a:spcPts val="800"/>
              </a:spcBef>
              <a:defRPr b="1" sz="3600"/>
            </a:pPr>
            <a:r>
              <a:t>Explain basics &amp; phases of strategic planning. </a:t>
            </a:r>
          </a:p>
          <a:p>
            <a:pPr algn="l">
              <a:spcBef>
                <a:spcPts val="800"/>
              </a:spcBef>
              <a:defRPr b="1" sz="3600"/>
            </a:pPr>
            <a:r>
              <a:t>Describe steps of action plan. </a:t>
            </a:r>
          </a:p>
          <a:p>
            <a:pPr algn="l">
              <a:spcBef>
                <a:spcPts val="800"/>
              </a:spcBef>
              <a:defRPr b="1" sz="3600"/>
            </a:pPr>
            <a:r>
              <a:t>Describe types and levels of evaluation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xfrm>
            <a:off x="685800" y="44624"/>
            <a:ext cx="7772400" cy="864096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pPr/>
            <a:r>
              <a:t>Introduction 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179511" y="1268759"/>
            <a:ext cx="8784978" cy="5328594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800"/>
              </a:spcBef>
              <a:defRPr b="1" sz="3600"/>
            </a:pPr>
            <a:r>
              <a:t>Planning  is a process of deciding how the future should be better than present </a:t>
            </a:r>
            <a:r>
              <a:rPr>
                <a:solidFill>
                  <a:srgbClr val="0000FF"/>
                </a:solidFill>
              </a:rPr>
              <a:t>(</a:t>
            </a:r>
            <a:r>
              <a:rPr i="1">
                <a:solidFill>
                  <a:srgbClr val="0000FF"/>
                </a:solidFill>
              </a:rPr>
              <a:t>so it is a mean not an end</a:t>
            </a:r>
            <a:r>
              <a:rPr>
                <a:solidFill>
                  <a:srgbClr val="0000FF"/>
                </a:solidFill>
              </a:rPr>
              <a:t>).</a:t>
            </a:r>
            <a:endParaRPr>
              <a:solidFill>
                <a:srgbClr val="0000FF"/>
              </a:solidFill>
            </a:endParaRPr>
          </a:p>
          <a:p>
            <a:pPr algn="l">
              <a:spcBef>
                <a:spcPts val="800"/>
              </a:spcBef>
              <a:defRPr b="1" sz="3600"/>
            </a:pPr>
            <a:r>
              <a:t>Planning determines where an institution is going over the next year or more, either for growth, or renewal.</a:t>
            </a:r>
          </a:p>
          <a:p>
            <a:pPr algn="l">
              <a:spcBef>
                <a:spcPts val="800"/>
              </a:spcBef>
              <a:defRPr b="1" sz="3600"/>
            </a:pPr>
            <a:r>
              <a:t>So; strategic planning is based on </a:t>
            </a:r>
            <a:r>
              <a:rPr>
                <a:solidFill>
                  <a:srgbClr val="C00000"/>
                </a:solidFill>
              </a:rPr>
              <a:t>a vision</a:t>
            </a:r>
            <a:r>
              <a:t>, </a:t>
            </a:r>
            <a:r>
              <a:rPr>
                <a:solidFill>
                  <a:srgbClr val="C00000"/>
                </a:solidFill>
              </a:rPr>
              <a:t>mission, </a:t>
            </a:r>
            <a:r>
              <a:t>and</a:t>
            </a:r>
            <a:r>
              <a:rPr>
                <a:solidFill>
                  <a:srgbClr val="C00000"/>
                </a:solidFill>
              </a:rPr>
              <a:t> values, </a:t>
            </a:r>
            <a:r>
              <a:t>Then followed by implementation or action plan.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Title 1"/>
          <p:cNvGrpSpPr/>
          <p:nvPr/>
        </p:nvGrpSpPr>
        <p:grpSpPr>
          <a:xfrm>
            <a:off x="899591" y="107288"/>
            <a:ext cx="7200801" cy="1386840"/>
            <a:chOff x="0" y="0"/>
            <a:chExt cx="7200800" cy="1386839"/>
          </a:xfrm>
        </p:grpSpPr>
        <p:sp>
          <p:nvSpPr>
            <p:cNvPr id="106" name="Rectangle"/>
            <p:cNvSpPr/>
            <p:nvPr/>
          </p:nvSpPr>
          <p:spPr>
            <a:xfrm>
              <a:off x="0" y="9344"/>
              <a:ext cx="7200801" cy="136815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6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07" name="Phases of Strategic Planning"/>
            <p:cNvSpPr txBox="1"/>
            <p:nvPr/>
          </p:nvSpPr>
          <p:spPr>
            <a:xfrm>
              <a:off x="60007" y="-1"/>
              <a:ext cx="7080786" cy="1386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3600"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Phases of Strategic Planning   </a:t>
              </a:r>
            </a:p>
          </p:txBody>
        </p:sp>
      </p:grpSp>
      <p:grpSp>
        <p:nvGrpSpPr>
          <p:cNvPr id="111" name="Title 1"/>
          <p:cNvGrpSpPr/>
          <p:nvPr/>
        </p:nvGrpSpPr>
        <p:grpSpPr>
          <a:xfrm>
            <a:off x="755575" y="2420888"/>
            <a:ext cx="2304258" cy="576065"/>
            <a:chOff x="0" y="0"/>
            <a:chExt cx="2304256" cy="576064"/>
          </a:xfrm>
        </p:grpSpPr>
        <p:sp>
          <p:nvSpPr>
            <p:cNvPr id="109" name="Rectangle"/>
            <p:cNvSpPr/>
            <p:nvPr/>
          </p:nvSpPr>
          <p:spPr>
            <a:xfrm>
              <a:off x="-1" y="-1"/>
              <a:ext cx="2304258" cy="576066"/>
            </a:xfrm>
            <a:prstGeom prst="rect">
              <a:avLst/>
            </a:prstGeom>
            <a:solidFill>
              <a:srgbClr val="E6B9B8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800"/>
              </a:pPr>
            </a:p>
          </p:txBody>
        </p:sp>
        <p:sp>
          <p:nvSpPr>
            <p:cNvPr id="110" name="1- Vision"/>
            <p:cNvSpPr txBox="1"/>
            <p:nvPr/>
          </p:nvSpPr>
          <p:spPr>
            <a:xfrm>
              <a:off x="60007" y="65653"/>
              <a:ext cx="2184242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800"/>
              </a:lvl1pPr>
            </a:lstStyle>
            <a:p>
              <a:pPr/>
              <a:r>
                <a:t>1- Vision </a:t>
              </a:r>
            </a:p>
          </p:txBody>
        </p:sp>
      </p:grpSp>
      <p:grpSp>
        <p:nvGrpSpPr>
          <p:cNvPr id="114" name="Title 1"/>
          <p:cNvGrpSpPr/>
          <p:nvPr/>
        </p:nvGrpSpPr>
        <p:grpSpPr>
          <a:xfrm>
            <a:off x="755575" y="3645024"/>
            <a:ext cx="2304258" cy="576065"/>
            <a:chOff x="0" y="0"/>
            <a:chExt cx="2304256" cy="576064"/>
          </a:xfrm>
        </p:grpSpPr>
        <p:sp>
          <p:nvSpPr>
            <p:cNvPr id="112" name="Rectangle"/>
            <p:cNvSpPr/>
            <p:nvPr/>
          </p:nvSpPr>
          <p:spPr>
            <a:xfrm>
              <a:off x="-1" y="-1"/>
              <a:ext cx="2304258" cy="576066"/>
            </a:xfrm>
            <a:prstGeom prst="rect">
              <a:avLst/>
            </a:prstGeom>
            <a:solidFill>
              <a:srgbClr val="E6B9B8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800"/>
              </a:pPr>
            </a:p>
          </p:txBody>
        </p:sp>
        <p:sp>
          <p:nvSpPr>
            <p:cNvPr id="113" name="2- Mission"/>
            <p:cNvSpPr txBox="1"/>
            <p:nvPr/>
          </p:nvSpPr>
          <p:spPr>
            <a:xfrm>
              <a:off x="60007" y="65653"/>
              <a:ext cx="2184242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800"/>
              </a:lvl1pPr>
            </a:lstStyle>
            <a:p>
              <a:pPr/>
              <a:r>
                <a:t>2- Mission </a:t>
              </a:r>
            </a:p>
          </p:txBody>
        </p:sp>
      </p:grpSp>
      <p:grpSp>
        <p:nvGrpSpPr>
          <p:cNvPr id="117" name="Title 1"/>
          <p:cNvGrpSpPr/>
          <p:nvPr/>
        </p:nvGrpSpPr>
        <p:grpSpPr>
          <a:xfrm>
            <a:off x="755575" y="5157192"/>
            <a:ext cx="2304258" cy="576065"/>
            <a:chOff x="0" y="0"/>
            <a:chExt cx="2304256" cy="576064"/>
          </a:xfrm>
        </p:grpSpPr>
        <p:sp>
          <p:nvSpPr>
            <p:cNvPr id="115" name="Rectangle"/>
            <p:cNvSpPr/>
            <p:nvPr/>
          </p:nvSpPr>
          <p:spPr>
            <a:xfrm>
              <a:off x="-1" y="-1"/>
              <a:ext cx="2304258" cy="576066"/>
            </a:xfrm>
            <a:prstGeom prst="rect">
              <a:avLst/>
            </a:prstGeom>
            <a:solidFill>
              <a:srgbClr val="E6B9B8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800"/>
              </a:pPr>
            </a:p>
          </p:txBody>
        </p:sp>
        <p:sp>
          <p:nvSpPr>
            <p:cNvPr id="116" name="3- Values"/>
            <p:cNvSpPr txBox="1"/>
            <p:nvPr/>
          </p:nvSpPr>
          <p:spPr>
            <a:xfrm>
              <a:off x="60007" y="65653"/>
              <a:ext cx="2184242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800"/>
              </a:lvl1pPr>
            </a:lstStyle>
            <a:p>
              <a:pPr/>
              <a:r>
                <a:t>3- Values  </a:t>
              </a:r>
            </a:p>
          </p:txBody>
        </p:sp>
      </p:grpSp>
      <p:grpSp>
        <p:nvGrpSpPr>
          <p:cNvPr id="121" name="Curved Up Arrow 13"/>
          <p:cNvGrpSpPr/>
          <p:nvPr/>
        </p:nvGrpSpPr>
        <p:grpSpPr>
          <a:xfrm>
            <a:off x="2339751" y="5722168"/>
            <a:ext cx="4256601" cy="792098"/>
            <a:chOff x="0" y="0"/>
            <a:chExt cx="4256599" cy="792097"/>
          </a:xfrm>
        </p:grpSpPr>
        <p:sp>
          <p:nvSpPr>
            <p:cNvPr id="118" name="Shape"/>
            <p:cNvSpPr/>
            <p:nvPr/>
          </p:nvSpPr>
          <p:spPr>
            <a:xfrm>
              <a:off x="0" y="0"/>
              <a:ext cx="4256600" cy="792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32" fill="norm" stroke="1" extrusionOk="0">
                  <a:moveTo>
                    <a:pt x="20919" y="0"/>
                  </a:moveTo>
                  <a:lnTo>
                    <a:pt x="21600" y="5283"/>
                  </a:lnTo>
                  <a:lnTo>
                    <a:pt x="21098" y="5283"/>
                  </a:lnTo>
                  <a:cubicBezTo>
                    <a:pt x="19887" y="14990"/>
                    <a:pt x="15548" y="21600"/>
                    <a:pt x="10711" y="21107"/>
                  </a:cubicBezTo>
                  <a:lnTo>
                    <a:pt x="10711" y="21107"/>
                  </a:lnTo>
                  <a:cubicBezTo>
                    <a:pt x="15174" y="20651"/>
                    <a:pt x="18976" y="14240"/>
                    <a:pt x="20093" y="5283"/>
                  </a:cubicBezTo>
                  <a:lnTo>
                    <a:pt x="19590" y="5283"/>
                  </a:lnTo>
                  <a:close/>
                  <a:moveTo>
                    <a:pt x="10208" y="21132"/>
                  </a:moveTo>
                  <a:cubicBezTo>
                    <a:pt x="4570" y="21132"/>
                    <a:pt x="0" y="11671"/>
                    <a:pt x="0" y="0"/>
                  </a:cubicBezTo>
                  <a:lnTo>
                    <a:pt x="1005" y="0"/>
                  </a:lnTo>
                  <a:cubicBezTo>
                    <a:pt x="1005" y="11671"/>
                    <a:pt x="5575" y="21132"/>
                    <a:pt x="11213" y="2113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19" name="Shape"/>
            <p:cNvSpPr/>
            <p:nvPr/>
          </p:nvSpPr>
          <p:spPr>
            <a:xfrm>
              <a:off x="0" y="0"/>
              <a:ext cx="2209747" cy="792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64" y="21600"/>
                  </a:moveTo>
                  <a:cubicBezTo>
                    <a:pt x="8804" y="21600"/>
                    <a:pt x="0" y="11929"/>
                    <a:pt x="0" y="0"/>
                  </a:cubicBezTo>
                  <a:lnTo>
                    <a:pt x="1936" y="0"/>
                  </a:lnTo>
                  <a:cubicBezTo>
                    <a:pt x="1936" y="11929"/>
                    <a:pt x="10740" y="21600"/>
                    <a:pt x="21600" y="2160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20" name="Line"/>
            <p:cNvSpPr/>
            <p:nvPr/>
          </p:nvSpPr>
          <p:spPr>
            <a:xfrm>
              <a:off x="0" y="0"/>
              <a:ext cx="4256600" cy="792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11" y="21574"/>
                  </a:moveTo>
                  <a:lnTo>
                    <a:pt x="10711" y="21574"/>
                  </a:lnTo>
                  <a:cubicBezTo>
                    <a:pt x="15174" y="21108"/>
                    <a:pt x="18976" y="14555"/>
                    <a:pt x="20093" y="5400"/>
                  </a:cubicBezTo>
                  <a:lnTo>
                    <a:pt x="19590" y="5400"/>
                  </a:lnTo>
                  <a:lnTo>
                    <a:pt x="20919" y="0"/>
                  </a:lnTo>
                  <a:lnTo>
                    <a:pt x="21600" y="5400"/>
                  </a:lnTo>
                  <a:lnTo>
                    <a:pt x="21098" y="5400"/>
                  </a:lnTo>
                  <a:cubicBezTo>
                    <a:pt x="19934" y="14937"/>
                    <a:pt x="15868" y="21600"/>
                    <a:pt x="11213" y="21600"/>
                  </a:cubicBezTo>
                  <a:lnTo>
                    <a:pt x="10208" y="21600"/>
                  </a:lnTo>
                  <a:cubicBezTo>
                    <a:pt x="4570" y="21600"/>
                    <a:pt x="0" y="11929"/>
                    <a:pt x="0" y="0"/>
                  </a:cubicBezTo>
                  <a:lnTo>
                    <a:pt x="1005" y="0"/>
                  </a:lnTo>
                  <a:cubicBezTo>
                    <a:pt x="1005" y="11929"/>
                    <a:pt x="5575" y="21600"/>
                    <a:pt x="11213" y="21600"/>
                  </a:cubicBezTo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122" name="Straight Arrow Connector 30"/>
          <p:cNvSpPr/>
          <p:nvPr/>
        </p:nvSpPr>
        <p:spPr>
          <a:xfrm>
            <a:off x="1907703" y="4221088"/>
            <a:ext cx="1" cy="900101"/>
          </a:xfrm>
          <a:prstGeom prst="line">
            <a:avLst/>
          </a:prstGeom>
          <a:ln w="571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traight Arrow Connector 31"/>
          <p:cNvSpPr/>
          <p:nvPr/>
        </p:nvSpPr>
        <p:spPr>
          <a:xfrm>
            <a:off x="1907703" y="2996951"/>
            <a:ext cx="1" cy="576065"/>
          </a:xfrm>
          <a:prstGeom prst="line">
            <a:avLst/>
          </a:prstGeom>
          <a:ln w="571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traight Arrow Connector 32"/>
          <p:cNvSpPr/>
          <p:nvPr/>
        </p:nvSpPr>
        <p:spPr>
          <a:xfrm>
            <a:off x="1907703" y="1628800"/>
            <a:ext cx="1" cy="792089"/>
          </a:xfrm>
          <a:prstGeom prst="line">
            <a:avLst/>
          </a:prstGeom>
          <a:ln w="571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7" name="Oval 21"/>
          <p:cNvGrpSpPr/>
          <p:nvPr/>
        </p:nvGrpSpPr>
        <p:grpSpPr>
          <a:xfrm>
            <a:off x="4716016" y="1939176"/>
            <a:ext cx="4104457" cy="1107440"/>
            <a:chOff x="0" y="0"/>
            <a:chExt cx="4104456" cy="1107439"/>
          </a:xfrm>
        </p:grpSpPr>
        <p:sp>
          <p:nvSpPr>
            <p:cNvPr id="125" name="Oval"/>
            <p:cNvSpPr/>
            <p:nvPr/>
          </p:nvSpPr>
          <p:spPr>
            <a:xfrm>
              <a:off x="0" y="121671"/>
              <a:ext cx="4104457" cy="864097"/>
            </a:xfrm>
            <a:prstGeom prst="ellipse">
              <a:avLst/>
            </a:prstGeom>
            <a:solidFill>
              <a:schemeClr val="accent1"/>
            </a:solidFill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6" name="Set the action plan"/>
            <p:cNvSpPr txBox="1"/>
            <p:nvPr/>
          </p:nvSpPr>
          <p:spPr>
            <a:xfrm>
              <a:off x="659504" y="-1"/>
              <a:ext cx="2785449" cy="1107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defRPr>
              </a:pPr>
              <a:r>
                <a:t>Set the action plan</a:t>
              </a:r>
              <a:r>
                <a:rPr b="1" sz="1800">
                  <a:latin typeface="+mj-lt"/>
                  <a:ea typeface="+mj-ea"/>
                  <a:cs typeface="+mj-cs"/>
                  <a:sym typeface="Calibri"/>
                </a:rPr>
                <a:t> </a:t>
              </a:r>
            </a:p>
          </p:txBody>
        </p:sp>
      </p:grpSp>
      <p:sp>
        <p:nvSpPr>
          <p:cNvPr id="128" name="Up Arrow 1"/>
          <p:cNvSpPr/>
          <p:nvPr/>
        </p:nvSpPr>
        <p:spPr>
          <a:xfrm>
            <a:off x="6228184" y="2996952"/>
            <a:ext cx="504057" cy="27363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989"/>
                </a:moveTo>
                <a:lnTo>
                  <a:pt x="10800" y="0"/>
                </a:lnTo>
                <a:lnTo>
                  <a:pt x="21600" y="1989"/>
                </a:lnTo>
                <a:lnTo>
                  <a:pt x="16200" y="1989"/>
                </a:lnTo>
                <a:lnTo>
                  <a:pt x="16200" y="21600"/>
                </a:lnTo>
                <a:lnTo>
                  <a:pt x="5400" y="21600"/>
                </a:lnTo>
                <a:lnTo>
                  <a:pt x="5400" y="1989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pPr/>
            <a:r>
              <a:t>Question </a:t>
            </a:r>
          </a:p>
        </p:txBody>
      </p:sp>
      <p:sp>
        <p:nvSpPr>
          <p:cNvPr id="131" name="Content Placeholder 2"/>
          <p:cNvSpPr txBox="1"/>
          <p:nvPr>
            <p:ph type="body" sz="quarter" idx="1"/>
          </p:nvPr>
        </p:nvSpPr>
        <p:spPr>
          <a:xfrm>
            <a:off x="457200" y="2032248"/>
            <a:ext cx="8229600" cy="1252737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800"/>
              </a:spcBef>
              <a:defRPr b="1" sz="3600"/>
            </a:pPr>
            <a:r>
              <a:t>List phases of strategic planning</a:t>
            </a:r>
          </a:p>
          <a:p>
            <a:pPr marL="0" indent="0" algn="l">
              <a:spcBef>
                <a:spcPts val="800"/>
              </a:spcBef>
              <a:buSzTx/>
              <a:buNone/>
              <a:defRPr b="1" sz="3600"/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/>
          <p:nvPr>
            <p:ph type="title"/>
          </p:nvPr>
        </p:nvSpPr>
        <p:spPr>
          <a:xfrm>
            <a:off x="457200" y="142852"/>
            <a:ext cx="8291263" cy="989855"/>
          </a:xfrm>
          <a:prstGeom prst="rect">
            <a:avLst/>
          </a:prstGeom>
        </p:spPr>
        <p:txBody>
          <a:bodyPr/>
          <a:lstStyle>
            <a:lvl1pPr>
              <a:defRPr sz="3900">
                <a:solidFill>
                  <a:srgbClr val="FF00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Span of strategic  planning </a:t>
            </a:r>
          </a:p>
        </p:txBody>
      </p:sp>
      <p:sp>
        <p:nvSpPr>
          <p:cNvPr id="134" name="Content Placeholder 2"/>
          <p:cNvSpPr txBox="1"/>
          <p:nvPr>
            <p:ph type="body" idx="1"/>
          </p:nvPr>
        </p:nvSpPr>
        <p:spPr>
          <a:xfrm>
            <a:off x="457200" y="1357297"/>
            <a:ext cx="8229600" cy="4952024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900"/>
              </a:spcBef>
              <a:buClr>
                <a:srgbClr val="FFFF00"/>
              </a:buClr>
              <a:defRPr b="1" sz="40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  <a:r>
              <a:t>Long term planning    (15 year).</a:t>
            </a:r>
          </a:p>
          <a:p>
            <a:pPr algn="l">
              <a:spcBef>
                <a:spcPts val="900"/>
              </a:spcBef>
              <a:buClr>
                <a:srgbClr val="FFFF00"/>
              </a:buClr>
              <a:defRPr b="1" sz="40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  <a:r>
              <a:t>Intermediate planning (5 year).</a:t>
            </a:r>
          </a:p>
          <a:p>
            <a:pPr algn="l">
              <a:spcBef>
                <a:spcPts val="900"/>
              </a:spcBef>
              <a:buClr>
                <a:srgbClr val="FFFF00"/>
              </a:buClr>
              <a:defRPr b="1" sz="40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  <a:r>
              <a:t>Short term planning  (one year).</a:t>
            </a:r>
          </a:p>
          <a:p>
            <a:pPr algn="l">
              <a:defRPr b="1" sz="40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</a:p>
          <a:p>
            <a:pPr marL="0" indent="0" algn="l">
              <a:spcBef>
                <a:spcPts val="900"/>
              </a:spcBef>
              <a:buSzTx/>
              <a:buNone/>
              <a:defRPr b="1" sz="4000">
                <a:solidFill>
                  <a:srgbClr val="C0000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  <a:r>
              <a:t>Question </a:t>
            </a:r>
          </a:p>
          <a:p>
            <a:pPr marL="0" indent="0" algn="l">
              <a:spcBef>
                <a:spcPts val="800"/>
              </a:spcBef>
              <a:buSzTx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List the different spans of strategic planning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ontent Placeholder 2"/>
          <p:cNvSpPr txBox="1"/>
          <p:nvPr>
            <p:ph type="body" idx="1"/>
          </p:nvPr>
        </p:nvSpPr>
        <p:spPr>
          <a:xfrm>
            <a:off x="539551" y="1268759"/>
            <a:ext cx="8208914" cy="5256586"/>
          </a:xfrm>
          <a:prstGeom prst="rect">
            <a:avLst/>
          </a:prstGeom>
        </p:spPr>
        <p:txBody>
          <a:bodyPr/>
          <a:lstStyle/>
          <a:p>
            <a:pPr lvl="1" marL="742950" indent="-285750" algn="l">
              <a:spcBef>
                <a:spcPts val="900"/>
              </a:spcBef>
              <a:buFontTx/>
              <a:buChar char="▪"/>
              <a:defRPr b="1" sz="4000"/>
            </a:pPr>
            <a:r>
              <a:t>It is futuristic and long term</a:t>
            </a:r>
            <a:endParaRPr sz="2800"/>
          </a:p>
          <a:p>
            <a:pPr lvl="1" marL="742950" indent="-285750" algn="l">
              <a:spcBef>
                <a:spcPts val="900"/>
              </a:spcBef>
              <a:buFontTx/>
              <a:buChar char="▪"/>
              <a:defRPr b="1" sz="4000"/>
            </a:pPr>
            <a:r>
              <a:t>Vision statement answers several questions:</a:t>
            </a:r>
          </a:p>
          <a:p>
            <a:pPr lvl="2" marL="1143000" indent="-228600" algn="l">
              <a:spcBef>
                <a:spcPts val="800"/>
              </a:spcBef>
              <a:buFontTx/>
              <a:buChar char="▪"/>
              <a:defRPr b="1" sz="3600"/>
            </a:pPr>
            <a:r>
              <a:t>Where we want to go</a:t>
            </a:r>
            <a:endParaRPr sz="2400"/>
          </a:p>
          <a:p>
            <a:pPr lvl="2" marL="1143000" indent="-228600" algn="l">
              <a:spcBef>
                <a:spcPts val="800"/>
              </a:spcBef>
              <a:buFontTx/>
              <a:buChar char="▪"/>
              <a:defRPr b="1" sz="3600"/>
            </a:pPr>
            <a:r>
              <a:t>What we want to become</a:t>
            </a:r>
            <a:endParaRPr sz="2400"/>
          </a:p>
          <a:p>
            <a:pPr lvl="2" marL="1143000" indent="-228600" algn="l">
              <a:spcBef>
                <a:spcPts val="800"/>
              </a:spcBef>
              <a:buFontTx/>
              <a:buChar char="▪"/>
              <a:defRPr b="1" sz="3600"/>
            </a:pPr>
            <a:r>
              <a:t>What we want to accomplish</a:t>
            </a:r>
            <a:endParaRPr sz="2400"/>
          </a:p>
          <a:p>
            <a:pPr lvl="2" marL="1143000" indent="-228600" algn="l">
              <a:spcBef>
                <a:spcPts val="800"/>
              </a:spcBef>
              <a:buFontTx/>
              <a:buChar char="▪"/>
              <a:defRPr b="1" sz="3600"/>
            </a:pPr>
            <a:r>
              <a:t>Why it is important</a:t>
            </a:r>
          </a:p>
        </p:txBody>
      </p:sp>
      <p:sp>
        <p:nvSpPr>
          <p:cNvPr id="137" name="Title 3"/>
          <p:cNvSpPr txBox="1"/>
          <p:nvPr>
            <p:ph type="title"/>
          </p:nvPr>
        </p:nvSpPr>
        <p:spPr>
          <a:xfrm>
            <a:off x="457200" y="274638"/>
            <a:ext cx="8229600" cy="922114"/>
          </a:xfrm>
          <a:prstGeom prst="rect">
            <a:avLst/>
          </a:prstGeom>
        </p:spPr>
        <p:txBody>
          <a:bodyPr/>
          <a:lstStyle>
            <a:lvl1pPr>
              <a:defRPr b="1" sz="4300" u="sng">
                <a:solidFill>
                  <a:srgbClr val="0000FF"/>
                </a:solidFill>
              </a:defRPr>
            </a:lvl1pPr>
          </a:lstStyle>
          <a:p>
            <a:pPr/>
            <a:r>
              <a:t>1- Developing a Vision Statement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xfrm>
            <a:off x="685800" y="197768"/>
            <a:ext cx="7772400" cy="92697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/>
            <a:r>
              <a:t>Example </a:t>
            </a:r>
          </a:p>
        </p:txBody>
      </p:sp>
      <p:sp>
        <p:nvSpPr>
          <p:cNvPr id="140" name="Content Placeholder 2"/>
          <p:cNvSpPr txBox="1"/>
          <p:nvPr>
            <p:ph type="body" idx="1"/>
          </p:nvPr>
        </p:nvSpPr>
        <p:spPr>
          <a:xfrm>
            <a:off x="179512" y="1196752"/>
            <a:ext cx="8892480" cy="5400600"/>
          </a:xfrm>
          <a:prstGeom prst="rect">
            <a:avLst/>
          </a:prstGeom>
        </p:spPr>
        <p:txBody>
          <a:bodyPr/>
          <a:lstStyle/>
          <a:p>
            <a:pPr lvl="1" marL="285750" indent="171450" algn="l">
              <a:lnSpc>
                <a:spcPct val="90000"/>
              </a:lnSpc>
              <a:buSzTx/>
              <a:buNone/>
              <a:defRPr b="1" u="sng">
                <a:solidFill>
                  <a:srgbClr val="C00000"/>
                </a:solidFill>
              </a:defRPr>
            </a:pPr>
            <a:r>
              <a:t>vision of faculty of  medicine for girls Al-Azhar university </a:t>
            </a:r>
            <a:endParaRPr sz="2800"/>
          </a:p>
          <a:p>
            <a:pPr algn="l">
              <a:lnSpc>
                <a:spcPct val="90000"/>
              </a:lnSpc>
              <a:defRPr b="1" i="1"/>
            </a:pPr>
            <a:r>
              <a:t>"To provide </a:t>
            </a:r>
            <a:r>
              <a:rPr u="sng"/>
              <a:t>local, regional and international </a:t>
            </a:r>
            <a:r>
              <a:t>communities </a:t>
            </a:r>
            <a:r>
              <a:rPr sz="2000">
                <a:solidFill>
                  <a:srgbClr val="00B0F0"/>
                </a:solidFill>
              </a:rPr>
              <a:t>(where we want go) </a:t>
            </a:r>
            <a:r>
              <a:t>with female physicians </a:t>
            </a:r>
            <a:r>
              <a:rPr u="sng"/>
              <a:t>distinguished in updated science and Islamic culture</a:t>
            </a:r>
            <a:r>
              <a:rPr>
                <a:solidFill>
                  <a:srgbClr val="FF0000"/>
                </a:solidFill>
              </a:rPr>
              <a:t> </a:t>
            </a:r>
            <a:r>
              <a:rPr sz="2000">
                <a:solidFill>
                  <a:srgbClr val="00B0F0"/>
                </a:solidFill>
              </a:rPr>
              <a:t>(what we want accomplish)</a:t>
            </a:r>
            <a:r>
              <a:rPr>
                <a:solidFill>
                  <a:srgbClr val="FF0000"/>
                </a:solidFill>
              </a:rPr>
              <a:t>.</a:t>
            </a:r>
            <a:r>
              <a:t> We also look forward inculcate the </a:t>
            </a:r>
            <a:r>
              <a:rPr u="sng"/>
              <a:t>spirit of continuous learning, scientific research and community serving </a:t>
            </a:r>
            <a:r>
              <a:rPr sz="2000">
                <a:solidFill>
                  <a:srgbClr val="00B0F0"/>
                </a:solidFill>
              </a:rPr>
              <a:t>(where we want to become) </a:t>
            </a:r>
            <a:r>
              <a:t>in addition to insuring the ability to </a:t>
            </a:r>
            <a:r>
              <a:rPr u="sng"/>
              <a:t>compete in the professional field and labor market" </a:t>
            </a:r>
            <a:r>
              <a:rPr sz="2000">
                <a:solidFill>
                  <a:srgbClr val="00B0F0"/>
                </a:solidFill>
              </a:rPr>
              <a:t> (why it is important )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/>
          <p:nvPr>
            <p:ph type="title"/>
          </p:nvPr>
        </p:nvSpPr>
        <p:spPr>
          <a:xfrm>
            <a:off x="685800" y="260647"/>
            <a:ext cx="7772400" cy="792089"/>
          </a:xfrm>
          <a:prstGeom prst="rect">
            <a:avLst/>
          </a:prstGeom>
        </p:spPr>
        <p:txBody>
          <a:bodyPr/>
          <a:lstStyle>
            <a:lvl1pPr>
              <a:defRPr b="1" u="sng">
                <a:solidFill>
                  <a:srgbClr val="0000FF"/>
                </a:solidFill>
              </a:defRPr>
            </a:lvl1pPr>
          </a:lstStyle>
          <a:p>
            <a:pPr/>
            <a:r>
              <a:t>2- Developing mission statement </a:t>
            </a:r>
          </a:p>
        </p:txBody>
      </p:sp>
      <p:sp>
        <p:nvSpPr>
          <p:cNvPr id="143" name="Content Placeholder 2"/>
          <p:cNvSpPr txBox="1"/>
          <p:nvPr>
            <p:ph type="body" sz="half" idx="1"/>
          </p:nvPr>
        </p:nvSpPr>
        <p:spPr>
          <a:xfrm>
            <a:off x="395535" y="1412775"/>
            <a:ext cx="8568954" cy="2520282"/>
          </a:xfrm>
          <a:prstGeom prst="rect">
            <a:avLst/>
          </a:prstGeom>
        </p:spPr>
        <p:txBody>
          <a:bodyPr/>
          <a:lstStyle>
            <a:lvl1pPr algn="l">
              <a:spcBef>
                <a:spcPts val="1000"/>
              </a:spcBef>
              <a:defRPr b="1" sz="4400"/>
            </a:lvl1pPr>
          </a:lstStyle>
          <a:p>
            <a:pPr/>
            <a:r>
              <a:t>The mission statement describes the approaches to realize the sited vision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 txBox="1"/>
          <p:nvPr>
            <p:ph type="title"/>
          </p:nvPr>
        </p:nvSpPr>
        <p:spPr>
          <a:xfrm>
            <a:off x="685800" y="116631"/>
            <a:ext cx="7772400" cy="720082"/>
          </a:xfrm>
          <a:prstGeom prst="rect">
            <a:avLst/>
          </a:prstGeom>
        </p:spPr>
        <p:txBody>
          <a:bodyPr/>
          <a:lstStyle>
            <a:lvl1pPr>
              <a:defRPr b="1" sz="4300"/>
            </a:lvl1pPr>
          </a:lstStyle>
          <a:p>
            <a:pPr/>
            <a:r>
              <a:t>Example</a:t>
            </a:r>
          </a:p>
        </p:txBody>
      </p:sp>
      <p:sp>
        <p:nvSpPr>
          <p:cNvPr id="146" name="Content Placeholder 2"/>
          <p:cNvSpPr txBox="1"/>
          <p:nvPr>
            <p:ph type="body" idx="1"/>
          </p:nvPr>
        </p:nvSpPr>
        <p:spPr>
          <a:xfrm>
            <a:off x="251519" y="980727"/>
            <a:ext cx="8640962" cy="5616626"/>
          </a:xfrm>
          <a:prstGeom prst="rect">
            <a:avLst/>
          </a:prstGeom>
        </p:spPr>
        <p:txBody>
          <a:bodyPr/>
          <a:lstStyle/>
          <a:p>
            <a:pPr lvl="1" marL="285750" indent="171450" algn="l">
              <a:buSzTx/>
              <a:buNone/>
              <a:defRPr b="1" u="sng">
                <a:solidFill>
                  <a:srgbClr val="C00000"/>
                </a:solidFill>
              </a:defRPr>
            </a:pPr>
            <a:r>
              <a:t>mission of faculty medicine for girls : </a:t>
            </a:r>
            <a:endParaRPr sz="2800"/>
          </a:p>
          <a:p>
            <a:pPr algn="just">
              <a:spcBef>
                <a:spcPts val="800"/>
              </a:spcBef>
              <a:buSzTx/>
              <a:buNone/>
              <a:defRPr b="1" i="1"/>
            </a:pPr>
            <a:r>
              <a:t>" inculcate and acquire the </a:t>
            </a:r>
            <a:r>
              <a:rPr>
                <a:solidFill>
                  <a:srgbClr val="FF0000"/>
                </a:solidFill>
              </a:rPr>
              <a:t>quality standers </a:t>
            </a:r>
            <a:r>
              <a:t>in:  </a:t>
            </a:r>
            <a:r>
              <a:rPr>
                <a:solidFill>
                  <a:srgbClr val="00B0F0"/>
                </a:solidFill>
              </a:rPr>
              <a:t>(1)</a:t>
            </a:r>
            <a:r>
              <a:t> preparing the female graduates with medical </a:t>
            </a:r>
            <a:r>
              <a:rPr>
                <a:solidFill>
                  <a:srgbClr val="FF0000"/>
                </a:solidFill>
              </a:rPr>
              <a:t>knowledge, skills, technicalities and professional behavior in  medicine </a:t>
            </a:r>
            <a:r>
              <a:t>based upon legislation sciences and Islamic culture; and also to </a:t>
            </a:r>
            <a:r>
              <a:rPr>
                <a:solidFill>
                  <a:srgbClr val="00B0F0"/>
                </a:solidFill>
              </a:rPr>
              <a:t>(2) </a:t>
            </a:r>
            <a:r>
              <a:t>apply the basics of scientific thinking and research, and to </a:t>
            </a:r>
            <a:r>
              <a:rPr>
                <a:solidFill>
                  <a:srgbClr val="00B0F0"/>
                </a:solidFill>
              </a:rPr>
              <a:t>(3)</a:t>
            </a:r>
            <a:r>
              <a:t>encourage contentious learning for preparing graduates to provide health care and to progress in the fields that serve the community and environment</a:t>
            </a:r>
            <a:r>
              <a:rPr sz="3600"/>
              <a:t>.</a:t>
            </a:r>
            <a:r>
              <a:t>"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>
            <p:ph type="title"/>
          </p:nvPr>
        </p:nvSpPr>
        <p:spPr>
          <a:xfrm>
            <a:off x="685800" y="188639"/>
            <a:ext cx="7772400" cy="936106"/>
          </a:xfrm>
          <a:prstGeom prst="rect">
            <a:avLst/>
          </a:prstGeom>
        </p:spPr>
        <p:txBody>
          <a:bodyPr/>
          <a:lstStyle>
            <a:lvl1pPr>
              <a:defRPr b="1" u="sng">
                <a:solidFill>
                  <a:srgbClr val="0000FF"/>
                </a:solidFill>
              </a:defRPr>
            </a:lvl1pPr>
          </a:lstStyle>
          <a:p>
            <a:pPr/>
            <a:r>
              <a:t>3- Developing Values statement </a:t>
            </a:r>
          </a:p>
        </p:txBody>
      </p:sp>
      <p:sp>
        <p:nvSpPr>
          <p:cNvPr id="149" name="Content Placeholder 2"/>
          <p:cNvSpPr txBox="1"/>
          <p:nvPr>
            <p:ph type="body" idx="1"/>
          </p:nvPr>
        </p:nvSpPr>
        <p:spPr>
          <a:xfrm>
            <a:off x="395536" y="1196751"/>
            <a:ext cx="8396772" cy="5184578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900"/>
              </a:spcBef>
              <a:defRPr b="1" sz="4000"/>
            </a:pPr>
            <a:r>
              <a:t>Values represent the core priorities in any institution. </a:t>
            </a:r>
          </a:p>
          <a:p>
            <a:pPr algn="l">
              <a:spcBef>
                <a:spcPts val="900"/>
              </a:spcBef>
              <a:defRPr b="1" sz="4000"/>
            </a:pPr>
            <a:r>
              <a:t>Consider values of customers, employees and the community.</a:t>
            </a:r>
          </a:p>
          <a:p>
            <a:pPr algn="l">
              <a:spcBef>
                <a:spcPts val="900"/>
              </a:spcBef>
              <a:defRPr b="1" sz="4000"/>
            </a:pPr>
            <a:r>
              <a:t>Example: values of faculty medicine for girls Al-Azhar university:   </a:t>
            </a:r>
            <a:r>
              <a:rPr i="1" sz="3600">
                <a:solidFill>
                  <a:srgbClr val="0070C0"/>
                </a:solidFill>
              </a:rPr>
              <a:t>"Ethics, honesty, </a:t>
            </a:r>
            <a:r>
              <a:rPr i="1" sz="3600"/>
              <a:t>and</a:t>
            </a:r>
            <a:r>
              <a:rPr i="1" sz="3600">
                <a:solidFill>
                  <a:srgbClr val="0070C0"/>
                </a:solidFill>
              </a:rPr>
              <a:t> respect of patent's rights“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1">
                <a:solidFill>
                  <a:srgbClr val="C00000"/>
                </a:solidFill>
              </a:defRPr>
            </a:lvl1pPr>
          </a:lstStyle>
          <a:p>
            <a:pPr/>
            <a:r>
              <a:t>Question:</a:t>
            </a:r>
          </a:p>
        </p:txBody>
      </p:sp>
      <p:sp>
        <p:nvSpPr>
          <p:cNvPr id="15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algn="l">
              <a:spcBef>
                <a:spcPts val="900"/>
              </a:spcBef>
              <a:defRPr b="1" sz="4000">
                <a:solidFill>
                  <a:srgbClr val="C00000"/>
                </a:solidFill>
              </a:defRPr>
            </a:lvl1pPr>
          </a:lstStyle>
          <a:p>
            <a:pPr/>
            <a:r>
              <a:t>write 3 values could be used for your  place of work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/>
          <p:nvPr>
            <p:ph type="title"/>
          </p:nvPr>
        </p:nvSpPr>
        <p:spPr>
          <a:xfrm>
            <a:off x="2051719" y="142851"/>
            <a:ext cx="5904657" cy="775544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FF0000"/>
                </a:solidFill>
              </a:defRPr>
            </a:lvl1pPr>
          </a:lstStyle>
          <a:p>
            <a:pPr/>
            <a:r>
              <a:t>Operational  plan </a:t>
            </a:r>
          </a:p>
        </p:txBody>
      </p:sp>
      <p:sp>
        <p:nvSpPr>
          <p:cNvPr id="155" name="TextBox 4"/>
          <p:cNvSpPr txBox="1"/>
          <p:nvPr/>
        </p:nvSpPr>
        <p:spPr>
          <a:xfrm>
            <a:off x="3286116" y="1656382"/>
            <a:ext cx="2571769" cy="895609"/>
          </a:xfrm>
          <a:prstGeom prst="rect">
            <a:avLst/>
          </a:prstGeom>
          <a:solidFill>
            <a:srgbClr val="E6B9B8"/>
          </a:solidFill>
          <a:ln w="1905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1- Identify the health problems</a:t>
            </a:r>
          </a:p>
        </p:txBody>
      </p:sp>
      <p:sp>
        <p:nvSpPr>
          <p:cNvPr id="156" name="TextBox 5"/>
          <p:cNvSpPr txBox="1"/>
          <p:nvPr/>
        </p:nvSpPr>
        <p:spPr>
          <a:xfrm>
            <a:off x="5808696" y="3354377"/>
            <a:ext cx="2928960" cy="798870"/>
          </a:xfrm>
          <a:prstGeom prst="rect">
            <a:avLst/>
          </a:prstGeom>
          <a:solidFill>
            <a:srgbClr val="B7DEE8"/>
          </a:solidFill>
          <a:ln w="381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2- Prioritization of health problems </a:t>
            </a:r>
          </a:p>
        </p:txBody>
      </p:sp>
      <p:sp>
        <p:nvSpPr>
          <p:cNvPr id="157" name="TextBox 6"/>
          <p:cNvSpPr txBox="1"/>
          <p:nvPr/>
        </p:nvSpPr>
        <p:spPr>
          <a:xfrm>
            <a:off x="6228184" y="4902258"/>
            <a:ext cx="2571769" cy="7702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3- Assessment of resources</a:t>
            </a:r>
          </a:p>
        </p:txBody>
      </p:sp>
      <p:sp>
        <p:nvSpPr>
          <p:cNvPr id="158" name="TextBox 7"/>
          <p:cNvSpPr txBox="1"/>
          <p:nvPr/>
        </p:nvSpPr>
        <p:spPr>
          <a:xfrm>
            <a:off x="3563887" y="5373215"/>
            <a:ext cx="2143173" cy="11385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4- Establish goals &amp; objectives  </a:t>
            </a:r>
          </a:p>
        </p:txBody>
      </p:sp>
      <p:sp>
        <p:nvSpPr>
          <p:cNvPr id="159" name="TextBox 8"/>
          <p:cNvSpPr txBox="1"/>
          <p:nvPr/>
        </p:nvSpPr>
        <p:spPr>
          <a:xfrm>
            <a:off x="395536" y="4653136"/>
            <a:ext cx="2571769" cy="1138595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5- Action plan or  implementation  plan </a:t>
            </a:r>
          </a:p>
        </p:txBody>
      </p:sp>
      <p:sp>
        <p:nvSpPr>
          <p:cNvPr id="160" name="TextBox 9"/>
          <p:cNvSpPr txBox="1"/>
          <p:nvPr/>
        </p:nvSpPr>
        <p:spPr>
          <a:xfrm>
            <a:off x="500034" y="3284983"/>
            <a:ext cx="2357454" cy="457459"/>
          </a:xfrm>
          <a:prstGeom prst="rect">
            <a:avLst/>
          </a:prstGeom>
          <a:solidFill>
            <a:srgbClr val="B9CDE5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6- Evaluation</a:t>
            </a:r>
          </a:p>
        </p:txBody>
      </p:sp>
      <p:sp>
        <p:nvSpPr>
          <p:cNvPr id="161" name="Straight Arrow Connector 13"/>
          <p:cNvSpPr/>
          <p:nvPr/>
        </p:nvSpPr>
        <p:spPr>
          <a:xfrm>
            <a:off x="5857883" y="1844824"/>
            <a:ext cx="1738454" cy="136815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traight Arrow Connector 19"/>
          <p:cNvSpPr/>
          <p:nvPr/>
        </p:nvSpPr>
        <p:spPr>
          <a:xfrm flipH="1">
            <a:off x="7452344" y="4221088"/>
            <a:ext cx="1589" cy="571505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traight Arrow Connector 20"/>
          <p:cNvSpPr/>
          <p:nvPr/>
        </p:nvSpPr>
        <p:spPr>
          <a:xfrm flipH="1" flipV="1">
            <a:off x="2051719" y="5853465"/>
            <a:ext cx="1518721" cy="36161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traight Arrow Connector 22"/>
          <p:cNvSpPr/>
          <p:nvPr/>
        </p:nvSpPr>
        <p:spPr>
          <a:xfrm flipH="1" flipV="1">
            <a:off x="1678763" y="3861048"/>
            <a:ext cx="12918" cy="78581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traight Arrow Connector 24"/>
          <p:cNvSpPr/>
          <p:nvPr/>
        </p:nvSpPr>
        <p:spPr>
          <a:xfrm flipV="1">
            <a:off x="1907703" y="1876477"/>
            <a:ext cx="1296145" cy="133649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Box 21"/>
          <p:cNvSpPr txBox="1"/>
          <p:nvPr/>
        </p:nvSpPr>
        <p:spPr>
          <a:xfrm>
            <a:off x="1788129" y="925281"/>
            <a:ext cx="6266543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Action Plan includes 7 steps </a:t>
            </a:r>
          </a:p>
        </p:txBody>
      </p:sp>
      <p:sp>
        <p:nvSpPr>
          <p:cNvPr id="167" name="Straight Arrow Connector 23"/>
          <p:cNvSpPr/>
          <p:nvPr/>
        </p:nvSpPr>
        <p:spPr>
          <a:xfrm flipH="1">
            <a:off x="5652120" y="5733255"/>
            <a:ext cx="1621056" cy="50246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pPr/>
            <a:r>
              <a:t>Question </a:t>
            </a:r>
          </a:p>
        </p:txBody>
      </p:sp>
      <p:sp>
        <p:nvSpPr>
          <p:cNvPr id="17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algn="l">
              <a:spcBef>
                <a:spcPts val="900"/>
              </a:spcBef>
              <a:defRPr b="1" sz="4000">
                <a:solidFill>
                  <a:srgbClr val="FF0000"/>
                </a:solidFill>
              </a:defRPr>
            </a:lvl1pPr>
          </a:lstStyle>
          <a:p>
            <a:pPr/>
            <a:r>
              <a:t>Enumerate 5 steps of operational plan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ontent Placeholder 2"/>
          <p:cNvSpPr txBox="1"/>
          <p:nvPr>
            <p:ph type="body" idx="1"/>
          </p:nvPr>
        </p:nvSpPr>
        <p:spPr>
          <a:xfrm>
            <a:off x="457200" y="548679"/>
            <a:ext cx="8363271" cy="5400601"/>
          </a:xfrm>
          <a:prstGeom prst="rect">
            <a:avLst/>
          </a:prstGeom>
        </p:spPr>
        <p:txBody>
          <a:bodyPr/>
          <a:lstStyle/>
          <a:p>
            <a:pPr marL="336042" indent="-336042" algn="ctr" defTabSz="896111">
              <a:spcBef>
                <a:spcPts val="800"/>
              </a:spcBef>
              <a:buSzTx/>
              <a:buNone/>
              <a:defRPr b="1" sz="3528" u="sng">
                <a:solidFill>
                  <a:srgbClr val="0000FF"/>
                </a:solidFill>
              </a:defRPr>
            </a:pPr>
            <a:r>
              <a:t>1- identify health problems </a:t>
            </a:r>
          </a:p>
          <a:p>
            <a:pPr marL="0" indent="0" algn="l" defTabSz="896111">
              <a:spcBef>
                <a:spcPts val="800"/>
              </a:spcBef>
              <a:buSzTx/>
              <a:buNone/>
              <a:defRPr b="1" sz="3528"/>
            </a:pPr>
            <a:r>
              <a:t>The following tools are usually used for diagnosis of the common health problems:</a:t>
            </a:r>
          </a:p>
          <a:p>
            <a:pPr marL="336042" indent="-336042" algn="l" defTabSz="896111">
              <a:spcBef>
                <a:spcPts val="800"/>
              </a:spcBef>
              <a:defRPr b="1" sz="3528">
                <a:solidFill>
                  <a:srgbClr val="FF0000"/>
                </a:solidFill>
              </a:defRPr>
            </a:pPr>
            <a:r>
              <a:t>SWOT</a:t>
            </a:r>
            <a:r>
              <a:rPr>
                <a:solidFill>
                  <a:srgbClr val="000000"/>
                </a:solidFill>
              </a:rPr>
              <a:t> analysis and </a:t>
            </a:r>
          </a:p>
          <a:p>
            <a:pPr marL="336042" indent="-336042" algn="l" defTabSz="896111">
              <a:spcBef>
                <a:spcPts val="800"/>
              </a:spcBef>
              <a:defRPr b="1" sz="3528"/>
            </a:pPr>
            <a:r>
              <a:t>identifying the </a:t>
            </a:r>
            <a:r>
              <a:rPr>
                <a:solidFill>
                  <a:srgbClr val="FF0000"/>
                </a:solidFill>
              </a:rPr>
              <a:t>needs</a:t>
            </a:r>
            <a:r>
              <a:t> and </a:t>
            </a:r>
            <a:r>
              <a:rPr>
                <a:solidFill>
                  <a:srgbClr val="FF0000"/>
                </a:solidFill>
              </a:rPr>
              <a:t>demands</a:t>
            </a:r>
            <a:r>
              <a:t> of the customers are tools to diagnose the health problems. </a:t>
            </a:r>
          </a:p>
          <a:p>
            <a:pPr marL="336042" indent="-336042" algn="l" defTabSz="896111">
              <a:spcBef>
                <a:spcPts val="800"/>
              </a:spcBef>
              <a:defRPr b="1" sz="3528">
                <a:solidFill>
                  <a:srgbClr val="FF0000"/>
                </a:solidFill>
              </a:defRPr>
            </a:pPr>
            <a:r>
              <a:t>Attitude</a:t>
            </a:r>
            <a:r>
              <a:rPr>
                <a:solidFill>
                  <a:srgbClr val="000000"/>
                </a:solidFill>
              </a:rPr>
              <a:t> of the people also affect the success of any plan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>
            <p:ph type="title"/>
          </p:nvPr>
        </p:nvSpPr>
        <p:spPr>
          <a:xfrm>
            <a:off x="683567" y="274638"/>
            <a:ext cx="7776866" cy="1354163"/>
          </a:xfrm>
          <a:prstGeom prst="rect">
            <a:avLst/>
          </a:prstGeom>
        </p:spPr>
        <p:txBody>
          <a:bodyPr/>
          <a:lstStyle/>
          <a:p>
            <a:pPr>
              <a:defRPr b="1" u="sng">
                <a:solidFill>
                  <a:srgbClr val="0000FF"/>
                </a:solidFill>
              </a:defRPr>
            </a:pPr>
            <a:r>
              <a:t>Environmental scan </a:t>
            </a:r>
            <a:br/>
            <a:r>
              <a:t>(SWOT) analysis </a:t>
            </a:r>
          </a:p>
        </p:txBody>
      </p:sp>
      <p:sp>
        <p:nvSpPr>
          <p:cNvPr id="175" name="Content Placeholder 2"/>
          <p:cNvSpPr txBox="1"/>
          <p:nvPr>
            <p:ph type="body" idx="1"/>
          </p:nvPr>
        </p:nvSpPr>
        <p:spPr>
          <a:xfrm>
            <a:off x="251519" y="1988840"/>
            <a:ext cx="8352930" cy="4752529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900"/>
              </a:spcBef>
              <a:defRPr b="1" sz="4000"/>
            </a:pPr>
            <a:r>
              <a:t>Start by analyzing the institution's external and internal environment by using a </a:t>
            </a:r>
            <a:r>
              <a:rPr>
                <a:solidFill>
                  <a:srgbClr val="FF0000"/>
                </a:solidFill>
              </a:rPr>
              <a:t>SWOT</a:t>
            </a:r>
            <a:r>
              <a:t> analysis.</a:t>
            </a:r>
          </a:p>
          <a:p>
            <a:pPr algn="l">
              <a:spcBef>
                <a:spcPts val="900"/>
              </a:spcBef>
              <a:defRPr b="1" sz="4000">
                <a:solidFill>
                  <a:srgbClr val="FF0000"/>
                </a:solidFill>
              </a:defRPr>
            </a:pPr>
            <a:r>
              <a:t>SWOT</a:t>
            </a:r>
            <a:r>
              <a:rPr>
                <a:solidFill>
                  <a:srgbClr val="000000"/>
                </a:solidFill>
              </a:rPr>
              <a:t> analysis is an examination of organization's </a:t>
            </a:r>
            <a:r>
              <a:t>S</a:t>
            </a:r>
            <a:r>
              <a:rPr>
                <a:solidFill>
                  <a:srgbClr val="000000"/>
                </a:solidFill>
              </a:rPr>
              <a:t>trengths, </a:t>
            </a:r>
            <a:r>
              <a:t>W</a:t>
            </a:r>
            <a:r>
              <a:rPr>
                <a:solidFill>
                  <a:srgbClr val="000000"/>
                </a:solidFill>
              </a:rPr>
              <a:t>eaknesses, </a:t>
            </a:r>
            <a:r>
              <a:t>O</a:t>
            </a:r>
            <a:r>
              <a:rPr>
                <a:solidFill>
                  <a:srgbClr val="000000"/>
                </a:solidFill>
              </a:rPr>
              <a:t>pportunities, and </a:t>
            </a:r>
            <a:r>
              <a:t>T</a:t>
            </a:r>
            <a:r>
              <a:rPr>
                <a:solidFill>
                  <a:srgbClr val="000000"/>
                </a:solidFill>
              </a:rPr>
              <a:t>hreats.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1"/>
          <p:cNvSpPr txBox="1"/>
          <p:nvPr>
            <p:ph type="title"/>
          </p:nvPr>
        </p:nvSpPr>
        <p:spPr>
          <a:xfrm>
            <a:off x="2123727" y="274638"/>
            <a:ext cx="4824538" cy="778099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/>
            <a:r>
              <a:t>SWOT Analysis </a:t>
            </a:r>
          </a:p>
        </p:txBody>
      </p:sp>
      <p:graphicFrame>
        <p:nvGraphicFramePr>
          <p:cNvPr id="178" name="Table 3"/>
          <p:cNvGraphicFramePr/>
          <p:nvPr/>
        </p:nvGraphicFramePr>
        <p:xfrm>
          <a:off x="8440901" y="2374120"/>
          <a:ext cx="7737805" cy="273630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1">
                <a:tableStyleId>{4C3C2611-4C71-4FC5-86AE-919BDF0F9419}</a:tableStyleId>
              </a:tblPr>
              <a:tblGrid>
                <a:gridCol w="4802539"/>
                <a:gridCol w="2935265"/>
              </a:tblGrid>
              <a:tr h="684076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sz="2800">
                          <a:solidFill>
                            <a:srgbClr val="C00000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Internal Environmental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sz="2800">
                          <a:solidFill>
                            <a:srgbClr val="C00000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strengths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DCDB"/>
                    </a:solidFill>
                  </a:tcPr>
                </a:tc>
              </a:tr>
              <a:tr h="68407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sz="2800">
                          <a:solidFill>
                            <a:srgbClr val="C00000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weaknesses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DCDB"/>
                    </a:solidFill>
                  </a:tcPr>
                </a:tc>
              </a:tr>
              <a:tr h="684076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sz="2800">
                          <a:solidFill>
                            <a:srgbClr val="0000FF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External Environmental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sz="2800">
                          <a:solidFill>
                            <a:srgbClr val="0000FF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opportunities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  <a:tr h="68407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sz="2800">
                          <a:solidFill>
                            <a:srgbClr val="0000FF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threats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 txBox="1"/>
          <p:nvPr>
            <p:ph type="title"/>
          </p:nvPr>
        </p:nvSpPr>
        <p:spPr>
          <a:xfrm>
            <a:off x="539551" y="332656"/>
            <a:ext cx="8208914" cy="1080121"/>
          </a:xfrm>
          <a:prstGeom prst="rect">
            <a:avLst/>
          </a:prstGeom>
        </p:spPr>
        <p:txBody>
          <a:bodyPr/>
          <a:lstStyle>
            <a:lvl1pPr defTabSz="731520">
              <a:defRPr b="1" sz="3520">
                <a:solidFill>
                  <a:srgbClr val="C00000"/>
                </a:solidFill>
              </a:defRPr>
            </a:lvl1pPr>
          </a:lstStyle>
          <a:p>
            <a:pPr/>
            <a:r>
              <a:t>Sources of data needed for Environmental Scanning</a:t>
            </a:r>
          </a:p>
        </p:txBody>
      </p:sp>
      <p:sp>
        <p:nvSpPr>
          <p:cNvPr id="181" name="Content Placeholder 2"/>
          <p:cNvSpPr txBox="1"/>
          <p:nvPr>
            <p:ph type="body" idx="1"/>
          </p:nvPr>
        </p:nvSpPr>
        <p:spPr>
          <a:xfrm>
            <a:off x="457200" y="2215405"/>
            <a:ext cx="8075239" cy="4525963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1000"/>
              </a:spcBef>
              <a:defRPr b="1" sz="4400"/>
            </a:pPr>
            <a:r>
              <a:t>Available statistical reports and registers. </a:t>
            </a:r>
          </a:p>
          <a:p>
            <a:pPr algn="l">
              <a:spcBef>
                <a:spcPts val="1000"/>
              </a:spcBef>
              <a:defRPr b="1" sz="4400"/>
            </a:pPr>
            <a:r>
              <a:t>Surveys </a:t>
            </a:r>
          </a:p>
          <a:p>
            <a:pPr algn="l">
              <a:spcBef>
                <a:spcPts val="1000"/>
              </a:spcBef>
              <a:defRPr b="1" sz="4400"/>
            </a:pPr>
            <a:r>
              <a:t>Questionnaires </a:t>
            </a:r>
          </a:p>
          <a:p>
            <a:pPr algn="l">
              <a:spcBef>
                <a:spcPts val="1000"/>
              </a:spcBef>
              <a:defRPr b="1" sz="4400"/>
            </a:pPr>
            <a:r>
              <a:t>Focus Groups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pPr/>
            <a:r>
              <a:t>Question </a:t>
            </a:r>
          </a:p>
        </p:txBody>
      </p:sp>
      <p:sp>
        <p:nvSpPr>
          <p:cNvPr id="18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algn="l">
              <a:spcBef>
                <a:spcPts val="800"/>
              </a:spcBef>
              <a:defRPr b="1" sz="3600">
                <a:solidFill>
                  <a:srgbClr val="FF0000"/>
                </a:solidFill>
              </a:defRPr>
            </a:lvl1pPr>
          </a:lstStyle>
          <a:p>
            <a:pPr/>
            <a:r>
              <a:t>Name 3 sources for environmental scanning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/>
          <p:nvPr>
            <p:ph type="title"/>
          </p:nvPr>
        </p:nvSpPr>
        <p:spPr>
          <a:xfrm>
            <a:off x="685800" y="260647"/>
            <a:ext cx="7772400" cy="987897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pPr/>
            <a:r>
              <a:t>Steps of SWOT analysis</a:t>
            </a:r>
          </a:p>
        </p:txBody>
      </p:sp>
      <p:sp>
        <p:nvSpPr>
          <p:cNvPr id="187" name="Content Placeholder 2"/>
          <p:cNvSpPr txBox="1"/>
          <p:nvPr>
            <p:ph type="body" idx="1"/>
          </p:nvPr>
        </p:nvSpPr>
        <p:spPr>
          <a:xfrm>
            <a:off x="323527" y="1196751"/>
            <a:ext cx="8496946" cy="5328594"/>
          </a:xfrm>
          <a:prstGeom prst="rect">
            <a:avLst/>
          </a:prstGeom>
        </p:spPr>
        <p:txBody>
          <a:bodyPr/>
          <a:lstStyle/>
          <a:p>
            <a:pPr marL="342899" indent="-342899" algn="l">
              <a:spcBef>
                <a:spcPts val="900"/>
              </a:spcBef>
              <a:defRPr b="1" i="1" sz="3800" u="sng">
                <a:solidFill>
                  <a:srgbClr val="FF0000"/>
                </a:solidFill>
              </a:defRPr>
            </a:pPr>
            <a:r>
              <a:t>Step ( 1 ) </a:t>
            </a:r>
            <a:r>
              <a:rPr i="0"/>
              <a:t>(internal environment) </a:t>
            </a:r>
            <a:r>
              <a:rPr i="0" u="none">
                <a:solidFill>
                  <a:srgbClr val="000000"/>
                </a:solidFill>
              </a:rPr>
              <a:t>… List all strengths that exist now. Then in turn, list all weaknesses that exist now. </a:t>
            </a:r>
            <a:endParaRPr i="0" u="none">
              <a:solidFill>
                <a:srgbClr val="000000"/>
              </a:solidFill>
            </a:endParaRPr>
          </a:p>
          <a:p>
            <a:pPr marL="342899" indent="-342899" algn="l">
              <a:spcBef>
                <a:spcPts val="900"/>
              </a:spcBef>
              <a:defRPr b="1" i="1" sz="3800" u="sng">
                <a:solidFill>
                  <a:srgbClr val="FF0000"/>
                </a:solidFill>
              </a:defRPr>
            </a:pPr>
            <a:r>
              <a:t>Step ( 2 ) </a:t>
            </a:r>
            <a:r>
              <a:rPr i="0" u="none"/>
              <a:t>(External environment)... </a:t>
            </a:r>
            <a:r>
              <a:rPr i="0" u="none">
                <a:solidFill>
                  <a:srgbClr val="000000"/>
                </a:solidFill>
              </a:rPr>
              <a:t>List all opportunities that exist in the future.</a:t>
            </a:r>
            <a:endParaRPr i="0" u="none">
              <a:solidFill>
                <a:srgbClr val="000000"/>
              </a:solidFill>
            </a:endParaRPr>
          </a:p>
          <a:p>
            <a:pPr marL="342899" indent="-342899" algn="l">
              <a:spcBef>
                <a:spcPts val="900"/>
              </a:spcBef>
              <a:defRPr b="1" sz="3800"/>
            </a:pPr>
            <a:r>
              <a:t>Then in turn, list all threats that exist in the future.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ontent Placeholder 2"/>
          <p:cNvSpPr txBox="1"/>
          <p:nvPr>
            <p:ph type="body" idx="1"/>
          </p:nvPr>
        </p:nvSpPr>
        <p:spPr>
          <a:xfrm>
            <a:off x="214281" y="214290"/>
            <a:ext cx="8715438" cy="642942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35000"/>
              </a:lnSpc>
              <a:buSzTx/>
              <a:buNone/>
              <a:defRPr b="1" sz="33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1) The Needs:</a:t>
            </a:r>
            <a:endParaRPr sz="3600"/>
          </a:p>
          <a:p>
            <a:pPr algn="l">
              <a:lnSpc>
                <a:spcPct val="135000"/>
              </a:lnSpc>
              <a:spcBef>
                <a:spcPts val="600"/>
              </a:spcBef>
              <a:buClr>
                <a:srgbClr val="FF0000"/>
              </a:buClr>
              <a:defRPr b="1" sz="2900">
                <a:latin typeface="Arial"/>
                <a:ea typeface="Arial"/>
                <a:cs typeface="Arial"/>
                <a:sym typeface="Arial"/>
              </a:defRPr>
            </a:pPr>
            <a:r>
              <a:t>Needs are the basic human requirements; as food, air, water, and shelter to survive.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buClr>
                <a:srgbClr val="FF0000"/>
              </a:buClr>
              <a:defRPr b="1" sz="2900">
                <a:latin typeface="Arial"/>
                <a:ea typeface="Arial"/>
                <a:cs typeface="Arial"/>
                <a:sym typeface="Arial"/>
              </a:defRPr>
            </a:pPr>
            <a:r>
              <a:t>Health needs are concerning with at least the availability of primary health care (which is the first level of the health services).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buClr>
                <a:srgbClr val="FF0000"/>
              </a:buClr>
              <a:defRPr b="1" sz="2900">
                <a:latin typeface="Arial"/>
                <a:ea typeface="Arial"/>
                <a:cs typeface="Arial"/>
                <a:sym typeface="Arial"/>
              </a:defRPr>
            </a:pPr>
            <a:r>
              <a:t>Basic health Needs are influenced by the culture, level of education of the community and the resources.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ontent Placeholder 2"/>
          <p:cNvSpPr txBox="1"/>
          <p:nvPr>
            <p:ph type="body" idx="1"/>
          </p:nvPr>
        </p:nvSpPr>
        <p:spPr>
          <a:xfrm>
            <a:off x="214282" y="357166"/>
            <a:ext cx="8572560" cy="6215106"/>
          </a:xfrm>
          <a:prstGeom prst="rect">
            <a:avLst/>
          </a:prstGeom>
          <a:ln w="9525">
            <a:solidFill>
              <a:srgbClr val="00B0F0"/>
            </a:solidFill>
            <a:round/>
          </a:ln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800"/>
              </a:spcBef>
              <a:buSzTx/>
              <a:buNone/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2) The demands 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Demands are what the people wants and have the power (resources) to gain what they want. 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The Needs comes in the first then the Demands only when the resources are sufficient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ontent Placeholder 2"/>
          <p:cNvSpPr txBox="1"/>
          <p:nvPr>
            <p:ph type="body" idx="1"/>
          </p:nvPr>
        </p:nvSpPr>
        <p:spPr>
          <a:xfrm>
            <a:off x="107503" y="404664"/>
            <a:ext cx="8929720" cy="6552728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spcBef>
                <a:spcPts val="600"/>
              </a:spcBef>
              <a:buSzTx/>
              <a:buNone/>
              <a:defRPr b="1" sz="2800" u="sng">
                <a:latin typeface="Arial"/>
                <a:ea typeface="Arial"/>
                <a:cs typeface="Arial"/>
                <a:sym typeface="Arial"/>
              </a:defRPr>
            </a:pPr>
            <a:r>
              <a:t>Example</a:t>
            </a:r>
            <a:r>
              <a:rPr u="none"/>
              <a:t> </a:t>
            </a:r>
            <a:endParaRPr u="none"/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In a poor village with illiterate people there are many problems:</a:t>
            </a:r>
          </a:p>
          <a:p>
            <a:pPr lvl="1" marL="742950" indent="-285750" algn="l">
              <a:spcBef>
                <a:spcPts val="600"/>
              </a:spcBef>
              <a:buClr>
                <a:srgbClr val="FF0000"/>
              </a:buClr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There is no ambulance car in the health center</a:t>
            </a:r>
          </a:p>
          <a:p>
            <a:pPr lvl="1" marL="742950" indent="-285750" algn="l">
              <a:spcBef>
                <a:spcPts val="600"/>
              </a:spcBef>
              <a:buClr>
                <a:srgbClr val="FF0000"/>
              </a:buClr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There is no secondary school for girls</a:t>
            </a:r>
          </a:p>
          <a:p>
            <a:pPr lvl="1" marL="742950" indent="-285750" algn="l">
              <a:spcBef>
                <a:spcPts val="600"/>
              </a:spcBef>
              <a:buClr>
                <a:srgbClr val="FF0000"/>
              </a:buClr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Weak signal of the mobiles? 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When we asked the people what is the most important problem of your country? They said …!!!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1"/>
          <p:cNvSpPr txBox="1"/>
          <p:nvPr>
            <p:ph type="title"/>
          </p:nvPr>
        </p:nvSpPr>
        <p:spPr>
          <a:xfrm>
            <a:off x="914400" y="71413"/>
            <a:ext cx="7772400" cy="91759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Attitude of The Public</a:t>
            </a:r>
          </a:p>
        </p:txBody>
      </p:sp>
      <p:sp>
        <p:nvSpPr>
          <p:cNvPr id="196" name="Content Placeholder 2"/>
          <p:cNvSpPr txBox="1"/>
          <p:nvPr>
            <p:ph type="body" sz="quarter" idx="1"/>
          </p:nvPr>
        </p:nvSpPr>
        <p:spPr>
          <a:xfrm>
            <a:off x="285719" y="1214421"/>
            <a:ext cx="8715438" cy="1000133"/>
          </a:xfrm>
          <a:prstGeom prst="rect">
            <a:avLst/>
          </a:prstGeom>
        </p:spPr>
        <p:txBody>
          <a:bodyPr/>
          <a:lstStyle>
            <a:lvl1pPr marL="336042" indent="-672084" algn="l" defTabSz="896111">
              <a:buSzTx/>
              <a:buNone/>
              <a:defRPr b="1" sz="3136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attitudes of the people towards any plan may be:</a:t>
            </a:r>
          </a:p>
        </p:txBody>
      </p:sp>
      <p:sp>
        <p:nvSpPr>
          <p:cNvPr id="197" name="TextBox 3"/>
          <p:cNvSpPr txBox="1"/>
          <p:nvPr/>
        </p:nvSpPr>
        <p:spPr>
          <a:xfrm>
            <a:off x="642909" y="3143248"/>
            <a:ext cx="3214711" cy="525622"/>
          </a:xfrm>
          <a:prstGeom prst="rect">
            <a:avLst/>
          </a:prstGeom>
          <a:solidFill>
            <a:srgbClr val="EEECE1"/>
          </a:solidFill>
          <a:ln w="28575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0000FF"/>
                </a:solidFill>
              </a:defRPr>
            </a:lvl1pPr>
          </a:lstStyle>
          <a:p>
            <a:pPr/>
            <a:r>
              <a:t>Positive attitude </a:t>
            </a:r>
          </a:p>
        </p:txBody>
      </p:sp>
      <p:sp>
        <p:nvSpPr>
          <p:cNvPr id="198" name="TextBox 4"/>
          <p:cNvSpPr txBox="1"/>
          <p:nvPr/>
        </p:nvSpPr>
        <p:spPr>
          <a:xfrm>
            <a:off x="5357817" y="3071809"/>
            <a:ext cx="3286149" cy="525623"/>
          </a:xfrm>
          <a:prstGeom prst="rect">
            <a:avLst/>
          </a:prstGeom>
          <a:solidFill>
            <a:srgbClr val="EEECE1"/>
          </a:solidFill>
          <a:ln w="28575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0000FF"/>
                </a:solidFill>
              </a:defRPr>
            </a:lvl1pPr>
          </a:lstStyle>
          <a:p>
            <a:pPr/>
            <a:r>
              <a:t>Negative attitude </a:t>
            </a:r>
          </a:p>
        </p:txBody>
      </p:sp>
      <p:sp>
        <p:nvSpPr>
          <p:cNvPr id="199" name="TextBox 5"/>
          <p:cNvSpPr txBox="1"/>
          <p:nvPr/>
        </p:nvSpPr>
        <p:spPr>
          <a:xfrm>
            <a:off x="3143239" y="4572008"/>
            <a:ext cx="3286149" cy="525622"/>
          </a:xfrm>
          <a:prstGeom prst="rect">
            <a:avLst/>
          </a:prstGeom>
          <a:solidFill>
            <a:srgbClr val="EEECE1"/>
          </a:solidFill>
          <a:ln w="28575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0000FF"/>
                </a:solidFill>
              </a:defRPr>
            </a:lvl1pPr>
          </a:lstStyle>
          <a:p>
            <a:pPr/>
            <a:r>
              <a:t>Neutral attitude </a:t>
            </a:r>
          </a:p>
        </p:txBody>
      </p:sp>
      <p:sp>
        <p:nvSpPr>
          <p:cNvPr id="200" name="Straight Connector 7"/>
          <p:cNvSpPr/>
          <p:nvPr/>
        </p:nvSpPr>
        <p:spPr>
          <a:xfrm>
            <a:off x="2428860" y="2357429"/>
            <a:ext cx="4857785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traight Arrow Connector 12"/>
          <p:cNvSpPr/>
          <p:nvPr/>
        </p:nvSpPr>
        <p:spPr>
          <a:xfrm flipH="1">
            <a:off x="7285849" y="2358223"/>
            <a:ext cx="1589" cy="71438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traight Arrow Connector 13"/>
          <p:cNvSpPr/>
          <p:nvPr/>
        </p:nvSpPr>
        <p:spPr>
          <a:xfrm flipH="1">
            <a:off x="4571999" y="2357430"/>
            <a:ext cx="1589" cy="2143140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traight Arrow Connector 14"/>
          <p:cNvSpPr/>
          <p:nvPr/>
        </p:nvSpPr>
        <p:spPr>
          <a:xfrm flipH="1">
            <a:off x="2427271" y="2357429"/>
            <a:ext cx="1589" cy="71438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le 1"/>
          <p:cNvSpPr txBox="1"/>
          <p:nvPr>
            <p:ph type="title"/>
          </p:nvPr>
        </p:nvSpPr>
        <p:spPr>
          <a:xfrm>
            <a:off x="2051719" y="142851"/>
            <a:ext cx="5904657" cy="775544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FF0000"/>
                </a:solidFill>
              </a:defRPr>
            </a:lvl1pPr>
          </a:lstStyle>
          <a:p>
            <a:pPr/>
            <a:r>
              <a:t>Operational  plan </a:t>
            </a:r>
          </a:p>
        </p:txBody>
      </p:sp>
      <p:sp>
        <p:nvSpPr>
          <p:cNvPr id="206" name="TextBox 4"/>
          <p:cNvSpPr txBox="1"/>
          <p:nvPr/>
        </p:nvSpPr>
        <p:spPr>
          <a:xfrm>
            <a:off x="3286116" y="1656382"/>
            <a:ext cx="2571769" cy="895609"/>
          </a:xfrm>
          <a:prstGeom prst="rect">
            <a:avLst/>
          </a:prstGeom>
          <a:solidFill>
            <a:srgbClr val="C6D9F1"/>
          </a:solidFill>
          <a:ln w="1905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1- Identify the health problems</a:t>
            </a:r>
          </a:p>
        </p:txBody>
      </p:sp>
      <p:sp>
        <p:nvSpPr>
          <p:cNvPr id="207" name="TextBox 5"/>
          <p:cNvSpPr txBox="1"/>
          <p:nvPr/>
        </p:nvSpPr>
        <p:spPr>
          <a:xfrm>
            <a:off x="5808696" y="3354377"/>
            <a:ext cx="2928960" cy="798870"/>
          </a:xfrm>
          <a:prstGeom prst="rect">
            <a:avLst/>
          </a:prstGeom>
          <a:solidFill>
            <a:srgbClr val="E6B9B8"/>
          </a:solidFill>
          <a:ln w="381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2- Prioritization of health problems </a:t>
            </a:r>
          </a:p>
        </p:txBody>
      </p:sp>
      <p:sp>
        <p:nvSpPr>
          <p:cNvPr id="208" name="TextBox 6"/>
          <p:cNvSpPr txBox="1"/>
          <p:nvPr/>
        </p:nvSpPr>
        <p:spPr>
          <a:xfrm>
            <a:off x="6228184" y="4902258"/>
            <a:ext cx="2571769" cy="7702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3- Assessment of resources</a:t>
            </a:r>
          </a:p>
        </p:txBody>
      </p:sp>
      <p:sp>
        <p:nvSpPr>
          <p:cNvPr id="209" name="TextBox 7"/>
          <p:cNvSpPr txBox="1"/>
          <p:nvPr/>
        </p:nvSpPr>
        <p:spPr>
          <a:xfrm>
            <a:off x="3563887" y="5373215"/>
            <a:ext cx="2143173" cy="11385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4- Establish goals &amp; objectives  </a:t>
            </a:r>
          </a:p>
        </p:txBody>
      </p:sp>
      <p:sp>
        <p:nvSpPr>
          <p:cNvPr id="210" name="TextBox 8"/>
          <p:cNvSpPr txBox="1"/>
          <p:nvPr/>
        </p:nvSpPr>
        <p:spPr>
          <a:xfrm>
            <a:off x="395536" y="4653136"/>
            <a:ext cx="2571769" cy="1138595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5- Action plan or  implementation  plan </a:t>
            </a:r>
          </a:p>
        </p:txBody>
      </p:sp>
      <p:sp>
        <p:nvSpPr>
          <p:cNvPr id="211" name="TextBox 9"/>
          <p:cNvSpPr txBox="1"/>
          <p:nvPr/>
        </p:nvSpPr>
        <p:spPr>
          <a:xfrm>
            <a:off x="500034" y="3284983"/>
            <a:ext cx="2357454" cy="457459"/>
          </a:xfrm>
          <a:prstGeom prst="rect">
            <a:avLst/>
          </a:prstGeom>
          <a:solidFill>
            <a:srgbClr val="B9CDE5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6- Evaluation</a:t>
            </a:r>
          </a:p>
        </p:txBody>
      </p:sp>
      <p:sp>
        <p:nvSpPr>
          <p:cNvPr id="212" name="Straight Arrow Connector 13"/>
          <p:cNvSpPr/>
          <p:nvPr/>
        </p:nvSpPr>
        <p:spPr>
          <a:xfrm>
            <a:off x="5857883" y="1844824"/>
            <a:ext cx="1738454" cy="136815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traight Arrow Connector 19"/>
          <p:cNvSpPr/>
          <p:nvPr/>
        </p:nvSpPr>
        <p:spPr>
          <a:xfrm flipH="1">
            <a:off x="7452344" y="4221088"/>
            <a:ext cx="1589" cy="571505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traight Arrow Connector 20"/>
          <p:cNvSpPr/>
          <p:nvPr/>
        </p:nvSpPr>
        <p:spPr>
          <a:xfrm flipH="1" flipV="1">
            <a:off x="2051719" y="5853465"/>
            <a:ext cx="1518721" cy="36161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traight Arrow Connector 22"/>
          <p:cNvSpPr/>
          <p:nvPr/>
        </p:nvSpPr>
        <p:spPr>
          <a:xfrm flipH="1" flipV="1">
            <a:off x="1678763" y="3861048"/>
            <a:ext cx="12918" cy="78581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traight Arrow Connector 24"/>
          <p:cNvSpPr/>
          <p:nvPr/>
        </p:nvSpPr>
        <p:spPr>
          <a:xfrm flipV="1">
            <a:off x="1907703" y="1876477"/>
            <a:ext cx="1296145" cy="133649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Box 21"/>
          <p:cNvSpPr txBox="1"/>
          <p:nvPr/>
        </p:nvSpPr>
        <p:spPr>
          <a:xfrm>
            <a:off x="1788129" y="925281"/>
            <a:ext cx="6266543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Action Plan includes 7 steps </a:t>
            </a:r>
          </a:p>
        </p:txBody>
      </p:sp>
      <p:sp>
        <p:nvSpPr>
          <p:cNvPr id="218" name="Straight Arrow Connector 23"/>
          <p:cNvSpPr/>
          <p:nvPr/>
        </p:nvSpPr>
        <p:spPr>
          <a:xfrm flipH="1">
            <a:off x="5652120" y="5733255"/>
            <a:ext cx="1621056" cy="50246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itle 1"/>
          <p:cNvSpPr txBox="1"/>
          <p:nvPr>
            <p:ph type="title"/>
          </p:nvPr>
        </p:nvSpPr>
        <p:spPr>
          <a:xfrm>
            <a:off x="357158" y="285728"/>
            <a:ext cx="8786842" cy="774721"/>
          </a:xfrm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2- Prioritization of health problem</a:t>
            </a:r>
          </a:p>
        </p:txBody>
      </p:sp>
      <p:sp>
        <p:nvSpPr>
          <p:cNvPr id="221" name="Content Placeholder 2"/>
          <p:cNvSpPr txBox="1"/>
          <p:nvPr>
            <p:ph type="body" idx="1"/>
          </p:nvPr>
        </p:nvSpPr>
        <p:spPr>
          <a:xfrm>
            <a:off x="357157" y="980728"/>
            <a:ext cx="8501124" cy="5429289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800"/>
              </a:spcBef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Acuity and severity of the problem</a:t>
            </a:r>
            <a:r>
              <a:rPr>
                <a:solidFill>
                  <a:srgbClr val="0000FF"/>
                </a:solidFill>
              </a:rPr>
              <a:t> </a:t>
            </a:r>
            <a:r>
              <a:rPr sz="3200">
                <a:solidFill>
                  <a:srgbClr val="000000"/>
                </a:solidFill>
              </a:rPr>
              <a:t>(incidence and prevalence).</a:t>
            </a:r>
          </a:p>
          <a:p>
            <a:pPr algn="l">
              <a:spcBef>
                <a:spcPts val="800"/>
              </a:spcBef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Sequel of the problem </a:t>
            </a:r>
            <a:r>
              <a:rPr sz="3200">
                <a:solidFill>
                  <a:srgbClr val="000000"/>
                </a:solidFill>
              </a:rPr>
              <a:t>(complications, disability, death).</a:t>
            </a:r>
          </a:p>
          <a:p>
            <a:pPr algn="l">
              <a:spcBef>
                <a:spcPts val="800"/>
              </a:spcBef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Characteristic of the involved group </a:t>
            </a:r>
            <a:r>
              <a:rPr sz="3200">
                <a:solidFill>
                  <a:srgbClr val="000000"/>
                </a:solidFill>
              </a:rPr>
              <a:t>(vulnerability, age affected, occupation … etc.).</a:t>
            </a:r>
          </a:p>
          <a:p>
            <a:pPr algn="l">
              <a:spcBef>
                <a:spcPts val="800"/>
              </a:spcBef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If it can be solved by available resources </a:t>
            </a:r>
            <a:r>
              <a:rPr sz="3200">
                <a:solidFill>
                  <a:srgbClr val="000000"/>
                </a:solidFill>
              </a:rPr>
              <a:t>and with least cost through applicable intervention.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itle 1"/>
          <p:cNvSpPr txBox="1"/>
          <p:nvPr>
            <p:ph type="title"/>
          </p:nvPr>
        </p:nvSpPr>
        <p:spPr>
          <a:xfrm>
            <a:off x="571471" y="71413"/>
            <a:ext cx="7715306" cy="91759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pPr/>
            <a:r>
              <a:t>Prioritization of the problems</a:t>
            </a:r>
          </a:p>
        </p:txBody>
      </p:sp>
      <p:graphicFrame>
        <p:nvGraphicFramePr>
          <p:cNvPr id="224" name="Content Placeholder 3"/>
          <p:cNvGraphicFramePr/>
          <p:nvPr/>
        </p:nvGraphicFramePr>
        <p:xfrm>
          <a:off x="8929718" y="1429370"/>
          <a:ext cx="8644001" cy="464347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1">
                <a:tableStyleId>{4C3C2611-4C71-4FC5-86AE-919BDF0F9419}</a:tableStyleId>
              </a:tblPr>
              <a:tblGrid>
                <a:gridCol w="2475676"/>
                <a:gridCol w="3098196"/>
                <a:gridCol w="3070127"/>
              </a:tblGrid>
              <a:tr h="18785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Less important problems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Important problems (Severe &amp; have complications &amp; affect vulnerable group)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1382461">
                <a:tc>
                  <a:txBody>
                    <a:bodyPr/>
                    <a:lstStyle/>
                    <a:p>
                      <a:pPr algn="ctr">
                        <a:defRPr b="1" sz="24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Can take little attention</a:t>
                      </a:r>
                    </a:p>
                    <a:p>
                      <a:pPr algn="ctr">
                        <a:defRPr b="1" sz="24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(3)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4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First priority</a:t>
                      </a:r>
                    </a:p>
                    <a:p>
                      <a:pPr algn="ctr">
                        <a:defRPr b="1" sz="24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(1)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defRPr sz="1800"/>
                      </a:pPr>
                      <a:r>
                        <a:rPr b="1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Can be solved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CE6F2"/>
                    </a:solidFill>
                  </a:tcPr>
                </a:tc>
              </a:tr>
              <a:tr h="1382461">
                <a:tc>
                  <a:txBody>
                    <a:bodyPr/>
                    <a:lstStyle/>
                    <a:p>
                      <a:pPr algn="ctr">
                        <a:defRPr b="1" sz="24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Should be excluded</a:t>
                      </a:r>
                    </a:p>
                    <a:p>
                      <a:pPr algn="ctr">
                        <a:defRPr b="1" sz="24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(4)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4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Second priority</a:t>
                      </a:r>
                    </a:p>
                    <a:p>
                      <a:pPr algn="ctr">
                        <a:defRPr b="1" sz="24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(2)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defRPr sz="1800"/>
                      </a:pPr>
                      <a:r>
                        <a:rPr b="1" sz="2200">
                          <a:latin typeface="Arial"/>
                          <a:ea typeface="Arial"/>
                          <a:cs typeface="Arial"/>
                          <a:sym typeface="Arial"/>
                        </a:rPr>
                        <a:t>Difficult to be solved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sp>
        <p:nvSpPr>
          <p:cNvPr id="225" name="Straight Connector 5"/>
          <p:cNvSpPr/>
          <p:nvPr/>
        </p:nvSpPr>
        <p:spPr>
          <a:xfrm flipH="1">
            <a:off x="6430023" y="1429370"/>
            <a:ext cx="1" cy="464347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Straight Connector 6"/>
          <p:cNvSpPr/>
          <p:nvPr/>
        </p:nvSpPr>
        <p:spPr>
          <a:xfrm flipH="1">
            <a:off x="3358189" y="1429371"/>
            <a:ext cx="1" cy="464347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Straight Connector 8"/>
          <p:cNvSpPr/>
          <p:nvPr/>
        </p:nvSpPr>
        <p:spPr>
          <a:xfrm>
            <a:off x="285720" y="3357562"/>
            <a:ext cx="8643998" cy="1"/>
          </a:xfrm>
          <a:prstGeom prst="line">
            <a:avLst/>
          </a:prstGeom>
          <a:ln w="38100"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Straight Connector 9"/>
          <p:cNvSpPr/>
          <p:nvPr/>
        </p:nvSpPr>
        <p:spPr>
          <a:xfrm>
            <a:off x="285720" y="4714883"/>
            <a:ext cx="8643998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traight Connector 12"/>
          <p:cNvSpPr/>
          <p:nvPr/>
        </p:nvSpPr>
        <p:spPr>
          <a:xfrm>
            <a:off x="3357553" y="1428736"/>
            <a:ext cx="5572166" cy="1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Straight Connector 14"/>
          <p:cNvSpPr/>
          <p:nvPr/>
        </p:nvSpPr>
        <p:spPr>
          <a:xfrm>
            <a:off x="285720" y="6072206"/>
            <a:ext cx="8643998" cy="1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Straight Connector 16"/>
          <p:cNvSpPr/>
          <p:nvPr/>
        </p:nvSpPr>
        <p:spPr>
          <a:xfrm flipH="1">
            <a:off x="286354" y="3358196"/>
            <a:ext cx="1" cy="2714645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traight Connector 18"/>
          <p:cNvSpPr/>
          <p:nvPr/>
        </p:nvSpPr>
        <p:spPr>
          <a:xfrm flipV="1">
            <a:off x="285720" y="1419212"/>
            <a:ext cx="3062311" cy="9525"/>
          </a:xfrm>
          <a:prstGeom prst="line">
            <a:avLst/>
          </a:prstGeom>
          <a:ln w="38100">
            <a:solidFill>
              <a:srgbClr val="F8A15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Straight Connector 20"/>
          <p:cNvSpPr/>
          <p:nvPr/>
        </p:nvSpPr>
        <p:spPr>
          <a:xfrm flipH="1">
            <a:off x="286355" y="1429371"/>
            <a:ext cx="1" cy="1928827"/>
          </a:xfrm>
          <a:prstGeom prst="line">
            <a:avLst/>
          </a:prstGeom>
          <a:ln w="38100">
            <a:solidFill>
              <a:srgbClr val="F8A15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Straight Connector 21"/>
          <p:cNvSpPr/>
          <p:nvPr/>
        </p:nvSpPr>
        <p:spPr>
          <a:xfrm flipH="1">
            <a:off x="8930352" y="1429371"/>
            <a:ext cx="1" cy="464347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4800">
                <a:solidFill>
                  <a:srgbClr val="FF0000"/>
                </a:solidFill>
              </a:defRPr>
            </a:lvl1pPr>
          </a:lstStyle>
          <a:p>
            <a:pPr/>
            <a:r>
              <a:t>Question </a:t>
            </a:r>
          </a:p>
        </p:txBody>
      </p:sp>
      <p:sp>
        <p:nvSpPr>
          <p:cNvPr id="23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algn="l">
              <a:spcBef>
                <a:spcPts val="800"/>
              </a:spcBef>
              <a:defRPr b="1" sz="3600">
                <a:solidFill>
                  <a:srgbClr val="FF0000"/>
                </a:solidFill>
              </a:defRPr>
            </a:lvl1pPr>
          </a:lstStyle>
          <a:p>
            <a:pPr/>
            <a:r>
              <a:t>Name 3 criteria could be used to do prioritization of health problems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ontent Placeholder 2"/>
          <p:cNvSpPr txBox="1"/>
          <p:nvPr>
            <p:ph type="body" idx="1"/>
          </p:nvPr>
        </p:nvSpPr>
        <p:spPr>
          <a:xfrm>
            <a:off x="285720" y="285727"/>
            <a:ext cx="8643998" cy="6383634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35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 in box (1):  </a:t>
            </a:r>
            <a:r>
              <a:rPr>
                <a:solidFill>
                  <a:srgbClr val="000000"/>
                </a:solidFill>
              </a:rPr>
              <a:t>Should take first priority and we may start by this Problem.</a:t>
            </a:r>
            <a:endParaRPr>
              <a:solidFill>
                <a:srgbClr val="000000"/>
              </a:solidFill>
            </a:endParaRPr>
          </a:p>
          <a:p>
            <a:pPr algn="l">
              <a:lnSpc>
                <a:spcPct val="135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 in box (2):   </a:t>
            </a:r>
            <a:r>
              <a:rPr>
                <a:solidFill>
                  <a:srgbClr val="000000"/>
                </a:solidFill>
              </a:rPr>
              <a:t>Need some efforts to be solved but we should give it proper attention.</a:t>
            </a:r>
            <a:endParaRPr>
              <a:solidFill>
                <a:srgbClr val="000000"/>
              </a:solidFill>
            </a:endParaRPr>
          </a:p>
          <a:p>
            <a:pPr algn="l">
              <a:lnSpc>
                <a:spcPct val="135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 in box (3):   </a:t>
            </a:r>
            <a:r>
              <a:rPr>
                <a:solidFill>
                  <a:srgbClr val="000000"/>
                </a:solidFill>
              </a:rPr>
              <a:t>We should give it some attention because it is not so important but it can be easily solved.</a:t>
            </a:r>
            <a:endParaRPr>
              <a:solidFill>
                <a:srgbClr val="000000"/>
              </a:solidFill>
            </a:endParaRPr>
          </a:p>
          <a:p>
            <a:pPr algn="l">
              <a:lnSpc>
                <a:spcPct val="135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 in box (4):</a:t>
            </a:r>
            <a:r>
              <a:rPr>
                <a:solidFill>
                  <a:srgbClr val="00FFFF"/>
                </a:solidFill>
              </a:rPr>
              <a:t>  </a:t>
            </a:r>
            <a:r>
              <a:rPr>
                <a:solidFill>
                  <a:srgbClr val="000000"/>
                </a:solidFill>
              </a:rPr>
              <a:t>This problem not important and at the same time difficult to be solved so should be excluded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itle 1"/>
          <p:cNvSpPr txBox="1"/>
          <p:nvPr>
            <p:ph type="title"/>
          </p:nvPr>
        </p:nvSpPr>
        <p:spPr>
          <a:xfrm>
            <a:off x="2051719" y="142851"/>
            <a:ext cx="5904657" cy="775544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FF0000"/>
                </a:solidFill>
              </a:defRPr>
            </a:lvl1pPr>
          </a:lstStyle>
          <a:p>
            <a:pPr/>
            <a:r>
              <a:t>Operational  plan </a:t>
            </a:r>
          </a:p>
        </p:txBody>
      </p:sp>
      <p:sp>
        <p:nvSpPr>
          <p:cNvPr id="242" name="TextBox 4"/>
          <p:cNvSpPr txBox="1"/>
          <p:nvPr/>
        </p:nvSpPr>
        <p:spPr>
          <a:xfrm>
            <a:off x="3286116" y="1656382"/>
            <a:ext cx="2571769" cy="895609"/>
          </a:xfrm>
          <a:prstGeom prst="rect">
            <a:avLst/>
          </a:prstGeom>
          <a:solidFill>
            <a:srgbClr val="C6D9F1"/>
          </a:solidFill>
          <a:ln w="1905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1- Identify the health problems</a:t>
            </a:r>
          </a:p>
        </p:txBody>
      </p:sp>
      <p:sp>
        <p:nvSpPr>
          <p:cNvPr id="243" name="TextBox 5"/>
          <p:cNvSpPr txBox="1"/>
          <p:nvPr/>
        </p:nvSpPr>
        <p:spPr>
          <a:xfrm>
            <a:off x="5808696" y="3354377"/>
            <a:ext cx="2928960" cy="798870"/>
          </a:xfrm>
          <a:prstGeom prst="rect">
            <a:avLst/>
          </a:prstGeom>
          <a:solidFill>
            <a:srgbClr val="B7DEE8"/>
          </a:solidFill>
          <a:ln w="381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2- Prioritization of health problems </a:t>
            </a:r>
          </a:p>
        </p:txBody>
      </p:sp>
      <p:sp>
        <p:nvSpPr>
          <p:cNvPr id="244" name="TextBox 6"/>
          <p:cNvSpPr txBox="1"/>
          <p:nvPr/>
        </p:nvSpPr>
        <p:spPr>
          <a:xfrm>
            <a:off x="6228184" y="4902258"/>
            <a:ext cx="2571769" cy="770296"/>
          </a:xfrm>
          <a:prstGeom prst="rect">
            <a:avLst/>
          </a:prstGeom>
          <a:solidFill>
            <a:srgbClr val="E6B9B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3- Assessment of resources</a:t>
            </a:r>
          </a:p>
        </p:txBody>
      </p:sp>
      <p:sp>
        <p:nvSpPr>
          <p:cNvPr id="245" name="TextBox 7"/>
          <p:cNvSpPr txBox="1"/>
          <p:nvPr/>
        </p:nvSpPr>
        <p:spPr>
          <a:xfrm>
            <a:off x="3563887" y="5373215"/>
            <a:ext cx="2143173" cy="11385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4- Establish goals &amp; objectives  </a:t>
            </a:r>
          </a:p>
        </p:txBody>
      </p:sp>
      <p:sp>
        <p:nvSpPr>
          <p:cNvPr id="246" name="TextBox 8"/>
          <p:cNvSpPr txBox="1"/>
          <p:nvPr/>
        </p:nvSpPr>
        <p:spPr>
          <a:xfrm>
            <a:off x="395536" y="4653136"/>
            <a:ext cx="2571769" cy="1138595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5- Action plan or  implementation  plan </a:t>
            </a:r>
          </a:p>
        </p:txBody>
      </p:sp>
      <p:sp>
        <p:nvSpPr>
          <p:cNvPr id="247" name="TextBox 9"/>
          <p:cNvSpPr txBox="1"/>
          <p:nvPr/>
        </p:nvSpPr>
        <p:spPr>
          <a:xfrm>
            <a:off x="500034" y="3284983"/>
            <a:ext cx="2357454" cy="457459"/>
          </a:xfrm>
          <a:prstGeom prst="rect">
            <a:avLst/>
          </a:prstGeom>
          <a:solidFill>
            <a:srgbClr val="B9CDE5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6- Evaluation</a:t>
            </a:r>
          </a:p>
        </p:txBody>
      </p:sp>
      <p:sp>
        <p:nvSpPr>
          <p:cNvPr id="248" name="Straight Arrow Connector 13"/>
          <p:cNvSpPr/>
          <p:nvPr/>
        </p:nvSpPr>
        <p:spPr>
          <a:xfrm>
            <a:off x="5857883" y="1844824"/>
            <a:ext cx="1738454" cy="136815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Straight Arrow Connector 19"/>
          <p:cNvSpPr/>
          <p:nvPr/>
        </p:nvSpPr>
        <p:spPr>
          <a:xfrm flipH="1">
            <a:off x="7452344" y="4221088"/>
            <a:ext cx="1589" cy="571505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Straight Arrow Connector 20"/>
          <p:cNvSpPr/>
          <p:nvPr/>
        </p:nvSpPr>
        <p:spPr>
          <a:xfrm flipH="1" flipV="1">
            <a:off x="2051719" y="5853465"/>
            <a:ext cx="1518721" cy="36161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Straight Arrow Connector 22"/>
          <p:cNvSpPr/>
          <p:nvPr/>
        </p:nvSpPr>
        <p:spPr>
          <a:xfrm flipH="1" flipV="1">
            <a:off x="1678763" y="3861048"/>
            <a:ext cx="12918" cy="78581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traight Arrow Connector 24"/>
          <p:cNvSpPr/>
          <p:nvPr/>
        </p:nvSpPr>
        <p:spPr>
          <a:xfrm flipV="1">
            <a:off x="1907703" y="1876477"/>
            <a:ext cx="1296145" cy="133649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Box 21"/>
          <p:cNvSpPr txBox="1"/>
          <p:nvPr/>
        </p:nvSpPr>
        <p:spPr>
          <a:xfrm>
            <a:off x="1788129" y="925281"/>
            <a:ext cx="6266543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Action Plan includes 7 steps </a:t>
            </a:r>
          </a:p>
        </p:txBody>
      </p:sp>
      <p:sp>
        <p:nvSpPr>
          <p:cNvPr id="254" name="Straight Arrow Connector 23"/>
          <p:cNvSpPr/>
          <p:nvPr/>
        </p:nvSpPr>
        <p:spPr>
          <a:xfrm flipH="1">
            <a:off x="5652120" y="5733255"/>
            <a:ext cx="1621056" cy="50246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itle 1"/>
          <p:cNvSpPr txBox="1"/>
          <p:nvPr>
            <p:ph type="title"/>
          </p:nvPr>
        </p:nvSpPr>
        <p:spPr>
          <a:xfrm>
            <a:off x="285719" y="285728"/>
            <a:ext cx="8501124" cy="1055040"/>
          </a:xfrm>
          <a:prstGeom prst="rect">
            <a:avLst/>
          </a:prstGeom>
        </p:spPr>
        <p:txBody>
          <a:bodyPr/>
          <a:lstStyle>
            <a:lvl1pPr defTabSz="777240">
              <a:defRPr sz="272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(3): Allocation or assessment of the resources</a:t>
            </a:r>
          </a:p>
        </p:txBody>
      </p:sp>
      <p:sp>
        <p:nvSpPr>
          <p:cNvPr id="257" name="Content Placeholder 2"/>
          <p:cNvSpPr txBox="1"/>
          <p:nvPr>
            <p:ph type="body" idx="1"/>
          </p:nvPr>
        </p:nvSpPr>
        <p:spPr>
          <a:xfrm>
            <a:off x="285720" y="1662138"/>
            <a:ext cx="8643998" cy="498157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The resources may be governmental resources or community resources.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Resources required are </a:t>
            </a:r>
            <a:r>
              <a:rPr>
                <a:solidFill>
                  <a:srgbClr val="0000FF"/>
                </a:solidFill>
              </a:rPr>
              <a:t>(3M):-</a:t>
            </a:r>
            <a:endParaRPr>
              <a:solidFill>
                <a:srgbClr val="0000FF"/>
              </a:solidFill>
            </a:endParaRPr>
          </a:p>
          <a:p>
            <a:pPr lvl="1" marL="742950" indent="-285750" algn="l">
              <a:lnSpc>
                <a:spcPct val="150000"/>
              </a:lnSpc>
              <a:spcBef>
                <a:spcPts val="600"/>
              </a:spcBef>
              <a:defRPr b="1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Man power </a:t>
            </a:r>
            <a:r>
              <a:rPr>
                <a:solidFill>
                  <a:srgbClr val="000000"/>
                </a:solidFill>
              </a:rPr>
              <a:t>(medical, paramedical  and non medical personnel )</a:t>
            </a:r>
            <a:endParaRPr sz="2800"/>
          </a:p>
          <a:p>
            <a:pPr lvl="1" marL="742950" indent="-285750" algn="l">
              <a:lnSpc>
                <a:spcPct val="150000"/>
              </a:lnSpc>
              <a:spcBef>
                <a:spcPts val="600"/>
              </a:spcBef>
              <a:defRPr b="1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Money</a:t>
            </a:r>
            <a:r>
              <a:rPr>
                <a:solidFill>
                  <a:srgbClr val="000000"/>
                </a:solidFill>
              </a:rPr>
              <a:t> (financial budget).</a:t>
            </a:r>
            <a:endParaRPr sz="2800"/>
          </a:p>
          <a:p>
            <a:pPr lvl="1" marL="742950" indent="-285750" algn="l">
              <a:lnSpc>
                <a:spcPct val="150000"/>
              </a:lnSpc>
              <a:spcBef>
                <a:spcPts val="600"/>
              </a:spcBef>
              <a:defRPr b="1" sz="2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Materials</a:t>
            </a:r>
            <a:r>
              <a:rPr>
                <a:solidFill>
                  <a:srgbClr val="000000"/>
                </a:solidFill>
              </a:rPr>
              <a:t> (syringes, medicines, equipment…etc).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itle 1"/>
          <p:cNvSpPr txBox="1"/>
          <p:nvPr>
            <p:ph type="title"/>
          </p:nvPr>
        </p:nvSpPr>
        <p:spPr>
          <a:xfrm>
            <a:off x="2051719" y="142851"/>
            <a:ext cx="5904657" cy="775544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FF0000"/>
                </a:solidFill>
              </a:defRPr>
            </a:lvl1pPr>
          </a:lstStyle>
          <a:p>
            <a:pPr/>
            <a:r>
              <a:t>Operational  plan </a:t>
            </a:r>
          </a:p>
        </p:txBody>
      </p:sp>
      <p:sp>
        <p:nvSpPr>
          <p:cNvPr id="260" name="TextBox 4"/>
          <p:cNvSpPr txBox="1"/>
          <p:nvPr/>
        </p:nvSpPr>
        <p:spPr>
          <a:xfrm>
            <a:off x="3286116" y="1656382"/>
            <a:ext cx="2571769" cy="895609"/>
          </a:xfrm>
          <a:prstGeom prst="rect">
            <a:avLst/>
          </a:prstGeom>
          <a:solidFill>
            <a:srgbClr val="C6D9F1"/>
          </a:solidFill>
          <a:ln w="1905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1- Identify the health problems</a:t>
            </a:r>
          </a:p>
        </p:txBody>
      </p:sp>
      <p:sp>
        <p:nvSpPr>
          <p:cNvPr id="261" name="TextBox 5"/>
          <p:cNvSpPr txBox="1"/>
          <p:nvPr/>
        </p:nvSpPr>
        <p:spPr>
          <a:xfrm>
            <a:off x="5808696" y="3354377"/>
            <a:ext cx="2928960" cy="798870"/>
          </a:xfrm>
          <a:prstGeom prst="rect">
            <a:avLst/>
          </a:prstGeom>
          <a:solidFill>
            <a:srgbClr val="B7DEE8"/>
          </a:solidFill>
          <a:ln w="381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2- Prioritization of health problems </a:t>
            </a:r>
          </a:p>
        </p:txBody>
      </p:sp>
      <p:sp>
        <p:nvSpPr>
          <p:cNvPr id="262" name="TextBox 6"/>
          <p:cNvSpPr txBox="1"/>
          <p:nvPr/>
        </p:nvSpPr>
        <p:spPr>
          <a:xfrm>
            <a:off x="6228184" y="4902258"/>
            <a:ext cx="2571769" cy="7702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3- Assessment of resources</a:t>
            </a:r>
          </a:p>
        </p:txBody>
      </p:sp>
      <p:sp>
        <p:nvSpPr>
          <p:cNvPr id="263" name="TextBox 7"/>
          <p:cNvSpPr txBox="1"/>
          <p:nvPr/>
        </p:nvSpPr>
        <p:spPr>
          <a:xfrm>
            <a:off x="3563887" y="5373215"/>
            <a:ext cx="2143173" cy="1138596"/>
          </a:xfrm>
          <a:prstGeom prst="rect">
            <a:avLst/>
          </a:prstGeom>
          <a:solidFill>
            <a:srgbClr val="E6B9B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4- Establish goals &amp; objectives  </a:t>
            </a:r>
          </a:p>
        </p:txBody>
      </p:sp>
      <p:sp>
        <p:nvSpPr>
          <p:cNvPr id="264" name="TextBox 8"/>
          <p:cNvSpPr txBox="1"/>
          <p:nvPr/>
        </p:nvSpPr>
        <p:spPr>
          <a:xfrm>
            <a:off x="395536" y="4653136"/>
            <a:ext cx="2571769" cy="1138595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5- Action plan or  implementation  plan </a:t>
            </a:r>
          </a:p>
        </p:txBody>
      </p:sp>
      <p:sp>
        <p:nvSpPr>
          <p:cNvPr id="265" name="TextBox 9"/>
          <p:cNvSpPr txBox="1"/>
          <p:nvPr/>
        </p:nvSpPr>
        <p:spPr>
          <a:xfrm>
            <a:off x="500034" y="3284983"/>
            <a:ext cx="2357454" cy="457459"/>
          </a:xfrm>
          <a:prstGeom prst="rect">
            <a:avLst/>
          </a:prstGeom>
          <a:solidFill>
            <a:srgbClr val="B9CDE5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6- Evaluation</a:t>
            </a:r>
          </a:p>
        </p:txBody>
      </p:sp>
      <p:sp>
        <p:nvSpPr>
          <p:cNvPr id="266" name="Straight Arrow Connector 13"/>
          <p:cNvSpPr/>
          <p:nvPr/>
        </p:nvSpPr>
        <p:spPr>
          <a:xfrm>
            <a:off x="5857883" y="1844824"/>
            <a:ext cx="1738454" cy="136815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Straight Arrow Connector 19"/>
          <p:cNvSpPr/>
          <p:nvPr/>
        </p:nvSpPr>
        <p:spPr>
          <a:xfrm flipH="1">
            <a:off x="7452344" y="4221088"/>
            <a:ext cx="1589" cy="571505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Straight Arrow Connector 20"/>
          <p:cNvSpPr/>
          <p:nvPr/>
        </p:nvSpPr>
        <p:spPr>
          <a:xfrm flipH="1" flipV="1">
            <a:off x="2051719" y="5853465"/>
            <a:ext cx="1518721" cy="36161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traight Arrow Connector 22"/>
          <p:cNvSpPr/>
          <p:nvPr/>
        </p:nvSpPr>
        <p:spPr>
          <a:xfrm flipH="1" flipV="1">
            <a:off x="1678763" y="3861048"/>
            <a:ext cx="12918" cy="78581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Straight Arrow Connector 24"/>
          <p:cNvSpPr/>
          <p:nvPr/>
        </p:nvSpPr>
        <p:spPr>
          <a:xfrm flipV="1">
            <a:off x="1907703" y="1876477"/>
            <a:ext cx="1296145" cy="133649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Box 21"/>
          <p:cNvSpPr txBox="1"/>
          <p:nvPr/>
        </p:nvSpPr>
        <p:spPr>
          <a:xfrm>
            <a:off x="1788129" y="925281"/>
            <a:ext cx="6266543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Action Plan includes 7 steps </a:t>
            </a:r>
          </a:p>
        </p:txBody>
      </p:sp>
      <p:sp>
        <p:nvSpPr>
          <p:cNvPr id="272" name="Straight Arrow Connector 23"/>
          <p:cNvSpPr/>
          <p:nvPr/>
        </p:nvSpPr>
        <p:spPr>
          <a:xfrm flipH="1">
            <a:off x="5652120" y="5733255"/>
            <a:ext cx="1621056" cy="50246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itle 1"/>
          <p:cNvSpPr txBox="1"/>
          <p:nvPr>
            <p:ph type="title"/>
          </p:nvPr>
        </p:nvSpPr>
        <p:spPr>
          <a:xfrm>
            <a:off x="514375" y="71413"/>
            <a:ext cx="8201030" cy="846160"/>
          </a:xfrm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(4): Establish objectives and goals </a:t>
            </a:r>
          </a:p>
        </p:txBody>
      </p:sp>
      <p:sp>
        <p:nvSpPr>
          <p:cNvPr id="275" name="Content Placeholder 2"/>
          <p:cNvSpPr txBox="1"/>
          <p:nvPr>
            <p:ph type="body" idx="1"/>
          </p:nvPr>
        </p:nvSpPr>
        <p:spPr>
          <a:xfrm>
            <a:off x="142843" y="980728"/>
            <a:ext cx="8715438" cy="4248473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800"/>
              </a:spcBef>
              <a:buSzTx/>
              <a:buNone/>
              <a:defRPr b="1" sz="36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Goal</a:t>
            </a:r>
            <a:r>
              <a:rPr u="none"/>
              <a:t> </a:t>
            </a:r>
            <a:endParaRPr u="none"/>
          </a:p>
          <a:p>
            <a:pPr marL="0" indent="0" algn="l">
              <a:lnSpc>
                <a:spcPct val="170000"/>
              </a:lnSpc>
              <a:buFontTx/>
              <a:buChar char="➢"/>
              <a:defRPr b="1" sz="3100">
                <a:latin typeface="Arial"/>
                <a:ea typeface="Arial"/>
                <a:cs typeface="Arial"/>
                <a:sym typeface="Arial"/>
              </a:defRPr>
            </a:pPr>
            <a:r>
              <a:t> It is ultimate desired state or it is the remote outcome or what you hope to accomplish (e.g. improve maternal health …). </a:t>
            </a:r>
          </a:p>
          <a:p>
            <a:pPr marL="0" indent="0" algn="l">
              <a:lnSpc>
                <a:spcPct val="170000"/>
              </a:lnSpc>
              <a:buFontTx/>
              <a:buChar char="➢"/>
              <a:defRPr b="1" sz="3100">
                <a:latin typeface="Arial"/>
                <a:ea typeface="Arial"/>
                <a:cs typeface="Arial"/>
                <a:sym typeface="Arial"/>
              </a:defRPr>
            </a:pPr>
            <a:r>
              <a:t> It is not measurable.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ontent Placeholder 2"/>
          <p:cNvSpPr txBox="1"/>
          <p:nvPr>
            <p:ph type="body" idx="1"/>
          </p:nvPr>
        </p:nvSpPr>
        <p:spPr>
          <a:xfrm>
            <a:off x="142843" y="214289"/>
            <a:ext cx="8715438" cy="6357984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80000"/>
              </a:lnSpc>
              <a:spcBef>
                <a:spcPts val="600"/>
              </a:spcBef>
              <a:buSzTx/>
              <a:buNone/>
              <a:defRPr b="1" sz="2800" u="sng">
                <a:solidFill>
                  <a:srgbClr val="FF0000"/>
                </a:solidFill>
              </a:defRPr>
            </a:pPr>
          </a:p>
          <a:p>
            <a:pPr algn="l">
              <a:lnSpc>
                <a:spcPct val="80000"/>
              </a:lnSpc>
              <a:buSzTx/>
              <a:buNone/>
              <a:defRPr b="1" sz="3000" u="sng">
                <a:solidFill>
                  <a:srgbClr val="FF0000"/>
                </a:solidFill>
              </a:defRPr>
            </a:pPr>
            <a:r>
              <a:t>O</a:t>
            </a:r>
            <a:r>
              <a:rPr>
                <a:latin typeface="Arial"/>
                <a:ea typeface="Arial"/>
                <a:cs typeface="Arial"/>
                <a:sym typeface="Arial"/>
              </a:rPr>
              <a:t>bjective: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28000"/>
              </a:lnSpc>
              <a:spcBef>
                <a:spcPts val="600"/>
              </a:spcBef>
              <a:defRPr b="1" sz="2700">
                <a:latin typeface="Arial"/>
                <a:ea typeface="Arial"/>
                <a:cs typeface="Arial"/>
                <a:sym typeface="Arial"/>
              </a:defRPr>
            </a:pPr>
            <a:r>
              <a:t>It is how we will achieve our goal.</a:t>
            </a:r>
            <a:endParaRPr sz="2900"/>
          </a:p>
          <a:p>
            <a:pPr algn="l">
              <a:lnSpc>
                <a:spcPct val="128000"/>
              </a:lnSpc>
              <a:spcBef>
                <a:spcPts val="600"/>
              </a:spcBef>
              <a:defRPr b="1" sz="2700">
                <a:latin typeface="Arial"/>
                <a:ea typeface="Arial"/>
                <a:cs typeface="Arial"/>
                <a:sym typeface="Arial"/>
              </a:defRPr>
            </a:pPr>
            <a:r>
              <a:t>It will also serve as the basis for the evaluation of the project</a:t>
            </a:r>
            <a:endParaRPr sz="2900"/>
          </a:p>
          <a:p>
            <a:pPr algn="l">
              <a:lnSpc>
                <a:spcPct val="128000"/>
              </a:lnSpc>
              <a:spcBef>
                <a:spcPts val="600"/>
              </a:spcBef>
              <a:defRPr b="1" sz="2700">
                <a:latin typeface="Arial"/>
                <a:ea typeface="Arial"/>
                <a:cs typeface="Arial"/>
                <a:sym typeface="Arial"/>
              </a:defRPr>
            </a:pPr>
            <a:r>
              <a:t>The objective should be (SMART):</a:t>
            </a:r>
            <a:endParaRPr sz="2900"/>
          </a:p>
          <a:p>
            <a:pPr lvl="2" marL="1143000" indent="-228600" algn="l">
              <a:lnSpc>
                <a:spcPct val="96000"/>
              </a:lnSpc>
              <a:spcBef>
                <a:spcPts val="600"/>
              </a:spcBef>
              <a:buClr>
                <a:srgbClr val="FF0000"/>
              </a:buClr>
              <a:defRPr b="1" sz="2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</a:t>
            </a:r>
            <a:r>
              <a:rPr>
                <a:solidFill>
                  <a:srgbClr val="0000FF"/>
                </a:solidFill>
              </a:rPr>
              <a:t>imple, clear and well defined.</a:t>
            </a:r>
            <a:endParaRPr sz="2200"/>
          </a:p>
          <a:p>
            <a:pPr lvl="2" marL="1143000" indent="-228600" algn="l">
              <a:lnSpc>
                <a:spcPct val="96000"/>
              </a:lnSpc>
              <a:spcBef>
                <a:spcPts val="600"/>
              </a:spcBef>
              <a:buClr>
                <a:srgbClr val="FF0000"/>
              </a:buClr>
              <a:defRPr b="1" sz="2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</a:t>
            </a:r>
            <a:r>
              <a:rPr>
                <a:solidFill>
                  <a:srgbClr val="0000FF"/>
                </a:solidFill>
              </a:rPr>
              <a:t>easurable</a:t>
            </a:r>
            <a:endParaRPr sz="2200"/>
          </a:p>
          <a:p>
            <a:pPr lvl="2" marL="1143000" indent="-228600" algn="l">
              <a:lnSpc>
                <a:spcPct val="96000"/>
              </a:lnSpc>
              <a:spcBef>
                <a:spcPts val="600"/>
              </a:spcBef>
              <a:buClr>
                <a:srgbClr val="FF0000"/>
              </a:buClr>
              <a:defRPr b="1" sz="2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  <a:r>
              <a:rPr>
                <a:solidFill>
                  <a:srgbClr val="FF0000"/>
                </a:solidFill>
              </a:rPr>
              <a:t>A</a:t>
            </a:r>
            <a:r>
              <a:t>cceptable.</a:t>
            </a:r>
            <a:endParaRPr sz="2200"/>
          </a:p>
          <a:p>
            <a:pPr lvl="2" marL="1143000" indent="-228600" algn="l">
              <a:lnSpc>
                <a:spcPct val="96000"/>
              </a:lnSpc>
              <a:spcBef>
                <a:spcPts val="600"/>
              </a:spcBef>
              <a:buClr>
                <a:srgbClr val="FF0000"/>
              </a:buClr>
              <a:defRPr b="1" sz="2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  <a:r>
              <a:rPr>
                <a:solidFill>
                  <a:srgbClr val="FF0000"/>
                </a:solidFill>
              </a:rPr>
              <a:t>R</a:t>
            </a:r>
            <a:r>
              <a:t>ealistic </a:t>
            </a:r>
            <a:endParaRPr sz="2200"/>
          </a:p>
          <a:p>
            <a:pPr lvl="2" marL="1143000" indent="-228600" algn="l">
              <a:lnSpc>
                <a:spcPct val="96000"/>
              </a:lnSpc>
              <a:spcBef>
                <a:spcPts val="600"/>
              </a:spcBef>
              <a:buClr>
                <a:srgbClr val="FF0000"/>
              </a:buClr>
              <a:defRPr b="1" sz="2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</a:t>
            </a:r>
            <a:r>
              <a:rPr>
                <a:solidFill>
                  <a:srgbClr val="0000FF"/>
                </a:solidFill>
              </a:rPr>
              <a:t>ime bound.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2"/>
          <p:cNvSpPr txBox="1"/>
          <p:nvPr>
            <p:ph type="title"/>
          </p:nvPr>
        </p:nvSpPr>
        <p:spPr>
          <a:xfrm>
            <a:off x="625475" y="200024"/>
            <a:ext cx="8137525" cy="639765"/>
          </a:xfrm>
          <a:prstGeom prst="rect">
            <a:avLst/>
          </a:prstGeom>
          <a:solidFill>
            <a:srgbClr val="EEECE1"/>
          </a:solidFill>
        </p:spPr>
        <p:txBody>
          <a:bodyPr/>
          <a:lstStyle>
            <a:lvl1pPr>
              <a:defRPr b="1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Examples of goals &amp; objectives </a:t>
            </a:r>
          </a:p>
        </p:txBody>
      </p:sp>
      <p:sp>
        <p:nvSpPr>
          <p:cNvPr id="280" name="Rectangle 3"/>
          <p:cNvSpPr txBox="1"/>
          <p:nvPr>
            <p:ph type="body" idx="1"/>
          </p:nvPr>
        </p:nvSpPr>
        <p:spPr>
          <a:xfrm>
            <a:off x="304800" y="980728"/>
            <a:ext cx="8572500" cy="5454649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>
              <a:lnSpc>
                <a:spcPct val="150000"/>
              </a:lnSpc>
              <a:spcBef>
                <a:spcPts val="600"/>
              </a:spcBef>
              <a:defRPr b="1" sz="28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Goal:</a:t>
            </a:r>
            <a:r>
              <a:rPr u="none">
                <a:solidFill>
                  <a:srgbClr val="000000"/>
                </a:solidFill>
              </a:rPr>
              <a:t> </a:t>
            </a:r>
            <a:r>
              <a:rPr u="none"/>
              <a:t>Improve the nutritional status of preschool children in Cairo governorate. </a:t>
            </a:r>
            <a:endParaRPr u="none"/>
          </a:p>
          <a:p>
            <a:pPr algn="l">
              <a:lnSpc>
                <a:spcPct val="150000"/>
              </a:lnSpc>
              <a:spcBef>
                <a:spcPts val="600"/>
              </a:spcBef>
              <a:defRPr b="1" sz="28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Objective 1:</a:t>
            </a:r>
            <a:r>
              <a:rPr u="none">
                <a:solidFill>
                  <a:srgbClr val="000000"/>
                </a:solidFill>
              </a:rPr>
              <a:t> reduce the prevalence of malnutrition among preschool children in Cairo governorate by 50% through 3 years.</a:t>
            </a:r>
            <a:endParaRPr u="none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defRPr b="1" sz="28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Objective 2:</a:t>
            </a:r>
            <a:r>
              <a:rPr u="none">
                <a:solidFill>
                  <a:srgbClr val="000000"/>
                </a:solidFill>
              </a:rPr>
              <a:t> Increase the number of attendance to child health care center in Cairo governorate by 50% through 3 years.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itle 1"/>
          <p:cNvSpPr txBox="1"/>
          <p:nvPr>
            <p:ph type="title"/>
          </p:nvPr>
        </p:nvSpPr>
        <p:spPr>
          <a:xfrm>
            <a:off x="2051719" y="142851"/>
            <a:ext cx="5904657" cy="775544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FF0000"/>
                </a:solidFill>
              </a:defRPr>
            </a:lvl1pPr>
          </a:lstStyle>
          <a:p>
            <a:pPr/>
            <a:r>
              <a:t>Operational  plan </a:t>
            </a:r>
          </a:p>
        </p:txBody>
      </p:sp>
      <p:sp>
        <p:nvSpPr>
          <p:cNvPr id="283" name="TextBox 4"/>
          <p:cNvSpPr txBox="1"/>
          <p:nvPr/>
        </p:nvSpPr>
        <p:spPr>
          <a:xfrm>
            <a:off x="3286116" y="1656382"/>
            <a:ext cx="2571769" cy="895609"/>
          </a:xfrm>
          <a:prstGeom prst="rect">
            <a:avLst/>
          </a:prstGeom>
          <a:solidFill>
            <a:srgbClr val="C6D9F1"/>
          </a:solidFill>
          <a:ln w="1905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1- Identify the health problems</a:t>
            </a:r>
          </a:p>
        </p:txBody>
      </p:sp>
      <p:sp>
        <p:nvSpPr>
          <p:cNvPr id="284" name="TextBox 5"/>
          <p:cNvSpPr txBox="1"/>
          <p:nvPr/>
        </p:nvSpPr>
        <p:spPr>
          <a:xfrm>
            <a:off x="5808696" y="3354377"/>
            <a:ext cx="2928960" cy="798870"/>
          </a:xfrm>
          <a:prstGeom prst="rect">
            <a:avLst/>
          </a:prstGeom>
          <a:solidFill>
            <a:srgbClr val="B7DEE8"/>
          </a:solidFill>
          <a:ln w="381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2- Prioritization of health problems </a:t>
            </a:r>
          </a:p>
        </p:txBody>
      </p:sp>
      <p:sp>
        <p:nvSpPr>
          <p:cNvPr id="285" name="TextBox 6"/>
          <p:cNvSpPr txBox="1"/>
          <p:nvPr/>
        </p:nvSpPr>
        <p:spPr>
          <a:xfrm>
            <a:off x="6228184" y="4902258"/>
            <a:ext cx="2571769" cy="7702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3- Assessment of resources</a:t>
            </a:r>
          </a:p>
        </p:txBody>
      </p:sp>
      <p:sp>
        <p:nvSpPr>
          <p:cNvPr id="286" name="TextBox 7"/>
          <p:cNvSpPr txBox="1"/>
          <p:nvPr/>
        </p:nvSpPr>
        <p:spPr>
          <a:xfrm>
            <a:off x="3563887" y="5373215"/>
            <a:ext cx="2143173" cy="11385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4- Establish goals &amp; objectives  </a:t>
            </a:r>
          </a:p>
        </p:txBody>
      </p:sp>
      <p:sp>
        <p:nvSpPr>
          <p:cNvPr id="287" name="TextBox 8"/>
          <p:cNvSpPr txBox="1"/>
          <p:nvPr/>
        </p:nvSpPr>
        <p:spPr>
          <a:xfrm>
            <a:off x="395536" y="4653136"/>
            <a:ext cx="2571769" cy="1138595"/>
          </a:xfrm>
          <a:prstGeom prst="rect">
            <a:avLst/>
          </a:prstGeom>
          <a:solidFill>
            <a:srgbClr val="E6B9B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5- Action plan or  implementation  plan </a:t>
            </a:r>
          </a:p>
        </p:txBody>
      </p:sp>
      <p:sp>
        <p:nvSpPr>
          <p:cNvPr id="288" name="TextBox 9"/>
          <p:cNvSpPr txBox="1"/>
          <p:nvPr/>
        </p:nvSpPr>
        <p:spPr>
          <a:xfrm>
            <a:off x="500034" y="3284983"/>
            <a:ext cx="2357454" cy="457459"/>
          </a:xfrm>
          <a:prstGeom prst="rect">
            <a:avLst/>
          </a:prstGeom>
          <a:solidFill>
            <a:srgbClr val="B9CDE5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6- Evaluation</a:t>
            </a:r>
          </a:p>
        </p:txBody>
      </p:sp>
      <p:sp>
        <p:nvSpPr>
          <p:cNvPr id="289" name="Straight Arrow Connector 13"/>
          <p:cNvSpPr/>
          <p:nvPr/>
        </p:nvSpPr>
        <p:spPr>
          <a:xfrm>
            <a:off x="5857883" y="1844824"/>
            <a:ext cx="1738454" cy="136815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Straight Arrow Connector 19"/>
          <p:cNvSpPr/>
          <p:nvPr/>
        </p:nvSpPr>
        <p:spPr>
          <a:xfrm flipH="1">
            <a:off x="7452344" y="4221088"/>
            <a:ext cx="1589" cy="571505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Straight Arrow Connector 20"/>
          <p:cNvSpPr/>
          <p:nvPr/>
        </p:nvSpPr>
        <p:spPr>
          <a:xfrm flipH="1" flipV="1">
            <a:off x="2051719" y="5853465"/>
            <a:ext cx="1518721" cy="36161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Straight Arrow Connector 22"/>
          <p:cNvSpPr/>
          <p:nvPr/>
        </p:nvSpPr>
        <p:spPr>
          <a:xfrm flipH="1" flipV="1">
            <a:off x="1678763" y="3861048"/>
            <a:ext cx="12918" cy="78581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traight Arrow Connector 24"/>
          <p:cNvSpPr/>
          <p:nvPr/>
        </p:nvSpPr>
        <p:spPr>
          <a:xfrm flipV="1">
            <a:off x="1907703" y="1876477"/>
            <a:ext cx="1296145" cy="133649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Box 21"/>
          <p:cNvSpPr txBox="1"/>
          <p:nvPr/>
        </p:nvSpPr>
        <p:spPr>
          <a:xfrm>
            <a:off x="1788129" y="925281"/>
            <a:ext cx="6266543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Action Plan includes 7 steps </a:t>
            </a:r>
          </a:p>
        </p:txBody>
      </p:sp>
      <p:sp>
        <p:nvSpPr>
          <p:cNvPr id="295" name="Straight Arrow Connector 23"/>
          <p:cNvSpPr/>
          <p:nvPr/>
        </p:nvSpPr>
        <p:spPr>
          <a:xfrm flipH="1">
            <a:off x="5652120" y="5733255"/>
            <a:ext cx="1621056" cy="50246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itle 1"/>
          <p:cNvSpPr txBox="1"/>
          <p:nvPr>
            <p:ph type="title"/>
          </p:nvPr>
        </p:nvSpPr>
        <p:spPr>
          <a:xfrm>
            <a:off x="214273" y="260647"/>
            <a:ext cx="8715438" cy="846160"/>
          </a:xfrm>
          <a:prstGeom prst="rect">
            <a:avLst/>
          </a:prstGeom>
        </p:spPr>
        <p:txBody>
          <a:bodyPr/>
          <a:lstStyle>
            <a:lvl1pPr>
              <a:defRPr b="1" sz="33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(5): Action plan or implementation plan   </a:t>
            </a:r>
          </a:p>
        </p:txBody>
      </p:sp>
      <p:sp>
        <p:nvSpPr>
          <p:cNvPr id="298" name="Content Placeholder 2"/>
          <p:cNvSpPr txBox="1"/>
          <p:nvPr>
            <p:ph type="body" idx="1"/>
          </p:nvPr>
        </p:nvSpPr>
        <p:spPr>
          <a:xfrm>
            <a:off x="251519" y="1484783"/>
            <a:ext cx="8208914" cy="4032450"/>
          </a:xfrm>
          <a:prstGeom prst="rect">
            <a:avLst/>
          </a:prstGeom>
        </p:spPr>
        <p:txBody>
          <a:bodyPr/>
          <a:lstStyle>
            <a:lvl1pPr algn="l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FontTx/>
              <a:buChar char="➢"/>
              <a:defRPr b="1" sz="3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It is a collection of persons and procedures to conduct specific activities and tasks to achieve a basic objective.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 1"/>
          <p:cNvSpPr txBox="1"/>
          <p:nvPr>
            <p:ph type="title"/>
          </p:nvPr>
        </p:nvSpPr>
        <p:spPr>
          <a:xfrm>
            <a:off x="914400" y="116631"/>
            <a:ext cx="7772400" cy="79980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pPr/>
            <a:r>
              <a:t>Example of operational plan </a:t>
            </a:r>
          </a:p>
        </p:txBody>
      </p:sp>
      <p:graphicFrame>
        <p:nvGraphicFramePr>
          <p:cNvPr id="301" name="Content Placeholder 3"/>
          <p:cNvGraphicFramePr/>
          <p:nvPr/>
        </p:nvGraphicFramePr>
        <p:xfrm>
          <a:off x="9001139" y="1107420"/>
          <a:ext cx="8858281" cy="521497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1">
                <a:tableStyleId>{4C3C2611-4C71-4FC5-86AE-919BDF0F9419}</a:tableStyleId>
              </a:tblPr>
              <a:tblGrid>
                <a:gridCol w="1704199"/>
                <a:gridCol w="1214581"/>
                <a:gridCol w="1504126"/>
                <a:gridCol w="1313906"/>
                <a:gridCol w="1657472"/>
                <a:gridCol w="1463996"/>
              </a:tblGrid>
              <a:tr h="11950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Responsible </a:t>
                      </a:r>
                    </a:p>
                    <a:p>
                      <a:pPr algn="ctr">
                        <a:lnSpc>
                          <a:spcPct val="150000"/>
                        </a:lnSpc>
                        <a:defRPr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Person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 tasks 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Activities 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 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goal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</a:tr>
              <a:tr h="40198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 sz="1800"/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Health staff in all health institutions providing child health services 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 sz="1800"/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All over the year 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 sz="1800"/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3 health education sessions /month /HC to attendant mothers 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 b="1" sz="16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Conducting</a:t>
                      </a:r>
                      <a:r>
                        <a:rPr sz="1800"/>
                        <a:t> health education for mothers about healthy food 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 sz="1800"/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reduce the prevalence of malnutrition among preschool children in Cairo by 50% in 3 years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 sz="1800"/>
                      </a:pPr>
                      <a:r>
                        <a:rPr b="1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Improve the nutritional status of preschool children in Cairo</a:t>
                      </a:r>
                    </a:p>
                  </a:txBody>
                  <a:tcPr marL="45720" marR="45720" marT="45720" marB="45720" anchor="t" anchorCtr="0" horzOverflow="overflow">
                    <a:gradFill flip="none" rotWithShape="1">
                      <a:gsLst>
                        <a:gs pos="0">
                          <a:srgbClr val="98B4E5"/>
                        </a:gs>
                        <a:gs pos="50000">
                          <a:srgbClr val="C0D0ED"/>
                        </a:gs>
                        <a:gs pos="100000">
                          <a:srgbClr val="E0E7F5"/>
                        </a:gs>
                      </a:gsLst>
                      <a:path path="circle">
                        <a:fillToRect l="62278" t="119636" r="37721" b="-19636"/>
                      </a:path>
                    </a:gradFill>
                  </a:tcPr>
                </a:tc>
              </a:tr>
            </a:tbl>
          </a:graphicData>
        </a:graphic>
      </p:graphicFrame>
      <p:sp>
        <p:nvSpPr>
          <p:cNvPr id="302" name="Straight Connector 5"/>
          <p:cNvSpPr/>
          <p:nvPr/>
        </p:nvSpPr>
        <p:spPr>
          <a:xfrm flipH="1">
            <a:off x="1715114" y="1215057"/>
            <a:ext cx="1" cy="5286413"/>
          </a:xfrm>
          <a:prstGeom prst="line">
            <a:avLst/>
          </a:prstGeom>
          <a:solidFill>
            <a:schemeClr val="accent1"/>
          </a:solidFill>
          <a:ln w="38100">
            <a:solidFill>
              <a:srgbClr val="EEEC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Straight Connector 9"/>
          <p:cNvSpPr/>
          <p:nvPr/>
        </p:nvSpPr>
        <p:spPr>
          <a:xfrm flipH="1">
            <a:off x="3358187" y="1286495"/>
            <a:ext cx="1" cy="5286412"/>
          </a:xfrm>
          <a:prstGeom prst="line">
            <a:avLst/>
          </a:prstGeom>
          <a:solidFill>
            <a:schemeClr val="accent1"/>
          </a:solidFill>
          <a:ln w="38100">
            <a:solidFill>
              <a:srgbClr val="EEEC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Straight Connector 11"/>
          <p:cNvSpPr/>
          <p:nvPr/>
        </p:nvSpPr>
        <p:spPr>
          <a:xfrm flipH="1">
            <a:off x="6144271" y="1286496"/>
            <a:ext cx="1" cy="5286413"/>
          </a:xfrm>
          <a:prstGeom prst="line">
            <a:avLst/>
          </a:prstGeom>
          <a:solidFill>
            <a:schemeClr val="accent1"/>
          </a:solidFill>
          <a:ln w="38100">
            <a:solidFill>
              <a:srgbClr val="EEEC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Straight Connector 12"/>
          <p:cNvSpPr/>
          <p:nvPr/>
        </p:nvSpPr>
        <p:spPr>
          <a:xfrm flipH="1">
            <a:off x="7358717" y="1286496"/>
            <a:ext cx="1" cy="5286413"/>
          </a:xfrm>
          <a:prstGeom prst="line">
            <a:avLst/>
          </a:prstGeom>
          <a:solidFill>
            <a:schemeClr val="accent1"/>
          </a:solidFill>
          <a:ln w="38100">
            <a:solidFill>
              <a:srgbClr val="EEECE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itle 1"/>
          <p:cNvSpPr txBox="1"/>
          <p:nvPr>
            <p:ph type="title"/>
          </p:nvPr>
        </p:nvSpPr>
        <p:spPr>
          <a:xfrm>
            <a:off x="2051719" y="142851"/>
            <a:ext cx="5904657" cy="775544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FF0000"/>
                </a:solidFill>
              </a:defRPr>
            </a:lvl1pPr>
          </a:lstStyle>
          <a:p>
            <a:pPr/>
            <a:r>
              <a:t>Operational  plan </a:t>
            </a:r>
          </a:p>
        </p:txBody>
      </p:sp>
      <p:sp>
        <p:nvSpPr>
          <p:cNvPr id="308" name="TextBox 4"/>
          <p:cNvSpPr txBox="1"/>
          <p:nvPr/>
        </p:nvSpPr>
        <p:spPr>
          <a:xfrm>
            <a:off x="3286116" y="1656382"/>
            <a:ext cx="2571769" cy="895609"/>
          </a:xfrm>
          <a:prstGeom prst="rect">
            <a:avLst/>
          </a:prstGeom>
          <a:solidFill>
            <a:srgbClr val="C6D9F1"/>
          </a:solidFill>
          <a:ln w="1905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1- Identify the health problems</a:t>
            </a:r>
          </a:p>
        </p:txBody>
      </p:sp>
      <p:sp>
        <p:nvSpPr>
          <p:cNvPr id="309" name="TextBox 5"/>
          <p:cNvSpPr txBox="1"/>
          <p:nvPr/>
        </p:nvSpPr>
        <p:spPr>
          <a:xfrm>
            <a:off x="5808696" y="3354377"/>
            <a:ext cx="2928960" cy="798870"/>
          </a:xfrm>
          <a:prstGeom prst="rect">
            <a:avLst/>
          </a:prstGeom>
          <a:solidFill>
            <a:srgbClr val="B7DEE8"/>
          </a:solidFill>
          <a:ln w="381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2- Prioritization of health problems </a:t>
            </a:r>
          </a:p>
        </p:txBody>
      </p:sp>
      <p:sp>
        <p:nvSpPr>
          <p:cNvPr id="310" name="TextBox 6"/>
          <p:cNvSpPr txBox="1"/>
          <p:nvPr/>
        </p:nvSpPr>
        <p:spPr>
          <a:xfrm>
            <a:off x="6228184" y="4902258"/>
            <a:ext cx="2571769" cy="7702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3- Assessment of resources</a:t>
            </a:r>
          </a:p>
        </p:txBody>
      </p:sp>
      <p:sp>
        <p:nvSpPr>
          <p:cNvPr id="311" name="TextBox 7"/>
          <p:cNvSpPr txBox="1"/>
          <p:nvPr/>
        </p:nvSpPr>
        <p:spPr>
          <a:xfrm>
            <a:off x="3563887" y="5373215"/>
            <a:ext cx="2143173" cy="1138596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4- Establish goals &amp; objectives  </a:t>
            </a:r>
          </a:p>
        </p:txBody>
      </p:sp>
      <p:sp>
        <p:nvSpPr>
          <p:cNvPr id="312" name="TextBox 8"/>
          <p:cNvSpPr txBox="1"/>
          <p:nvPr/>
        </p:nvSpPr>
        <p:spPr>
          <a:xfrm>
            <a:off x="395536" y="4653136"/>
            <a:ext cx="2571769" cy="1138595"/>
          </a:xfrm>
          <a:prstGeom prst="rect">
            <a:avLst/>
          </a:prstGeom>
          <a:solidFill>
            <a:srgbClr val="B7DEE8"/>
          </a:solidFill>
          <a:ln>
            <a:solidFill>
              <a:srgbClr val="46AAC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/>
            </a:lvl1pPr>
          </a:lstStyle>
          <a:p>
            <a:pPr/>
            <a:r>
              <a:t>5- Action plan or  implementation  plan </a:t>
            </a:r>
          </a:p>
        </p:txBody>
      </p:sp>
      <p:sp>
        <p:nvSpPr>
          <p:cNvPr id="313" name="TextBox 9"/>
          <p:cNvSpPr txBox="1"/>
          <p:nvPr/>
        </p:nvSpPr>
        <p:spPr>
          <a:xfrm>
            <a:off x="500034" y="3284983"/>
            <a:ext cx="2357454" cy="457459"/>
          </a:xfrm>
          <a:prstGeom prst="rect">
            <a:avLst/>
          </a:prstGeom>
          <a:solidFill>
            <a:srgbClr val="E6B9B8"/>
          </a:solidFill>
          <a:ln w="12700">
            <a:solidFill>
              <a:srgbClr val="00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/>
            </a:lvl1pPr>
          </a:lstStyle>
          <a:p>
            <a:pPr/>
            <a:r>
              <a:t>6- Evaluation</a:t>
            </a:r>
          </a:p>
        </p:txBody>
      </p:sp>
      <p:sp>
        <p:nvSpPr>
          <p:cNvPr id="314" name="Straight Arrow Connector 13"/>
          <p:cNvSpPr/>
          <p:nvPr/>
        </p:nvSpPr>
        <p:spPr>
          <a:xfrm>
            <a:off x="5857883" y="1844824"/>
            <a:ext cx="1738454" cy="136815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Straight Arrow Connector 19"/>
          <p:cNvSpPr/>
          <p:nvPr/>
        </p:nvSpPr>
        <p:spPr>
          <a:xfrm flipH="1">
            <a:off x="7452344" y="4221088"/>
            <a:ext cx="1589" cy="571505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Straight Arrow Connector 20"/>
          <p:cNvSpPr/>
          <p:nvPr/>
        </p:nvSpPr>
        <p:spPr>
          <a:xfrm flipH="1" flipV="1">
            <a:off x="2051719" y="5853465"/>
            <a:ext cx="1518721" cy="36161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Straight Arrow Connector 22"/>
          <p:cNvSpPr/>
          <p:nvPr/>
        </p:nvSpPr>
        <p:spPr>
          <a:xfrm flipH="1" flipV="1">
            <a:off x="1678763" y="3861048"/>
            <a:ext cx="12918" cy="78581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traight Arrow Connector 24"/>
          <p:cNvSpPr/>
          <p:nvPr/>
        </p:nvSpPr>
        <p:spPr>
          <a:xfrm flipV="1">
            <a:off x="1907703" y="1876477"/>
            <a:ext cx="1296145" cy="133649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Box 21"/>
          <p:cNvSpPr txBox="1"/>
          <p:nvPr/>
        </p:nvSpPr>
        <p:spPr>
          <a:xfrm>
            <a:off x="1788129" y="925281"/>
            <a:ext cx="6266543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/>
            </a:lvl1pPr>
          </a:lstStyle>
          <a:p>
            <a:pPr/>
            <a:r>
              <a:t>Action Plan includes 7 steps </a:t>
            </a:r>
          </a:p>
        </p:txBody>
      </p:sp>
      <p:sp>
        <p:nvSpPr>
          <p:cNvPr id="320" name="Straight Arrow Connector 23"/>
          <p:cNvSpPr/>
          <p:nvPr/>
        </p:nvSpPr>
        <p:spPr>
          <a:xfrm flipH="1">
            <a:off x="5652120" y="5733255"/>
            <a:ext cx="1621056" cy="50246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itle 1"/>
          <p:cNvSpPr txBox="1"/>
          <p:nvPr>
            <p:ph type="title"/>
          </p:nvPr>
        </p:nvSpPr>
        <p:spPr>
          <a:xfrm>
            <a:off x="1928794" y="620687"/>
            <a:ext cx="5929355" cy="846160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(6): Evaluation</a:t>
            </a:r>
          </a:p>
        </p:txBody>
      </p:sp>
      <p:sp>
        <p:nvSpPr>
          <p:cNvPr id="323" name="Content Placeholder 2"/>
          <p:cNvSpPr txBox="1"/>
          <p:nvPr>
            <p:ph type="body" idx="1"/>
          </p:nvPr>
        </p:nvSpPr>
        <p:spPr>
          <a:xfrm>
            <a:off x="71405" y="1556791"/>
            <a:ext cx="8858314" cy="4643448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Evaluation is the process of observing, measuring, analyzing and interpreting the results of a program or service in relation to sited objective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It should be continuous all over the period of the program, so that immediate corrective action can be taken to correct the direction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itle 1"/>
          <p:cNvSpPr txBox="1"/>
          <p:nvPr>
            <p:ph type="title"/>
          </p:nvPr>
        </p:nvSpPr>
        <p:spPr>
          <a:xfrm>
            <a:off x="657251" y="285727"/>
            <a:ext cx="7772401" cy="846160"/>
          </a:xfrm>
          <a:prstGeom prst="rect">
            <a:avLst/>
          </a:prstGeom>
        </p:spPr>
        <p:txBody>
          <a:bodyPr/>
          <a:lstStyle>
            <a:lvl1pPr algn="l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are reasons for evaluation?</a:t>
            </a:r>
          </a:p>
        </p:txBody>
      </p:sp>
      <p:sp>
        <p:nvSpPr>
          <p:cNvPr id="326" name="Content Placeholder 3"/>
          <p:cNvSpPr txBox="1"/>
          <p:nvPr>
            <p:ph type="body" idx="1"/>
          </p:nvPr>
        </p:nvSpPr>
        <p:spPr>
          <a:xfrm>
            <a:off x="214281" y="1357297"/>
            <a:ext cx="7858182" cy="5143538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Improving the design or performance of the program.</a:t>
            </a:r>
          </a:p>
          <a:p>
            <a:pPr algn="l">
              <a:lnSpc>
                <a:spcPct val="150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Making alternatives to the existing activities.</a:t>
            </a:r>
          </a:p>
          <a:p>
            <a:pPr algn="l">
              <a:lnSpc>
                <a:spcPct val="150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Learning lessons for future application</a:t>
            </a:r>
          </a:p>
        </p:txBody>
      </p:sp>
      <p:pic>
        <p:nvPicPr>
          <p:cNvPr id="327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27674" y="3789040"/>
            <a:ext cx="2164806" cy="28432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itle 1"/>
          <p:cNvSpPr txBox="1"/>
          <p:nvPr>
            <p:ph type="title"/>
          </p:nvPr>
        </p:nvSpPr>
        <p:spPr>
          <a:xfrm>
            <a:off x="1115616" y="71414"/>
            <a:ext cx="7128793" cy="1053330"/>
          </a:xfrm>
          <a:prstGeom prst="rect">
            <a:avLst/>
          </a:prstGeom>
        </p:spPr>
        <p:txBody>
          <a:bodyPr/>
          <a:lstStyle/>
          <a:p>
            <a:pPr defTabSz="850391">
              <a:defRPr b="1" sz="3348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When to do evaluation </a:t>
            </a:r>
            <a:br/>
            <a:r>
              <a:t>timing of evaluation ?</a:t>
            </a:r>
          </a:p>
        </p:txBody>
      </p:sp>
      <p:sp>
        <p:nvSpPr>
          <p:cNvPr id="330" name="Content Placeholder 3"/>
          <p:cNvSpPr txBox="1"/>
          <p:nvPr>
            <p:ph type="body" idx="1"/>
          </p:nvPr>
        </p:nvSpPr>
        <p:spPr>
          <a:xfrm>
            <a:off x="214281" y="1529243"/>
            <a:ext cx="8678200" cy="4780078"/>
          </a:xfrm>
          <a:prstGeom prst="rect">
            <a:avLst/>
          </a:prstGeom>
        </p:spPr>
        <p:txBody>
          <a:bodyPr/>
          <a:lstStyle/>
          <a:p>
            <a:pPr marL="0" indent="0" algn="l">
              <a:buSzTx/>
              <a:buNone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It may be: </a:t>
            </a:r>
            <a:r>
              <a:rPr b="0"/>
              <a:t> </a:t>
            </a:r>
            <a:endParaRPr b="0"/>
          </a:p>
          <a:p>
            <a:pPr algn="l">
              <a:defRPr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During implementation of the  program </a:t>
            </a:r>
            <a:r>
              <a:rPr u="sng"/>
              <a:t>(ongoing evaluation)</a:t>
            </a:r>
            <a:r>
              <a:rPr u="sng">
                <a:solidFill>
                  <a:srgbClr val="00FFFF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to detect any error in order to re-organize the specific activity.</a:t>
            </a:r>
            <a:endParaRPr>
              <a:solidFill>
                <a:srgbClr val="000000"/>
              </a:solidFill>
            </a:endParaRPr>
          </a:p>
          <a:p>
            <a:pPr algn="l">
              <a:defRPr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Mid term evaluation </a:t>
            </a:r>
            <a:r>
              <a:rPr>
                <a:solidFill>
                  <a:srgbClr val="000000"/>
                </a:solidFill>
              </a:rPr>
              <a:t>to assess program progress</a:t>
            </a:r>
            <a:endParaRPr>
              <a:solidFill>
                <a:srgbClr val="000000"/>
              </a:solidFill>
            </a:endParaRPr>
          </a:p>
          <a:p>
            <a:pPr algn="l">
              <a:defRPr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At the end of the program </a:t>
            </a:r>
            <a:r>
              <a:rPr u="sng"/>
              <a:t>(formal evaluation).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le 1"/>
          <p:cNvSpPr txBox="1"/>
          <p:nvPr>
            <p:ph type="title"/>
          </p:nvPr>
        </p:nvSpPr>
        <p:spPr>
          <a:xfrm>
            <a:off x="285719" y="2643182"/>
            <a:ext cx="3286149" cy="1428761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  <p:txBody>
          <a:bodyPr/>
          <a:lstStyle>
            <a:lvl1pPr>
              <a:defRPr b="1" sz="3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Areas of evaluation?</a:t>
            </a:r>
          </a:p>
        </p:txBody>
      </p:sp>
      <p:sp>
        <p:nvSpPr>
          <p:cNvPr id="333" name="TextBox 4"/>
          <p:cNvSpPr txBox="1"/>
          <p:nvPr/>
        </p:nvSpPr>
        <p:spPr>
          <a:xfrm>
            <a:off x="5786446" y="785793"/>
            <a:ext cx="2143140" cy="902133"/>
          </a:xfrm>
          <a:prstGeom prst="rect">
            <a:avLst/>
          </a:prstGeom>
          <a:solidFill>
            <a:srgbClr val="D07C79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Objective evaluation</a:t>
            </a:r>
          </a:p>
        </p:txBody>
      </p:sp>
      <p:sp>
        <p:nvSpPr>
          <p:cNvPr id="334" name="TextBox 5"/>
          <p:cNvSpPr txBox="1"/>
          <p:nvPr/>
        </p:nvSpPr>
        <p:spPr>
          <a:xfrm>
            <a:off x="5786446" y="2928934"/>
            <a:ext cx="2143140" cy="902132"/>
          </a:xfrm>
          <a:prstGeom prst="rect">
            <a:avLst/>
          </a:prstGeom>
          <a:solidFill>
            <a:srgbClr val="D07C79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Subjective evaluation</a:t>
            </a:r>
          </a:p>
        </p:txBody>
      </p:sp>
      <p:sp>
        <p:nvSpPr>
          <p:cNvPr id="335" name="TextBox 6"/>
          <p:cNvSpPr txBox="1"/>
          <p:nvPr/>
        </p:nvSpPr>
        <p:spPr>
          <a:xfrm>
            <a:off x="5786446" y="4714883"/>
            <a:ext cx="2143140" cy="902133"/>
          </a:xfrm>
          <a:prstGeom prst="rect">
            <a:avLst/>
          </a:prstGeom>
          <a:solidFill>
            <a:srgbClr val="D07C79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Outcome  evaluation</a:t>
            </a:r>
          </a:p>
        </p:txBody>
      </p:sp>
      <p:sp>
        <p:nvSpPr>
          <p:cNvPr id="336" name="Straight Connector 8"/>
          <p:cNvSpPr/>
          <p:nvPr/>
        </p:nvSpPr>
        <p:spPr>
          <a:xfrm>
            <a:off x="3571868" y="3357562"/>
            <a:ext cx="714381" cy="1"/>
          </a:xfrm>
          <a:prstGeom prst="line">
            <a:avLst/>
          </a:prstGeom>
          <a:solidFill>
            <a:schemeClr val="accent1"/>
          </a:solidFill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Straight Connector 10"/>
          <p:cNvSpPr/>
          <p:nvPr/>
        </p:nvSpPr>
        <p:spPr>
          <a:xfrm flipH="1">
            <a:off x="4286883" y="1286495"/>
            <a:ext cx="1" cy="3929091"/>
          </a:xfrm>
          <a:prstGeom prst="line">
            <a:avLst/>
          </a:prstGeom>
          <a:solidFill>
            <a:schemeClr val="accent1"/>
          </a:solidFill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Straight Arrow Connector 12"/>
          <p:cNvSpPr/>
          <p:nvPr/>
        </p:nvSpPr>
        <p:spPr>
          <a:xfrm flipV="1">
            <a:off x="4286247" y="1262847"/>
            <a:ext cx="1500199" cy="23013"/>
          </a:xfrm>
          <a:prstGeom prst="line">
            <a:avLst/>
          </a:prstGeom>
          <a:ln w="571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Straight Arrow Connector 14"/>
          <p:cNvSpPr/>
          <p:nvPr/>
        </p:nvSpPr>
        <p:spPr>
          <a:xfrm flipV="1">
            <a:off x="4286247" y="3334549"/>
            <a:ext cx="1500199" cy="23013"/>
          </a:xfrm>
          <a:prstGeom prst="line">
            <a:avLst/>
          </a:prstGeom>
          <a:ln w="571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Straight Arrow Connector 15"/>
          <p:cNvSpPr/>
          <p:nvPr/>
        </p:nvSpPr>
        <p:spPr>
          <a:xfrm flipV="1">
            <a:off x="4286247" y="5191938"/>
            <a:ext cx="1500199" cy="23013"/>
          </a:xfrm>
          <a:prstGeom prst="line">
            <a:avLst/>
          </a:prstGeom>
          <a:ln w="571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ontent Placeholder 3"/>
          <p:cNvSpPr txBox="1"/>
          <p:nvPr>
            <p:ph type="body" sz="half" idx="1"/>
          </p:nvPr>
        </p:nvSpPr>
        <p:spPr>
          <a:xfrm>
            <a:off x="142844" y="1071546"/>
            <a:ext cx="8643998" cy="1643073"/>
          </a:xfrm>
          <a:prstGeom prst="rect">
            <a:avLst/>
          </a:prstGeom>
        </p:spPr>
        <p:txBody>
          <a:bodyPr/>
          <a:lstStyle>
            <a:lvl1pPr algn="l">
              <a:lnSpc>
                <a:spcPct val="150000"/>
              </a:lnSpc>
              <a:spcBef>
                <a:spcPts val="600"/>
              </a:spcBef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Evaluation of the objective to see if it is realistic, clear, well defined, acceptable and measurable</a:t>
            </a:r>
          </a:p>
        </p:txBody>
      </p:sp>
      <p:sp>
        <p:nvSpPr>
          <p:cNvPr id="343" name="TextBox 4"/>
          <p:cNvSpPr txBox="1"/>
          <p:nvPr/>
        </p:nvSpPr>
        <p:spPr>
          <a:xfrm>
            <a:off x="857224" y="129580"/>
            <a:ext cx="4500595" cy="557571"/>
          </a:xfrm>
          <a:prstGeom prst="rect">
            <a:avLst/>
          </a:prstGeom>
          <a:solidFill>
            <a:srgbClr val="254061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Objective evaluation</a:t>
            </a:r>
          </a:p>
        </p:txBody>
      </p:sp>
      <p:sp>
        <p:nvSpPr>
          <p:cNvPr id="344" name="Content Placeholder 3"/>
          <p:cNvSpPr txBox="1"/>
          <p:nvPr/>
        </p:nvSpPr>
        <p:spPr>
          <a:xfrm>
            <a:off x="260001" y="3500437"/>
            <a:ext cx="8623997" cy="2986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Evaluation of the program operation. It means measuring the </a:t>
            </a:r>
            <a:r>
              <a:rPr>
                <a:solidFill>
                  <a:srgbClr val="FF0000"/>
                </a:solidFill>
              </a:rPr>
              <a:t>input resources </a:t>
            </a:r>
            <a:r>
              <a:t>(man power, money and materials) in a quantitative way. </a:t>
            </a: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Also it measures the performance (</a:t>
            </a:r>
            <a:r>
              <a:rPr>
                <a:solidFill>
                  <a:srgbClr val="FF0000"/>
                </a:solidFill>
              </a:rPr>
              <a:t>quality of work )</a:t>
            </a:r>
          </a:p>
        </p:txBody>
      </p:sp>
      <p:sp>
        <p:nvSpPr>
          <p:cNvPr id="345" name="TextBox 7"/>
          <p:cNvSpPr txBox="1"/>
          <p:nvPr/>
        </p:nvSpPr>
        <p:spPr>
          <a:xfrm>
            <a:off x="857224" y="2786058"/>
            <a:ext cx="4429157" cy="557570"/>
          </a:xfrm>
          <a:prstGeom prst="rect">
            <a:avLst/>
          </a:prstGeom>
          <a:solidFill>
            <a:srgbClr val="254061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Subjective evaluation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itle 1"/>
          <p:cNvSpPr txBox="1"/>
          <p:nvPr>
            <p:ph type="title"/>
          </p:nvPr>
        </p:nvSpPr>
        <p:spPr>
          <a:xfrm>
            <a:off x="657251" y="285727"/>
            <a:ext cx="7371134" cy="846160"/>
          </a:xfrm>
          <a:prstGeom prst="rect">
            <a:avLst/>
          </a:prstGeom>
        </p:spPr>
        <p:txBody>
          <a:bodyPr/>
          <a:lstStyle>
            <a:lvl1pPr algn="l">
              <a:defRPr b="1" sz="32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Examples of subjective evaluation </a:t>
            </a:r>
          </a:p>
        </p:txBody>
      </p:sp>
      <p:sp>
        <p:nvSpPr>
          <p:cNvPr id="348" name="Content Placeholder 3"/>
          <p:cNvSpPr txBox="1"/>
          <p:nvPr>
            <p:ph type="body" idx="1"/>
          </p:nvPr>
        </p:nvSpPr>
        <p:spPr>
          <a:xfrm>
            <a:off x="500034" y="1428736"/>
            <a:ext cx="7240317" cy="5143537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90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How many doctors / 10.000 population (input).</a:t>
            </a:r>
          </a:p>
          <a:p>
            <a:pPr algn="l">
              <a:lnSpc>
                <a:spcPct val="90000"/>
              </a:lnSpc>
              <a:buSzTx/>
              <a:buNone/>
              <a:defRPr b="1">
                <a:latin typeface="Arial"/>
                <a:ea typeface="Arial"/>
                <a:cs typeface="Arial"/>
                <a:sym typeface="Arial"/>
              </a:defRPr>
            </a:pPr>
          </a:p>
          <a:p>
            <a:pPr algn="l">
              <a:lnSpc>
                <a:spcPct val="90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How many X-ray done / 1000 patient</a:t>
            </a:r>
          </a:p>
          <a:p>
            <a:pPr algn="l">
              <a:lnSpc>
                <a:spcPct val="90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</a:p>
          <a:p>
            <a:pPr algn="l">
              <a:lnSpc>
                <a:spcPct val="90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Nurses / doctors ratio.</a:t>
            </a:r>
          </a:p>
          <a:p>
            <a:pPr algn="l">
              <a:lnSpc>
                <a:spcPct val="90000"/>
              </a:lnSpc>
              <a:buSzTx/>
              <a:buNone/>
              <a:defRPr b="1">
                <a:latin typeface="Arial"/>
                <a:ea typeface="Arial"/>
                <a:cs typeface="Arial"/>
                <a:sym typeface="Arial"/>
              </a:defRPr>
            </a:pPr>
          </a:p>
          <a:p>
            <a:pPr algn="l">
              <a:lnSpc>
                <a:spcPct val="90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How many positive results per 100 urine analysis tests (quality)</a:t>
            </a:r>
          </a:p>
        </p:txBody>
      </p:sp>
      <p:pic>
        <p:nvPicPr>
          <p:cNvPr id="349" name="Picture 1" descr="Picture 1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24328" y="692695"/>
            <a:ext cx="1296145" cy="3105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Content Placeholder 3"/>
          <p:cNvSpPr txBox="1"/>
          <p:nvPr>
            <p:ph type="body" idx="1"/>
          </p:nvPr>
        </p:nvSpPr>
        <p:spPr>
          <a:xfrm>
            <a:off x="428596" y="1643049"/>
            <a:ext cx="8029603" cy="4452951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35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It evaluate program achievement.  </a:t>
            </a:r>
          </a:p>
          <a:p>
            <a:pPr algn="l">
              <a:lnSpc>
                <a:spcPct val="135000"/>
              </a:lnSpc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Program achievement are evaluated by the following indicators:</a:t>
            </a:r>
          </a:p>
          <a:p>
            <a:pPr lvl="1" marL="742950" indent="-285750" algn="l">
              <a:lnSpc>
                <a:spcPct val="135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Effectiveness (Adequacy).</a:t>
            </a:r>
          </a:p>
          <a:p>
            <a:pPr lvl="1" marL="742950" indent="-285750" algn="l">
              <a:lnSpc>
                <a:spcPct val="135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Efficiency.</a:t>
            </a:r>
          </a:p>
          <a:p>
            <a:pPr lvl="1" marL="742950" indent="-285750" algn="l">
              <a:lnSpc>
                <a:spcPct val="135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Impact</a:t>
            </a:r>
            <a:r>
              <a:rPr i="1"/>
              <a:t>.</a:t>
            </a:r>
          </a:p>
        </p:txBody>
      </p:sp>
      <p:sp>
        <p:nvSpPr>
          <p:cNvPr id="352" name="TextBox 4"/>
          <p:cNvSpPr txBox="1"/>
          <p:nvPr/>
        </p:nvSpPr>
        <p:spPr>
          <a:xfrm>
            <a:off x="928662" y="357165"/>
            <a:ext cx="5143537" cy="557571"/>
          </a:xfrm>
          <a:prstGeom prst="rect">
            <a:avLst/>
          </a:prstGeom>
          <a:solidFill>
            <a:schemeClr val="accent2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Outcome  evaluation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Class="entr" nodeType="after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Class="entr" nodeType="after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51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itle 1"/>
          <p:cNvSpPr txBox="1"/>
          <p:nvPr>
            <p:ph type="title"/>
          </p:nvPr>
        </p:nvSpPr>
        <p:spPr>
          <a:xfrm>
            <a:off x="657251" y="285727"/>
            <a:ext cx="7772401" cy="846160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Effectiveness (Adequacy).</a:t>
            </a:r>
          </a:p>
        </p:txBody>
      </p:sp>
      <p:sp>
        <p:nvSpPr>
          <p:cNvPr id="355" name="Content Placeholder 3"/>
          <p:cNvSpPr txBox="1"/>
          <p:nvPr>
            <p:ph type="body" idx="1"/>
          </p:nvPr>
        </p:nvSpPr>
        <p:spPr>
          <a:xfrm>
            <a:off x="357158" y="1214421"/>
            <a:ext cx="8429684" cy="3786215"/>
          </a:xfrm>
          <a:prstGeom prst="rect">
            <a:avLst/>
          </a:prstGeom>
        </p:spPr>
        <p:txBody>
          <a:bodyPr/>
          <a:lstStyle>
            <a:lvl1pPr algn="l">
              <a:lnSpc>
                <a:spcPct val="150000"/>
              </a:lnSpc>
              <a:spcBef>
                <a:spcPts val="900"/>
              </a:spcBef>
              <a:defRPr b="1"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It estimates what is the proportion of objective which has been achieved by program implementation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Content Placeholder 3"/>
          <p:cNvSpPr txBox="1"/>
          <p:nvPr>
            <p:ph type="body" idx="1"/>
          </p:nvPr>
        </p:nvSpPr>
        <p:spPr>
          <a:xfrm>
            <a:off x="214282" y="214290"/>
            <a:ext cx="8643998" cy="642942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ct val="150000"/>
              </a:lnSpc>
              <a:spcBef>
                <a:spcPts val="600"/>
              </a:spcBef>
              <a:buSzTx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Ex: If the objective of a program is to reduce infant mortality from 100/1000 to 50/1000 in 5 years but at the end of the program it was only reduced to 70/1000 this means that the effectiveness is:</a:t>
            </a:r>
          </a:p>
          <a:p>
            <a:pPr marL="0" indent="0" algn="l">
              <a:spcBef>
                <a:spcPts val="600"/>
              </a:spcBef>
              <a:buSzTx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 </a:t>
            </a:r>
          </a:p>
          <a:p>
            <a:pPr marL="0" indent="0" algn="l">
              <a:spcBef>
                <a:spcPts val="600"/>
              </a:spcBef>
              <a:buSzTx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     Percentage achieved   (30)</a:t>
            </a:r>
          </a:p>
          <a:p>
            <a:pPr marL="0" indent="0" algn="l">
              <a:spcBef>
                <a:spcPts val="600"/>
              </a:spcBef>
              <a:buSzTx/>
              <a:buNone/>
              <a:defRPr b="1" baseline="30000" sz="2800">
                <a:latin typeface="Arial"/>
                <a:ea typeface="Arial"/>
                <a:cs typeface="Arial"/>
                <a:sym typeface="Arial"/>
              </a:defRPr>
            </a:pPr>
            <a:r>
              <a:t>        ____________________________________   </a:t>
            </a:r>
            <a:r>
              <a:rPr baseline="0"/>
              <a:t>X  100  =  60%</a:t>
            </a:r>
            <a:endParaRPr baseline="0"/>
          </a:p>
          <a:p>
            <a:pPr marL="0" indent="0" algn="l">
              <a:spcBef>
                <a:spcPts val="600"/>
              </a:spcBef>
              <a:buSzTx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     Percentage supposed   </a:t>
            </a:r>
            <a:r>
              <a:rPr cap="all"/>
              <a:t>(50)</a:t>
            </a:r>
            <a:endParaRPr cap="all"/>
          </a:p>
          <a:p>
            <a:pPr marL="0" indent="0" algn="l">
              <a:buSzTx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pPr>
          </a:p>
          <a:p>
            <a:pPr marL="0" indent="0" algn="l">
              <a:spcBef>
                <a:spcPts val="600"/>
              </a:spcBef>
              <a:buSzTx/>
              <a:buNone/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So I achieved only 60% of my objective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itle 1"/>
          <p:cNvSpPr txBox="1"/>
          <p:nvPr>
            <p:ph type="title"/>
          </p:nvPr>
        </p:nvSpPr>
        <p:spPr>
          <a:xfrm>
            <a:off x="683567" y="134569"/>
            <a:ext cx="3486122" cy="846160"/>
          </a:xfrm>
          <a:prstGeom prst="rect">
            <a:avLst/>
          </a:prstGeom>
        </p:spPr>
        <p:txBody>
          <a:bodyPr/>
          <a:lstStyle/>
          <a:p>
            <a:pPr lvl="1" algn="l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Efficiency.</a:t>
            </a:r>
          </a:p>
        </p:txBody>
      </p:sp>
      <p:sp>
        <p:nvSpPr>
          <p:cNvPr id="360" name="Content Placeholder 3"/>
          <p:cNvSpPr txBox="1"/>
          <p:nvPr>
            <p:ph type="body" idx="1"/>
          </p:nvPr>
        </p:nvSpPr>
        <p:spPr>
          <a:xfrm>
            <a:off x="357158" y="1071546"/>
            <a:ext cx="8101042" cy="5286412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35000"/>
              </a:lnSpc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Efficiency is an expression of the relationship between the results obtained from a program and the efforts expended (technical or financial).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It means that are the effects being achieved at an acceptable cost compared with alternative approaches to accomplishing the same objective?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itle 1"/>
          <p:cNvSpPr txBox="1"/>
          <p:nvPr>
            <p:ph type="title"/>
          </p:nvPr>
        </p:nvSpPr>
        <p:spPr>
          <a:xfrm>
            <a:off x="657252" y="71413"/>
            <a:ext cx="5343508" cy="846160"/>
          </a:xfrm>
          <a:prstGeom prst="rect">
            <a:avLst/>
          </a:prstGeom>
        </p:spPr>
        <p:txBody>
          <a:bodyPr/>
          <a:lstStyle/>
          <a:p>
            <a:pPr lvl="1" algn="l">
              <a:defRPr b="1" sz="4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Impact (outcome)</a:t>
            </a:r>
            <a:r>
              <a:rPr i="1"/>
              <a:t>.</a:t>
            </a:r>
          </a:p>
        </p:txBody>
      </p:sp>
      <p:sp>
        <p:nvSpPr>
          <p:cNvPr id="363" name="Content Placeholder 3"/>
          <p:cNvSpPr txBox="1"/>
          <p:nvPr>
            <p:ph type="body" idx="1"/>
          </p:nvPr>
        </p:nvSpPr>
        <p:spPr>
          <a:xfrm>
            <a:off x="214281" y="928669"/>
            <a:ext cx="8715438" cy="5929331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ct val="150000"/>
              </a:lnSpc>
              <a:buSzTx/>
              <a:buNone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What are the results of the program? what difference has the program made to the clients ? How many have been affected? e.g. </a:t>
            </a:r>
          </a:p>
          <a:p>
            <a:pPr lvl="1" marL="742950" indent="-285750" algn="l">
              <a:lnSpc>
                <a:spcPct val="150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How   many T.B cases cured from the diagnosed cases?</a:t>
            </a:r>
          </a:p>
          <a:p>
            <a:pPr lvl="1" marL="742950" indent="-285750" algn="l">
              <a:lnSpc>
                <a:spcPct val="150000"/>
              </a:lnSpc>
              <a:spcBef>
                <a:spcPts val="600"/>
              </a:spcBef>
              <a:defRPr b="1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How many child immunized by 3</a:t>
            </a:r>
            <a:r>
              <a:rPr baseline="30000"/>
              <a:t>rd</a:t>
            </a:r>
            <a:r>
              <a:t> dose of polio?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itle 1"/>
          <p:cNvSpPr txBox="1"/>
          <p:nvPr>
            <p:ph type="title"/>
          </p:nvPr>
        </p:nvSpPr>
        <p:spPr>
          <a:xfrm>
            <a:off x="914400" y="274638"/>
            <a:ext cx="7772400" cy="725471"/>
          </a:xfrm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Common problems in planning:</a:t>
            </a:r>
          </a:p>
        </p:txBody>
      </p:sp>
      <p:sp>
        <p:nvSpPr>
          <p:cNvPr id="366" name="Content Placeholder 2"/>
          <p:cNvSpPr txBox="1"/>
          <p:nvPr>
            <p:ph type="body" idx="1"/>
          </p:nvPr>
        </p:nvSpPr>
        <p:spPr>
          <a:xfrm>
            <a:off x="214282" y="1142983"/>
            <a:ext cx="8572560" cy="5715018"/>
          </a:xfrm>
          <a:prstGeom prst="rect">
            <a:avLst/>
          </a:prstGeo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Tx/>
              <a:buAutoNum type="arabicPeriod" startAt="1"/>
              <a:defRPr b="1" sz="2600">
                <a:latin typeface="Arial"/>
                <a:ea typeface="Arial"/>
                <a:cs typeface="Arial"/>
                <a:sym typeface="Arial"/>
              </a:defRPr>
            </a:pPr>
            <a:r>
              <a:t>The community representatives and staff are not involved in the planning process </a:t>
            </a:r>
          </a:p>
          <a:p>
            <a:pPr marL="514350" indent="-5143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Tx/>
              <a:buAutoNum type="arabicPeriod" startAt="1"/>
              <a:defRPr b="1" sz="2600">
                <a:latin typeface="Arial"/>
                <a:ea typeface="Arial"/>
                <a:cs typeface="Arial"/>
                <a:sym typeface="Arial"/>
              </a:defRPr>
            </a:pPr>
            <a:r>
              <a:t>The goals &amp; objectives, are not clearly stated</a:t>
            </a:r>
          </a:p>
          <a:p>
            <a:pPr marL="514350" indent="-5143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Tx/>
              <a:buAutoNum type="arabicPeriod" startAt="1"/>
              <a:defRPr b="1" sz="2600">
                <a:latin typeface="Arial"/>
                <a:ea typeface="Arial"/>
                <a:cs typeface="Arial"/>
                <a:sym typeface="Arial"/>
              </a:defRPr>
            </a:pPr>
            <a:r>
              <a:t>Sometimes the plan is too ambitious and the assumptions not realistic.</a:t>
            </a:r>
          </a:p>
          <a:p>
            <a:pPr marL="514350" indent="-5143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Tx/>
              <a:buAutoNum type="arabicPeriod" startAt="1"/>
              <a:defRPr b="1" sz="2600">
                <a:latin typeface="Arial"/>
                <a:ea typeface="Arial"/>
                <a:cs typeface="Arial"/>
                <a:sym typeface="Arial"/>
              </a:defRPr>
            </a:pPr>
            <a:r>
              <a:t>Planning of resources allocation is not considered.</a:t>
            </a:r>
          </a:p>
          <a:p>
            <a:pPr marL="514350" indent="-514350"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Tx/>
              <a:buAutoNum type="arabicPeriod" startAt="1"/>
              <a:defRPr b="1" sz="2600">
                <a:latin typeface="Arial"/>
                <a:ea typeface="Arial"/>
                <a:cs typeface="Arial"/>
                <a:sym typeface="Arial"/>
              </a:defRPr>
            </a:pPr>
            <a:r>
              <a:t>Long range plan facing changes and not working well.</a:t>
            </a:r>
          </a:p>
        </p:txBody>
      </p:sp>
      <p:pic>
        <p:nvPicPr>
          <p:cNvPr id="367" name="Picture 2" descr="Picture 2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86546" y="3717032"/>
            <a:ext cx="2357455" cy="22859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itle 1"/>
          <p:cNvSpPr txBox="1"/>
          <p:nvPr>
            <p:ph type="title"/>
          </p:nvPr>
        </p:nvSpPr>
        <p:spPr>
          <a:xfrm>
            <a:off x="785785" y="2571743"/>
            <a:ext cx="7772401" cy="1560539"/>
          </a:xfrm>
          <a:prstGeom prst="rect">
            <a:avLst/>
          </a:prstGeom>
        </p:spPr>
        <p:txBody>
          <a:bodyPr/>
          <a:lstStyle>
            <a:lvl1pPr>
              <a:defRPr b="1" sz="4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Applied planning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itle 1"/>
          <p:cNvSpPr txBox="1"/>
          <p:nvPr>
            <p:ph type="title"/>
          </p:nvPr>
        </p:nvSpPr>
        <p:spPr>
          <a:xfrm>
            <a:off x="657251" y="116631"/>
            <a:ext cx="7772401" cy="846160"/>
          </a:xfrm>
          <a:prstGeom prst="rect">
            <a:avLst/>
          </a:prstGeom>
        </p:spPr>
        <p:txBody>
          <a:bodyPr/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Evaluation of the Health Services</a:t>
            </a:r>
          </a:p>
        </p:txBody>
      </p:sp>
      <p:sp>
        <p:nvSpPr>
          <p:cNvPr id="372" name="Content Placeholder 3"/>
          <p:cNvSpPr txBox="1"/>
          <p:nvPr>
            <p:ph type="body" idx="1"/>
          </p:nvPr>
        </p:nvSpPr>
        <p:spPr>
          <a:xfrm>
            <a:off x="214281" y="908719"/>
            <a:ext cx="8929720" cy="5616626"/>
          </a:xfrm>
          <a:prstGeom prst="rect">
            <a:avLst/>
          </a:prstGeom>
        </p:spPr>
        <p:txBody>
          <a:bodyPr/>
          <a:lstStyle/>
          <a:p>
            <a:pPr algn="l">
              <a:buSzTx/>
              <a:buNone/>
              <a:defRPr b="1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Subjective evaluation</a:t>
            </a:r>
          </a:p>
          <a:p>
            <a:pPr marL="514350" indent="-514350" algn="l">
              <a:spcBef>
                <a:spcPts val="600"/>
              </a:spcBef>
              <a:buFontTx/>
              <a:buAutoNum type="arabicPeriod" startAt="1"/>
              <a:defRPr b="1" i="1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Quality of the services (program operation):</a:t>
            </a:r>
          </a:p>
          <a:p>
            <a:pPr algn="l"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Hours of work</a:t>
            </a:r>
          </a:p>
          <a:p>
            <a:pPr algn="l"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Steps and flow of work</a:t>
            </a:r>
          </a:p>
          <a:p>
            <a:pPr algn="l"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Time consumed for each case</a:t>
            </a:r>
          </a:p>
          <a:p>
            <a:pPr algn="l"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Waiting time</a:t>
            </a:r>
          </a:p>
          <a:p>
            <a:pPr algn="l"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Difficulties affecting the work</a:t>
            </a:r>
          </a:p>
          <a:p>
            <a:pPr algn="l"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Utilization of health services</a:t>
            </a:r>
          </a:p>
          <a:p>
            <a:pPr algn="l"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Causes of under utilization</a:t>
            </a:r>
          </a:p>
          <a:p>
            <a:pPr algn="l"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Percentage of defaulters and drop out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Content Placeholder 3"/>
          <p:cNvSpPr txBox="1"/>
          <p:nvPr>
            <p:ph type="body" idx="1"/>
          </p:nvPr>
        </p:nvSpPr>
        <p:spPr>
          <a:xfrm>
            <a:off x="214281" y="285728"/>
            <a:ext cx="8715438" cy="5929354"/>
          </a:xfrm>
          <a:prstGeom prst="rect">
            <a:avLst/>
          </a:prstGeo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600"/>
              </a:spcBef>
              <a:buFontTx/>
              <a:buAutoNum type="arabicPeriod" startAt="2"/>
              <a:defRPr b="1" i="1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Opinion and attitude of the consumers regards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Personnel of health team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Quality of examination</a:t>
            </a:r>
          </a:p>
          <a:p>
            <a:pPr algn="l">
              <a:lnSpc>
                <a:spcPct val="150000"/>
              </a:lnSpc>
              <a:buSzTx/>
              <a:buNone/>
              <a:defRPr b="1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Outcome evaluation (Vital indices) 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defRPr b="1" i="1" sz="28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Morbidity indices</a:t>
            </a:r>
            <a:r>
              <a:rPr i="0">
                <a:solidFill>
                  <a:srgbClr val="000000"/>
                </a:solidFill>
              </a:rPr>
              <a:t> (diseases, injuries and disabilities).</a:t>
            </a:r>
            <a:endParaRPr i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defRPr b="1" i="1" sz="28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Mortality indices </a:t>
            </a:r>
            <a:r>
              <a:rPr i="0">
                <a:solidFill>
                  <a:srgbClr val="000000"/>
                </a:solidFill>
              </a:rPr>
              <a:t>(Death rate, cause specific death rate and age specific death rate).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itle 1"/>
          <p:cNvSpPr txBox="1"/>
          <p:nvPr>
            <p:ph type="title"/>
          </p:nvPr>
        </p:nvSpPr>
        <p:spPr>
          <a:xfrm>
            <a:off x="642909" y="44623"/>
            <a:ext cx="7772401" cy="1143001"/>
          </a:xfrm>
          <a:prstGeom prst="rect">
            <a:avLst/>
          </a:prstGeom>
        </p:spPr>
        <p:txBody>
          <a:bodyPr/>
          <a:lstStyle>
            <a:lvl1pPr defTabSz="877823">
              <a:defRPr b="1" sz="8256"/>
            </a:lvl1pPr>
          </a:lstStyle>
          <a:p>
            <a:pPr/>
            <a:r>
              <a:t>Thank you </a:t>
            </a:r>
          </a:p>
        </p:txBody>
      </p:sp>
      <p:pic>
        <p:nvPicPr>
          <p:cNvPr id="377" name="Picture 8" descr="Picture 8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5536" y="1916832"/>
            <a:ext cx="7992889" cy="494116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" name="Picture 1" descr="Picture 1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43808" y="1196751"/>
            <a:ext cx="2808312" cy="1800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