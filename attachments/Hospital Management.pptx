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56" r:id="rId2"/>
    <p:sldId id="272" r:id="rId3"/>
    <p:sldId id="257" r:id="rId4"/>
    <p:sldId id="258" r:id="rId5"/>
    <p:sldId id="259" r:id="rId6"/>
    <p:sldId id="260" r:id="rId7"/>
    <p:sldId id="270" r:id="rId8"/>
    <p:sldId id="261" r:id="rId9"/>
    <p:sldId id="262" r:id="rId10"/>
    <p:sldId id="263" r:id="rId11"/>
    <p:sldId id="264" r:id="rId12"/>
    <p:sldId id="265" r:id="rId13"/>
    <p:sldId id="266" r:id="rId14"/>
    <p:sldId id="267" r:id="rId15"/>
    <p:sldId id="268" r:id="rId16"/>
    <p:sldId id="269" r:id="rId17"/>
    <p:sldId id="271" r:id="rId18"/>
  </p:sldIdLst>
  <p:sldSz cx="9144000" cy="6858000" type="screen4x3"/>
  <p:notesSz cx="6858000" cy="9144000"/>
  <p:defaultTextStyle>
    <a:defPPr>
      <a:defRPr lang="ar-EG"/>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74" d="100"/>
          <a:sy n="74" d="100"/>
        </p:scale>
        <p:origin x="1060" y="6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a:t>Click to edit Master title style</a:t>
            </a:r>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CE6CC233-ADA3-451B-8908-5E49B707A409}" type="datetimeFigureOut">
              <a:rPr lang="ar-EG" smtClean="0"/>
              <a:t>27/07/1445</a:t>
            </a:fld>
            <a:endParaRPr lang="ar-EG"/>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ar-EG"/>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9F1808DB-CC76-41AF-92F1-F97A88260081}" type="slidenum">
              <a:rPr lang="ar-EG" smtClean="0"/>
              <a:t>‹#›</a:t>
            </a:fld>
            <a:endParaRPr lang="ar-EG"/>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E6CC233-ADA3-451B-8908-5E49B707A409}" type="datetimeFigureOut">
              <a:rPr lang="ar-EG" smtClean="0"/>
              <a:t>27/07/1445</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9F1808DB-CC76-41AF-92F1-F97A88260081}" type="slidenum">
              <a:rPr lang="ar-EG" smtClean="0"/>
              <a:t>‹#›</a:t>
            </a:fld>
            <a:endParaRPr lang="ar-E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a:t>Click to edit Master title style</a:t>
            </a:r>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CE6CC233-ADA3-451B-8908-5E49B707A409}" type="datetimeFigureOut">
              <a:rPr lang="ar-EG" smtClean="0"/>
              <a:t>27/07/1445</a:t>
            </a:fld>
            <a:endParaRPr lang="ar-EG"/>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ar-EG"/>
          </a:p>
        </p:txBody>
      </p:sp>
      <p:sp>
        <p:nvSpPr>
          <p:cNvPr id="6" name="Slide Number Placeholder 5"/>
          <p:cNvSpPr>
            <a:spLocks noGrp="1"/>
          </p:cNvSpPr>
          <p:nvPr>
            <p:ph type="sldNum" sz="quarter" idx="12"/>
          </p:nvPr>
        </p:nvSpPr>
        <p:spPr>
          <a:xfrm>
            <a:off x="6733952" y="6555112"/>
            <a:ext cx="588336" cy="228600"/>
          </a:xfrm>
        </p:spPr>
        <p:txBody>
          <a:bodyPr/>
          <a:lstStyle/>
          <a:p>
            <a:fld id="{9F1808DB-CC76-41AF-92F1-F97A88260081}" type="slidenum">
              <a:rPr lang="ar-EG" smtClean="0"/>
              <a:t>‹#›</a:t>
            </a:fld>
            <a:endParaRPr lang="ar-EG"/>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E6CC233-ADA3-451B-8908-5E49B707A409}" type="datetimeFigureOut">
              <a:rPr lang="ar-EG" smtClean="0"/>
              <a:t>27/07/1445</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9F1808DB-CC76-41AF-92F1-F97A88260081}" type="slidenum">
              <a:rPr lang="ar-EG" smtClean="0"/>
              <a:t>‹#›</a:t>
            </a:fld>
            <a:endParaRPr lang="ar-E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CE6CC233-ADA3-451B-8908-5E49B707A409}" type="datetimeFigureOut">
              <a:rPr lang="ar-EG" smtClean="0"/>
              <a:t>27/07/1445</a:t>
            </a:fld>
            <a:endParaRPr lang="ar-EG"/>
          </a:p>
        </p:txBody>
      </p:sp>
      <p:sp>
        <p:nvSpPr>
          <p:cNvPr id="8" name="Footer Placeholder 7"/>
          <p:cNvSpPr>
            <a:spLocks noGrp="1"/>
          </p:cNvSpPr>
          <p:nvPr>
            <p:ph type="ftr" sz="quarter" idx="11"/>
          </p:nvPr>
        </p:nvSpPr>
        <p:spPr/>
        <p:txBody>
          <a:bodyPr/>
          <a:lstStyle/>
          <a:p>
            <a:endParaRPr lang="ar-EG"/>
          </a:p>
        </p:txBody>
      </p:sp>
      <p:sp>
        <p:nvSpPr>
          <p:cNvPr id="9" name="Slide Number Placeholder 8"/>
          <p:cNvSpPr>
            <a:spLocks noGrp="1"/>
          </p:cNvSpPr>
          <p:nvPr>
            <p:ph type="sldNum" sz="quarter" idx="12"/>
          </p:nvPr>
        </p:nvSpPr>
        <p:spPr/>
        <p:txBody>
          <a:bodyPr/>
          <a:lstStyle/>
          <a:p>
            <a:fld id="{9F1808DB-CC76-41AF-92F1-F97A88260081}" type="slidenum">
              <a:rPr lang="ar-EG" smtClean="0"/>
              <a:t>‹#›</a:t>
            </a:fld>
            <a:endParaRPr lang="ar-E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CE6CC233-ADA3-451B-8908-5E49B707A409}" type="datetimeFigureOut">
              <a:rPr lang="ar-EG" smtClean="0"/>
              <a:t>27/07/1445</a:t>
            </a:fld>
            <a:endParaRPr lang="ar-EG"/>
          </a:p>
        </p:txBody>
      </p:sp>
      <p:sp>
        <p:nvSpPr>
          <p:cNvPr id="4" name="Footer Placeholder 3"/>
          <p:cNvSpPr>
            <a:spLocks noGrp="1"/>
          </p:cNvSpPr>
          <p:nvPr>
            <p:ph type="ftr" sz="quarter" idx="11"/>
          </p:nvPr>
        </p:nvSpPr>
        <p:spPr/>
        <p:txBody>
          <a:bodyPr/>
          <a:lstStyle/>
          <a:p>
            <a:endParaRPr lang="ar-EG"/>
          </a:p>
        </p:txBody>
      </p:sp>
      <p:sp>
        <p:nvSpPr>
          <p:cNvPr id="5" name="Slide Number Placeholder 4"/>
          <p:cNvSpPr>
            <a:spLocks noGrp="1"/>
          </p:cNvSpPr>
          <p:nvPr>
            <p:ph type="sldNum" sz="quarter" idx="12"/>
          </p:nvPr>
        </p:nvSpPr>
        <p:spPr/>
        <p:txBody>
          <a:bodyPr/>
          <a:lstStyle/>
          <a:p>
            <a:fld id="{9F1808DB-CC76-41AF-92F1-F97A88260081}" type="slidenum">
              <a:rPr lang="ar-EG" smtClean="0"/>
              <a:t>‹#›</a:t>
            </a:fld>
            <a:endParaRPr lang="ar-E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CE6CC233-ADA3-451B-8908-5E49B707A409}" type="datetimeFigureOut">
              <a:rPr lang="ar-EG" smtClean="0"/>
              <a:t>27/07/1445</a:t>
            </a:fld>
            <a:endParaRPr lang="ar-EG"/>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ar-EG"/>
          </a:p>
        </p:txBody>
      </p:sp>
      <p:sp>
        <p:nvSpPr>
          <p:cNvPr id="4" name="Slide Number Placeholder 3"/>
          <p:cNvSpPr>
            <a:spLocks noGrp="1"/>
          </p:cNvSpPr>
          <p:nvPr>
            <p:ph type="sldNum" sz="quarter" idx="12"/>
          </p:nvPr>
        </p:nvSpPr>
        <p:spPr/>
        <p:txBody>
          <a:bodyPr/>
          <a:lstStyle/>
          <a:p>
            <a:fld id="{9F1808DB-CC76-41AF-92F1-F97A88260081}" type="slidenum">
              <a:rPr lang="ar-EG" smtClean="0"/>
              <a:t>‹#›</a:t>
            </a:fld>
            <a:endParaRPr lang="ar-E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a:t>Click to edit Master title style</a:t>
            </a:r>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E6CC233-ADA3-451B-8908-5E49B707A409}" type="datetimeFigureOut">
              <a:rPr lang="ar-EG" smtClean="0"/>
              <a:t>27/07/1445</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9F1808DB-CC76-41AF-92F1-F97A88260081}" type="slidenum">
              <a:rPr lang="ar-EG" smtClean="0"/>
              <a:t>‹#›</a:t>
            </a:fld>
            <a:endParaRPr lang="ar-E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a:t>Click to edit Master text styles</a:t>
            </a:r>
          </a:p>
        </p:txBody>
      </p:sp>
      <p:sp>
        <p:nvSpPr>
          <p:cNvPr id="5" name="Date Placeholder 4"/>
          <p:cNvSpPr>
            <a:spLocks noGrp="1"/>
          </p:cNvSpPr>
          <p:nvPr>
            <p:ph type="dt" sz="half" idx="10"/>
          </p:nvPr>
        </p:nvSpPr>
        <p:spPr/>
        <p:txBody>
          <a:bodyPr/>
          <a:lstStyle/>
          <a:p>
            <a:fld id="{CE6CC233-ADA3-451B-8908-5E49B707A409}" type="datetimeFigureOut">
              <a:rPr lang="ar-EG" smtClean="0"/>
              <a:t>27/07/1445</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9F1808DB-CC76-41AF-92F1-F97A88260081}" type="slidenum">
              <a:rPr lang="ar-EG" smtClean="0"/>
              <a:t>‹#›</a:t>
            </a:fld>
            <a:endParaRPr lang="ar-EG"/>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E6CC233-ADA3-451B-8908-5E49B707A409}" type="datetimeFigureOut">
              <a:rPr lang="ar-EG" smtClean="0"/>
              <a:t>27/07/1445</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9F1808DB-CC76-41AF-92F1-F97A88260081}" type="slidenum">
              <a:rPr lang="ar-EG" smtClean="0"/>
              <a:t>‹#›</a:t>
            </a:fld>
            <a:endParaRPr lang="ar-E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p>
            <a:r>
              <a:rPr kumimoji="0"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p>
            <a:fld id="{CE6CC233-ADA3-451B-8908-5E49B707A409}" type="datetimeFigureOut">
              <a:rPr lang="ar-EG" smtClean="0"/>
              <a:t>27/07/1445</a:t>
            </a:fld>
            <a:endParaRPr lang="ar-EG"/>
          </a:p>
        </p:txBody>
      </p:sp>
      <p:sp>
        <p:nvSpPr>
          <p:cNvPr id="5" name="Footer Placeholder 4"/>
          <p:cNvSpPr>
            <a:spLocks noGrp="1"/>
          </p:cNvSpPr>
          <p:nvPr>
            <p:ph type="ftr" sz="quarter" idx="11"/>
          </p:nvPr>
        </p:nvSpPr>
        <p:spPr>
          <a:xfrm>
            <a:off x="457200" y="6556248"/>
            <a:ext cx="3657600" cy="228600"/>
          </a:xfrm>
        </p:spPr>
        <p:txBody>
          <a:bodyPr/>
          <a:lstStyle/>
          <a:p>
            <a:endParaRPr lang="ar-EG"/>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9F1808DB-CC76-41AF-92F1-F97A88260081}" type="slidenum">
              <a:rPr lang="ar-EG" smtClean="0"/>
              <a:t>‹#›</a:t>
            </a:fld>
            <a:endParaRPr lang="ar-E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en-US"/>
              <a:t>Click to edit Master title style</a:t>
            </a:r>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CE6CC233-ADA3-451B-8908-5E49B707A409}" type="datetimeFigureOut">
              <a:rPr lang="ar-EG" smtClean="0"/>
              <a:t>27/07/1445</a:t>
            </a:fld>
            <a:endParaRPr lang="ar-EG"/>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ar-EG"/>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9F1808DB-CC76-41AF-92F1-F97A88260081}" type="slidenum">
              <a:rPr lang="ar-EG" smtClean="0"/>
              <a:t>‹#›</a:t>
            </a:fld>
            <a:endParaRPr lang="ar-EG"/>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1"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r" rtl="1"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r" rtl="1"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r" rtl="1"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r" rtl="1"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r" rtl="1"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r" rtl="1"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r" rtl="1"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r" rtl="1"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r" rtl="1"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66868" y="533400"/>
            <a:ext cx="5105400" cy="2538410"/>
          </a:xfrm>
        </p:spPr>
        <p:txBody>
          <a:bodyPr/>
          <a:lstStyle/>
          <a:p>
            <a:pPr algn="ctr"/>
            <a:r>
              <a:rPr lang="en-US" sz="5400" dirty="0">
                <a:solidFill>
                  <a:schemeClr val="bg1"/>
                </a:solidFill>
              </a:rPr>
              <a:t>Hospital Management</a:t>
            </a:r>
            <a:endParaRPr lang="ar-EG" sz="5400" dirty="0">
              <a:solidFill>
                <a:schemeClr val="bg1"/>
              </a:solidFill>
            </a:endParaRPr>
          </a:p>
        </p:txBody>
      </p:sp>
      <p:sp>
        <p:nvSpPr>
          <p:cNvPr id="3" name="Subtitle 2"/>
          <p:cNvSpPr>
            <a:spLocks noGrp="1"/>
          </p:cNvSpPr>
          <p:nvPr>
            <p:ph type="subTitle" idx="1"/>
          </p:nvPr>
        </p:nvSpPr>
        <p:spPr/>
        <p:txBody>
          <a:bodyPr>
            <a:noAutofit/>
          </a:bodyPr>
          <a:lstStyle/>
          <a:p>
            <a:pPr algn="ctr"/>
            <a:r>
              <a:rPr lang="en-US" sz="2800" b="1" dirty="0"/>
              <a:t>Dr. </a:t>
            </a:r>
            <a:r>
              <a:rPr lang="en-US" sz="2800" b="1" dirty="0" err="1"/>
              <a:t>Hend</a:t>
            </a:r>
            <a:r>
              <a:rPr lang="en-US" sz="2800" b="1" dirty="0"/>
              <a:t> </a:t>
            </a:r>
            <a:r>
              <a:rPr lang="en-US" sz="2800" b="1" dirty="0" err="1"/>
              <a:t>Gamal</a:t>
            </a:r>
            <a:endParaRPr lang="en-US" sz="2800" b="1" dirty="0"/>
          </a:p>
          <a:p>
            <a:pPr algn="ctr"/>
            <a:r>
              <a:rPr lang="en-US" sz="2800" b="1" dirty="0"/>
              <a:t>Assistant Professor</a:t>
            </a:r>
          </a:p>
          <a:p>
            <a:pPr algn="ctr"/>
            <a:r>
              <a:rPr lang="en-US" sz="2800" b="1" dirty="0"/>
              <a:t>Internal Medicine</a:t>
            </a:r>
            <a:endParaRPr lang="ar-EG" sz="2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96E4C-0A0B-406A-A59E-D290C0137CEE}"/>
              </a:ext>
            </a:extLst>
          </p:cNvPr>
          <p:cNvSpPr>
            <a:spLocks noGrp="1"/>
          </p:cNvSpPr>
          <p:nvPr>
            <p:ph type="title"/>
          </p:nvPr>
        </p:nvSpPr>
        <p:spPr/>
        <p:txBody>
          <a:bodyPr/>
          <a:lstStyle/>
          <a:p>
            <a:r>
              <a:rPr lang="en-US" dirty="0"/>
              <a:t>objectives</a:t>
            </a:r>
            <a:endParaRPr lang="en-MY" dirty="0"/>
          </a:p>
        </p:txBody>
      </p:sp>
      <p:sp>
        <p:nvSpPr>
          <p:cNvPr id="3" name="Content Placeholder 2">
            <a:extLst>
              <a:ext uri="{FF2B5EF4-FFF2-40B4-BE49-F238E27FC236}">
                <a16:creationId xmlns:a16="http://schemas.microsoft.com/office/drawing/2014/main" id="{15BE96AF-06FE-462E-BED2-16D63D0EDD0B}"/>
              </a:ext>
            </a:extLst>
          </p:cNvPr>
          <p:cNvSpPr>
            <a:spLocks noGrp="1"/>
          </p:cNvSpPr>
          <p:nvPr>
            <p:ph idx="1"/>
          </p:nvPr>
        </p:nvSpPr>
        <p:spPr/>
        <p:txBody>
          <a:bodyPr/>
          <a:lstStyle/>
          <a:p>
            <a:pPr algn="l" rtl="0"/>
            <a:r>
              <a:rPr lang="en-US" dirty="0"/>
              <a:t>Recognize healthcare management and managers,</a:t>
            </a:r>
            <a:endParaRPr lang="en-MY" dirty="0"/>
          </a:p>
          <a:p>
            <a:pPr algn="l" rtl="0"/>
            <a:r>
              <a:rPr lang="en-US" dirty="0"/>
              <a:t>-Summarize the roles, responsibilities, and challenges that come with the position.</a:t>
            </a:r>
            <a:endParaRPr lang="en-MY" dirty="0"/>
          </a:p>
          <a:p>
            <a:pPr algn="l" rtl="0"/>
            <a:r>
              <a:rPr lang="en-US" dirty="0"/>
              <a:t>-Discover the broad divisions of the healthcare system,</a:t>
            </a:r>
            <a:endParaRPr lang="en-MY" dirty="0"/>
          </a:p>
          <a:p>
            <a:pPr algn="l" rtl="0"/>
            <a:r>
              <a:rPr lang="en-US" dirty="0"/>
              <a:t>-Recognize the pharmaceutical, long-term care, mental healthcare, integrative medicine, and safety net services industries.</a:t>
            </a:r>
            <a:endParaRPr lang="en-MY" dirty="0"/>
          </a:p>
          <a:p>
            <a:pPr algn="l"/>
            <a:r>
              <a:rPr lang="en-US" dirty="0"/>
              <a:t>-Identify what a health care delivery system is, </a:t>
            </a:r>
            <a:endParaRPr lang="en-MY" dirty="0"/>
          </a:p>
        </p:txBody>
      </p:sp>
    </p:spTree>
    <p:extLst>
      <p:ext uri="{BB962C8B-B14F-4D97-AF65-F5344CB8AC3E}">
        <p14:creationId xmlns:p14="http://schemas.microsoft.com/office/powerpoint/2010/main" val="2790044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ar-EG" dirty="0"/>
              <a:t>؟؟</a:t>
            </a:r>
            <a:r>
              <a:rPr lang="en-US" dirty="0"/>
              <a:t>What is Hospital Management</a:t>
            </a:r>
            <a:endParaRPr lang="ar-EG" dirty="0"/>
          </a:p>
        </p:txBody>
      </p:sp>
      <p:sp>
        <p:nvSpPr>
          <p:cNvPr id="3" name="Content Placeholder 2"/>
          <p:cNvSpPr>
            <a:spLocks noGrp="1"/>
          </p:cNvSpPr>
          <p:nvPr>
            <p:ph idx="1"/>
          </p:nvPr>
        </p:nvSpPr>
        <p:spPr/>
        <p:txBody>
          <a:bodyPr/>
          <a:lstStyle/>
          <a:p>
            <a:pPr algn="l"/>
            <a:r>
              <a:rPr lang="en-US" dirty="0"/>
              <a:t>Hospital Management is the process where healthcare providers effectively and efficiently administer everything from patient registration to appointment scheduling, document management, consultation management, lab management, drug safety, report generation, staff management, outpatient management, and so much more.</a:t>
            </a:r>
            <a:endParaRPr lang="ar-EG"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EG"/>
          </a:p>
        </p:txBody>
      </p:sp>
      <p:sp>
        <p:nvSpPr>
          <p:cNvPr id="3" name="Content Placeholder 2"/>
          <p:cNvSpPr>
            <a:spLocks noGrp="1"/>
          </p:cNvSpPr>
          <p:nvPr>
            <p:ph idx="1"/>
          </p:nvPr>
        </p:nvSpPr>
        <p:spPr/>
        <p:txBody>
          <a:bodyPr/>
          <a:lstStyle/>
          <a:p>
            <a:pPr algn="l"/>
            <a:r>
              <a:rPr lang="en-US" dirty="0"/>
              <a:t>Good Hospital Management starts by ensuring anytime availability, anytime accessibility and high quality healthcare to the patients.</a:t>
            </a:r>
          </a:p>
          <a:p>
            <a:pPr algn="l"/>
            <a:endParaRPr lang="en-US" dirty="0"/>
          </a:p>
          <a:p>
            <a:pPr algn="l"/>
            <a:r>
              <a:rPr lang="en-US" dirty="0"/>
              <a:t>Hospitals and clinics strive for excellent care but it can be difficult to achieve all of the above without the proper procedures and systems in place.</a:t>
            </a:r>
            <a:endParaRPr lang="ar-EG"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EG"/>
          </a:p>
        </p:txBody>
      </p:sp>
      <p:sp>
        <p:nvSpPr>
          <p:cNvPr id="3" name="Content Placeholder 2"/>
          <p:cNvSpPr>
            <a:spLocks noGrp="1"/>
          </p:cNvSpPr>
          <p:nvPr>
            <p:ph idx="1"/>
          </p:nvPr>
        </p:nvSpPr>
        <p:spPr/>
        <p:txBody>
          <a:bodyPr/>
          <a:lstStyle/>
          <a:p>
            <a:pPr algn="l"/>
            <a:r>
              <a:rPr lang="en-US" dirty="0"/>
              <a:t>Hospitals and clinics are complex and have different departments, specialties, schedules, teams, types of data, and so much to manage.</a:t>
            </a:r>
          </a:p>
          <a:p>
            <a:pPr algn="l"/>
            <a:endParaRPr lang="en-US" dirty="0"/>
          </a:p>
          <a:p>
            <a:pPr algn="l"/>
            <a:r>
              <a:rPr lang="en-US" dirty="0"/>
              <a:t>Throw in a growing desire for patients to want more control over their data, scheduling, and access to records, and you can quickly see how hospital management isn’t as easy as it sounds!</a:t>
            </a:r>
            <a:endParaRPr lang="ar-EG"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EG"/>
          </a:p>
        </p:txBody>
      </p:sp>
      <p:sp>
        <p:nvSpPr>
          <p:cNvPr id="3" name="Content Placeholder 2"/>
          <p:cNvSpPr>
            <a:spLocks noGrp="1"/>
          </p:cNvSpPr>
          <p:nvPr>
            <p:ph idx="1"/>
          </p:nvPr>
        </p:nvSpPr>
        <p:spPr/>
        <p:txBody>
          <a:bodyPr/>
          <a:lstStyle/>
          <a:p>
            <a:pPr algn="l"/>
            <a:r>
              <a:rPr lang="en-US" dirty="0"/>
              <a:t>Effective management is the key to success for any business and the same can be said for the management of hospital systems. Here we explore</a:t>
            </a:r>
            <a:endParaRPr lang="ar-EG"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EG" dirty="0"/>
          </a:p>
        </p:txBody>
      </p:sp>
      <p:sp>
        <p:nvSpPr>
          <p:cNvPr id="3" name="Content Placeholder 2"/>
          <p:cNvSpPr>
            <a:spLocks noGrp="1"/>
          </p:cNvSpPr>
          <p:nvPr>
            <p:ph idx="1"/>
          </p:nvPr>
        </p:nvSpPr>
        <p:spPr/>
        <p:txBody>
          <a:bodyPr>
            <a:normAutofit/>
          </a:bodyPr>
          <a:lstStyle/>
          <a:p>
            <a:pPr algn="ctr"/>
            <a:r>
              <a:rPr lang="en-US" sz="4000" b="1" dirty="0"/>
              <a:t>The Top Nine Management Tips To Running Your Hospital Successfully.</a:t>
            </a:r>
            <a:endParaRPr lang="ar-EG" sz="40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1) Training of Hospital Staff</a:t>
            </a:r>
            <a:endParaRPr lang="ar-EG" dirty="0"/>
          </a:p>
        </p:txBody>
      </p:sp>
      <p:sp>
        <p:nvSpPr>
          <p:cNvPr id="3" name="Content Placeholder 2"/>
          <p:cNvSpPr>
            <a:spLocks noGrp="1"/>
          </p:cNvSpPr>
          <p:nvPr>
            <p:ph idx="1"/>
          </p:nvPr>
        </p:nvSpPr>
        <p:spPr/>
        <p:txBody>
          <a:bodyPr/>
          <a:lstStyle/>
          <a:p>
            <a:pPr algn="l"/>
            <a:r>
              <a:rPr lang="en-US" dirty="0"/>
              <a:t>New staff introduced to the hospital must be competent hospital managers. </a:t>
            </a:r>
          </a:p>
          <a:p>
            <a:pPr algn="l"/>
            <a:endParaRPr lang="en-US" dirty="0"/>
          </a:p>
          <a:p>
            <a:pPr algn="l"/>
            <a:r>
              <a:rPr lang="en-US" dirty="0"/>
              <a:t>Hospital staff should be encouraged to participate in ongoing training to enhance their skills. </a:t>
            </a:r>
          </a:p>
          <a:p>
            <a:pPr algn="l"/>
            <a:endParaRPr lang="en-US" dirty="0"/>
          </a:p>
          <a:p>
            <a:pPr algn="l"/>
            <a:r>
              <a:rPr lang="en-US" dirty="0"/>
              <a:t>Current staff should, therefore, be trained in both management and technology, with training also being offered in-house.</a:t>
            </a:r>
            <a:endParaRPr lang="ar-EG"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Use Innovative Technology</a:t>
            </a:r>
            <a:endParaRPr lang="ar-EG" dirty="0"/>
          </a:p>
        </p:txBody>
      </p:sp>
      <p:sp>
        <p:nvSpPr>
          <p:cNvPr id="3" name="Content Placeholder 2"/>
          <p:cNvSpPr>
            <a:spLocks noGrp="1"/>
          </p:cNvSpPr>
          <p:nvPr>
            <p:ph idx="1"/>
          </p:nvPr>
        </p:nvSpPr>
        <p:spPr/>
        <p:txBody>
          <a:bodyPr/>
          <a:lstStyle/>
          <a:p>
            <a:pPr algn="l"/>
            <a:r>
              <a:rPr lang="en-US" dirty="0"/>
              <a:t>Automation of hospital systems can be beneficial to everybody involved. </a:t>
            </a:r>
          </a:p>
          <a:p>
            <a:pPr algn="l"/>
            <a:endParaRPr lang="en-US" dirty="0"/>
          </a:p>
          <a:p>
            <a:pPr algn="l"/>
            <a:r>
              <a:rPr lang="en-US" dirty="0"/>
              <a:t>For example, the use of DICOM or cloud image storage can reduce the number of staff required and eventually lead to the more effective management of these areas of the hospital. </a:t>
            </a:r>
            <a:endParaRPr lang="ar-EG"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Accountability</a:t>
            </a:r>
            <a:endParaRPr lang="ar-EG" dirty="0"/>
          </a:p>
        </p:txBody>
      </p:sp>
      <p:sp>
        <p:nvSpPr>
          <p:cNvPr id="3" name="Content Placeholder 2"/>
          <p:cNvSpPr>
            <a:spLocks noGrp="1"/>
          </p:cNvSpPr>
          <p:nvPr>
            <p:ph idx="1"/>
          </p:nvPr>
        </p:nvSpPr>
        <p:spPr/>
        <p:txBody>
          <a:bodyPr/>
          <a:lstStyle/>
          <a:p>
            <a:pPr algn="l"/>
            <a:r>
              <a:rPr lang="en-US" dirty="0"/>
              <a:t>Staff should be accountable for their daily, weekly and monthly tasks. </a:t>
            </a:r>
          </a:p>
          <a:p>
            <a:pPr algn="l"/>
            <a:endParaRPr lang="en-US" dirty="0"/>
          </a:p>
          <a:p>
            <a:pPr algn="l"/>
            <a:r>
              <a:rPr lang="en-US" dirty="0"/>
              <a:t>If every hospital staff member adheres to this and is answerable for their assigned tasks, including senior doctors, this produces better hospital management.</a:t>
            </a:r>
            <a:endParaRPr lang="ar-EG"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Establish a Managed Care System</a:t>
            </a:r>
            <a:endParaRPr lang="ar-EG" dirty="0"/>
          </a:p>
        </p:txBody>
      </p:sp>
      <p:sp>
        <p:nvSpPr>
          <p:cNvPr id="3" name="Content Placeholder 2"/>
          <p:cNvSpPr>
            <a:spLocks noGrp="1"/>
          </p:cNvSpPr>
          <p:nvPr>
            <p:ph idx="1"/>
          </p:nvPr>
        </p:nvSpPr>
        <p:spPr/>
        <p:txBody>
          <a:bodyPr/>
          <a:lstStyle/>
          <a:p>
            <a:pPr algn="l"/>
            <a:r>
              <a:rPr lang="en-US" dirty="0"/>
              <a:t>A managed care system should already be implemented in hospitals, but its improvement can lead to the more efficient running of daily tasks.</a:t>
            </a:r>
          </a:p>
          <a:p>
            <a:pPr algn="l"/>
            <a:endParaRPr lang="en-US" dirty="0"/>
          </a:p>
          <a:p>
            <a:pPr algn="l"/>
            <a:r>
              <a:rPr lang="en-US" dirty="0"/>
              <a:t> This includes punctuality of physicians, no delays for operations and well-managed stock for in-demand medicines. </a:t>
            </a:r>
            <a:endParaRPr lang="ar-EG"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5) Develop an Effective Communication Strategy</a:t>
            </a:r>
            <a:endParaRPr lang="ar-EG" dirty="0"/>
          </a:p>
        </p:txBody>
      </p:sp>
      <p:sp>
        <p:nvSpPr>
          <p:cNvPr id="3" name="Content Placeholder 2"/>
          <p:cNvSpPr>
            <a:spLocks noGrp="1"/>
          </p:cNvSpPr>
          <p:nvPr>
            <p:ph idx="1"/>
          </p:nvPr>
        </p:nvSpPr>
        <p:spPr/>
        <p:txBody>
          <a:bodyPr/>
          <a:lstStyle/>
          <a:p>
            <a:pPr algn="l"/>
            <a:r>
              <a:rPr lang="en-US" dirty="0"/>
              <a:t>Communication can be a challenging area for hospitals, however, not addressing a lack of communication can create poor management. </a:t>
            </a:r>
          </a:p>
          <a:p>
            <a:pPr algn="l"/>
            <a:endParaRPr lang="en-US" dirty="0"/>
          </a:p>
          <a:p>
            <a:pPr algn="l"/>
            <a:r>
              <a:rPr lang="en-US" dirty="0"/>
              <a:t>Communication channels should be customized according to the needs of the hospital. </a:t>
            </a:r>
            <a:endParaRPr lang="ar-EG"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6) Identify Vulnerable Areas</a:t>
            </a:r>
            <a:endParaRPr lang="ar-EG" dirty="0"/>
          </a:p>
        </p:txBody>
      </p:sp>
      <p:sp>
        <p:nvSpPr>
          <p:cNvPr id="3" name="Content Placeholder 2"/>
          <p:cNvSpPr>
            <a:spLocks noGrp="1"/>
          </p:cNvSpPr>
          <p:nvPr>
            <p:ph idx="1"/>
          </p:nvPr>
        </p:nvSpPr>
        <p:spPr/>
        <p:txBody>
          <a:bodyPr/>
          <a:lstStyle/>
          <a:p>
            <a:pPr algn="l"/>
            <a:r>
              <a:rPr lang="en-US" dirty="0"/>
              <a:t>It is important to know where your hospital has been failing. </a:t>
            </a:r>
          </a:p>
          <a:p>
            <a:pPr algn="l"/>
            <a:endParaRPr lang="en-US" dirty="0"/>
          </a:p>
          <a:p>
            <a:pPr algn="l"/>
            <a:r>
              <a:rPr lang="en-US" dirty="0"/>
              <a:t>It is only by identifying these areas that you can then focus on the areas that are vulnerable and work to strengthen them. </a:t>
            </a:r>
          </a:p>
          <a:p>
            <a:pPr algn="l"/>
            <a:endParaRPr lang="en-US" dirty="0"/>
          </a:p>
          <a:p>
            <a:pPr algn="l"/>
            <a:r>
              <a:rPr lang="en-US" dirty="0"/>
              <a:t>The most qualified staff can then be applied to these areas to ensure effective management. </a:t>
            </a:r>
            <a:endParaRPr lang="ar-EG"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 Keep Contact Details Updated</a:t>
            </a:r>
            <a:endParaRPr lang="ar-EG" dirty="0"/>
          </a:p>
        </p:txBody>
      </p:sp>
      <p:sp>
        <p:nvSpPr>
          <p:cNvPr id="3" name="Content Placeholder 2"/>
          <p:cNvSpPr>
            <a:spLocks noGrp="1"/>
          </p:cNvSpPr>
          <p:nvPr>
            <p:ph idx="1"/>
          </p:nvPr>
        </p:nvSpPr>
        <p:spPr/>
        <p:txBody>
          <a:bodyPr/>
          <a:lstStyle/>
          <a:p>
            <a:pPr algn="l"/>
            <a:r>
              <a:rPr lang="en-US" dirty="0"/>
              <a:t>The information of hospital staff can change without the hospital knowing. </a:t>
            </a:r>
          </a:p>
          <a:p>
            <a:pPr algn="l"/>
            <a:endParaRPr lang="en-US" dirty="0"/>
          </a:p>
          <a:p>
            <a:pPr algn="l"/>
            <a:r>
              <a:rPr lang="en-US" dirty="0"/>
              <a:t>Therefore, it is important to update the staff’s contact details as out-dated information can affect the patient and demonstrates inefficient management. </a:t>
            </a:r>
            <a:endParaRPr lang="ar-EG"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8) Oversee Important Departments</a:t>
            </a:r>
            <a:endParaRPr lang="ar-EG" dirty="0"/>
          </a:p>
        </p:txBody>
      </p:sp>
      <p:sp>
        <p:nvSpPr>
          <p:cNvPr id="3" name="Content Placeholder 2"/>
          <p:cNvSpPr>
            <a:spLocks noGrp="1"/>
          </p:cNvSpPr>
          <p:nvPr>
            <p:ph idx="1"/>
          </p:nvPr>
        </p:nvSpPr>
        <p:spPr/>
        <p:txBody>
          <a:bodyPr/>
          <a:lstStyle/>
          <a:p>
            <a:pPr algn="l"/>
            <a:r>
              <a:rPr lang="en-US" dirty="0"/>
              <a:t>Departments such as the emergency department and admissions may require more attention in your hospital. </a:t>
            </a:r>
          </a:p>
          <a:p>
            <a:pPr algn="l"/>
            <a:endParaRPr lang="en-US" dirty="0"/>
          </a:p>
          <a:p>
            <a:pPr algn="l"/>
            <a:r>
              <a:rPr lang="en-US" dirty="0"/>
              <a:t>Good hospital management is making sure that the best people and systems are operating efficiently in these areas.</a:t>
            </a:r>
            <a:endParaRPr lang="ar-EG"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 Remain Patient-</a:t>
            </a:r>
            <a:r>
              <a:rPr lang="en-US" dirty="0" err="1"/>
              <a:t>Centred</a:t>
            </a:r>
            <a:endParaRPr lang="ar-EG" dirty="0"/>
          </a:p>
        </p:txBody>
      </p:sp>
      <p:sp>
        <p:nvSpPr>
          <p:cNvPr id="3" name="Content Placeholder 2"/>
          <p:cNvSpPr>
            <a:spLocks noGrp="1"/>
          </p:cNvSpPr>
          <p:nvPr>
            <p:ph idx="1"/>
          </p:nvPr>
        </p:nvSpPr>
        <p:spPr/>
        <p:txBody>
          <a:bodyPr/>
          <a:lstStyle/>
          <a:p>
            <a:pPr algn="l"/>
            <a:r>
              <a:rPr lang="en-US" dirty="0"/>
              <a:t>Regardless of any innovative actions you plan to initiate in your hospital, the main priority should always be the patient. </a:t>
            </a:r>
          </a:p>
          <a:p>
            <a:pPr algn="l"/>
            <a:endParaRPr lang="en-US" dirty="0"/>
          </a:p>
          <a:p>
            <a:pPr algn="l"/>
            <a:r>
              <a:rPr lang="en-US" dirty="0"/>
              <a:t>Communicative staff or the latest technology will not matter if the patient is suffering. </a:t>
            </a:r>
          </a:p>
          <a:p>
            <a:pPr algn="l"/>
            <a:endParaRPr lang="en-US" dirty="0"/>
          </a:p>
          <a:p>
            <a:pPr algn="l"/>
            <a:r>
              <a:rPr lang="en-US" dirty="0"/>
              <a:t>Therefore, effective hospital management lies in remaining patient-</a:t>
            </a:r>
            <a:r>
              <a:rPr lang="en-US" dirty="0" err="1"/>
              <a:t>centred</a:t>
            </a:r>
            <a:r>
              <a:rPr lang="en-US" dirty="0"/>
              <a:t>.</a:t>
            </a:r>
            <a:endParaRPr lang="ar-EG"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EG"/>
          </a:p>
        </p:txBody>
      </p:sp>
      <p:pic>
        <p:nvPicPr>
          <p:cNvPr id="4" name="Content Placeholder 3" descr="486369622.jpg"/>
          <p:cNvPicPr>
            <a:picLocks noGrp="1" noChangeAspect="1"/>
          </p:cNvPicPr>
          <p:nvPr>
            <p:ph idx="1"/>
          </p:nvPr>
        </p:nvPicPr>
        <p:blipFill>
          <a:blip r:embed="rId2"/>
          <a:stretch>
            <a:fillRect/>
          </a:stretch>
        </p:blipFill>
        <p:spPr>
          <a:xfrm>
            <a:off x="0" y="0"/>
            <a:ext cx="8143900" cy="6572272"/>
          </a:xfr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47</TotalTime>
  <Words>695</Words>
  <Application>Microsoft Office PowerPoint</Application>
  <PresentationFormat>On-screen Show (4:3)</PresentationFormat>
  <Paragraphs>62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Trebuchet MS</vt:lpstr>
      <vt:lpstr>Wingdings</vt:lpstr>
      <vt:lpstr>Wingdings 2</vt:lpstr>
      <vt:lpstr>Opulent</vt:lpstr>
      <vt:lpstr>Hospital Management</vt:lpstr>
      <vt:lpstr>objectives</vt:lpstr>
      <vt:lpstr>؟؟What is Hospital Management</vt:lpstr>
      <vt:lpstr>PowerPoint Presentation</vt:lpstr>
      <vt:lpstr>PowerPoint Presentation</vt:lpstr>
      <vt:lpstr>PowerPoint Presentation</vt:lpstr>
      <vt:lpstr>PowerPoint Presentation</vt:lpstr>
      <vt:lpstr>1) Training of Hospital Staff</vt:lpstr>
      <vt:lpstr>2) Use Innovative Technology</vt:lpstr>
      <vt:lpstr>3) Accountability</vt:lpstr>
      <vt:lpstr>4) Establish a Managed Care System</vt:lpstr>
      <vt:lpstr>5) Develop an Effective Communication Strategy</vt:lpstr>
      <vt:lpstr>6) Identify Vulnerable Areas</vt:lpstr>
      <vt:lpstr>7) Keep Contact Details Updated</vt:lpstr>
      <vt:lpstr>8) Oversee Important Departments</vt:lpstr>
      <vt:lpstr>9) Remain Patient-Centred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Management</dc:title>
  <dc:creator>GOGO</dc:creator>
  <cp:lastModifiedBy>Ashraf Abdelaziz</cp:lastModifiedBy>
  <cp:revision>20</cp:revision>
  <dcterms:created xsi:type="dcterms:W3CDTF">2021-12-29T09:03:44Z</dcterms:created>
  <dcterms:modified xsi:type="dcterms:W3CDTF">2024-02-06T21:26:41Z</dcterms:modified>
</cp:coreProperties>
</file>