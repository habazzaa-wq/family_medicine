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63" r:id="rId5"/>
    <p:sldId id="264" r:id="rId6"/>
    <p:sldId id="265" r:id="rId7"/>
    <p:sldId id="266" r:id="rId8"/>
    <p:sldId id="291" r:id="rId9"/>
    <p:sldId id="292" r:id="rId10"/>
    <p:sldId id="293" r:id="rId11"/>
    <p:sldId id="294" r:id="rId12"/>
    <p:sldId id="268" r:id="rId13"/>
    <p:sldId id="295" r:id="rId14"/>
    <p:sldId id="270" r:id="rId15"/>
    <p:sldId id="29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81" r:id="rId26"/>
    <p:sldId id="282" r:id="rId27"/>
    <p:sldId id="283" r:id="rId28"/>
    <p:sldId id="284" r:id="rId29"/>
    <p:sldId id="285" r:id="rId30"/>
    <p:sldId id="287" r:id="rId31"/>
    <p:sldId id="288" r:id="rId32"/>
    <p:sldId id="262" r:id="rId33"/>
  </p:sldIdLst>
  <p:sldSz cx="9144000" cy="6858000" type="screen4x3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>
      <p:cViewPr>
        <p:scale>
          <a:sx n="62" d="100"/>
          <a:sy n="62" d="100"/>
        </p:scale>
        <p:origin x="-159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3F2A818D-B36A-4FF0-B70A-503664BCB3A4}" type="datetimeFigureOut">
              <a:rPr lang="ar-SA" smtClean="0"/>
              <a:t>19/02/45</a:t>
            </a:fld>
            <a:endParaRPr lang="ar-S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S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BD1A3FF6-B4EE-46ED-A0FB-24252F64DE15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924827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ar-SA" smtClean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CB277A6A-9091-45CE-96DD-4D430C33F16C}" type="slidenum">
              <a:rPr lang="ar-SA" altLang="en-US"/>
              <a:pPr/>
              <a:t>29</a:t>
            </a:fld>
            <a:endParaRPr lang="ar-SA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fld id="{EA77289C-FC86-41B8-9170-14CF0D855EB2}" type="slidenum">
              <a:rPr lang="en-GB" altLang="en-US">
                <a:latin typeface="Arial" pitchFamily="34" charset="0"/>
              </a:rPr>
              <a:pPr/>
              <a:t>30</a:t>
            </a:fld>
            <a:endParaRPr lang="en-GB" altLang="en-US">
              <a:latin typeface="Arial" pitchFamily="34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32203" y="4351823"/>
            <a:ext cx="5047960" cy="414198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GB" altLang="en-US" b="1" i="1" smtClean="0">
                <a:latin typeface="ZapfHumnst BT"/>
                <a:cs typeface="Times New Roman" pitchFamily="18" charset="0"/>
              </a:rPr>
              <a:t>Lowden (1998)</a:t>
            </a:r>
            <a:endParaRPr lang="en-GB" altLang="en-US" smtClean="0">
              <a:cs typeface="Times New Roman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r>
              <a:rPr lang="en-GB" altLang="en-US" smtClean="0">
                <a:latin typeface="ZapfHumnst BT"/>
                <a:cs typeface="Times New Roman" pitchFamily="18" charset="0"/>
              </a:rPr>
              <a:t>Disclosure can affect the long-term health of the patient, influencing the way the person adjusts to living with cancer. The studies of psycho-immunology provide evidence for the possible ways in which this can effect survival. It is therefore suggesting that breaking bad news can be a form of health promotion. So lets look at breaking bad news the “ healthy way”</a:t>
            </a:r>
            <a:endParaRPr lang="en-GB" altLang="en-US" smtClean="0"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GB" altLang="en-US" smtClean="0">
                <a:latin typeface="ZapfHumnst BT"/>
                <a:cs typeface="Times New Roman" pitchFamily="18" charset="0"/>
              </a:rPr>
              <a:t> </a:t>
            </a:r>
            <a:endParaRPr lang="en-GB" altLang="en-US" smtClean="0"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</a:pPr>
            <a:endParaRPr lang="en-GB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2ED3C-D87A-438D-8968-973755E285C9}" type="datetimeFigureOut">
              <a:rPr lang="ar-SA" smtClean="0"/>
              <a:t>19/02/45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507D6-EFCD-4D3C-AC36-76F8728DF7B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713086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2ED3C-D87A-438D-8968-973755E285C9}" type="datetimeFigureOut">
              <a:rPr lang="ar-SA" smtClean="0"/>
              <a:t>19/02/45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507D6-EFCD-4D3C-AC36-76F8728DF7B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970858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2ED3C-D87A-438D-8968-973755E285C9}" type="datetimeFigureOut">
              <a:rPr lang="ar-SA" smtClean="0"/>
              <a:t>19/02/45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507D6-EFCD-4D3C-AC36-76F8728DF7B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770060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2ED3C-D87A-438D-8968-973755E285C9}" type="datetimeFigureOut">
              <a:rPr lang="ar-SA" smtClean="0"/>
              <a:t>19/02/45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507D6-EFCD-4D3C-AC36-76F8728DF7B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894688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2ED3C-D87A-438D-8968-973755E285C9}" type="datetimeFigureOut">
              <a:rPr lang="ar-SA" smtClean="0"/>
              <a:t>19/02/45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507D6-EFCD-4D3C-AC36-76F8728DF7B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487268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2ED3C-D87A-438D-8968-973755E285C9}" type="datetimeFigureOut">
              <a:rPr lang="ar-SA" smtClean="0"/>
              <a:t>19/02/45</a:t>
            </a:fld>
            <a:endParaRPr lang="ar-S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507D6-EFCD-4D3C-AC36-76F8728DF7B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967930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2ED3C-D87A-438D-8968-973755E285C9}" type="datetimeFigureOut">
              <a:rPr lang="ar-SA" smtClean="0"/>
              <a:t>19/02/45</a:t>
            </a:fld>
            <a:endParaRPr lang="ar-S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507D6-EFCD-4D3C-AC36-76F8728DF7B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203697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2ED3C-D87A-438D-8968-973755E285C9}" type="datetimeFigureOut">
              <a:rPr lang="ar-SA" smtClean="0"/>
              <a:t>19/02/45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507D6-EFCD-4D3C-AC36-76F8728DF7B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960276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2ED3C-D87A-438D-8968-973755E285C9}" type="datetimeFigureOut">
              <a:rPr lang="ar-SA" smtClean="0"/>
              <a:t>19/02/45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507D6-EFCD-4D3C-AC36-76F8728DF7B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333271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2ED3C-D87A-438D-8968-973755E285C9}" type="datetimeFigureOut">
              <a:rPr lang="ar-SA" smtClean="0"/>
              <a:t>19/02/45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507D6-EFCD-4D3C-AC36-76F8728DF7B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554063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2ED3C-D87A-438D-8968-973755E285C9}" type="datetimeFigureOut">
              <a:rPr lang="ar-SA" smtClean="0"/>
              <a:t>19/02/45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507D6-EFCD-4D3C-AC36-76F8728DF7B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964241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E2ED3C-D87A-438D-8968-973755E285C9}" type="datetimeFigureOut">
              <a:rPr lang="ar-SA" smtClean="0"/>
              <a:t>19/02/45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8507D6-EFCD-4D3C-AC36-76F8728DF7B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985524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0649"/>
            <a:ext cx="7772400" cy="1224136"/>
          </a:xfrm>
          <a:ln w="28575"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sz="4800" b="1" dirty="0" smtClean="0">
                <a:solidFill>
                  <a:srgbClr val="FF0000"/>
                </a:solidFill>
                <a:latin typeface="Arial Black" pitchFamily="34" charset="0"/>
              </a:rPr>
              <a:t>BREAKING BAD NEWS </a:t>
            </a:r>
            <a:endParaRPr lang="ar-SA" sz="4800" b="1" dirty="0">
              <a:solidFill>
                <a:srgbClr val="FF0000"/>
              </a:solidFill>
              <a:latin typeface="Arial Black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1560" y="4869160"/>
            <a:ext cx="7848872" cy="1752600"/>
          </a:xfrm>
        </p:spPr>
        <p:txBody>
          <a:bodyPr>
            <a:normAutofit fontScale="92500"/>
          </a:bodyPr>
          <a:lstStyle/>
          <a:p>
            <a:pPr rtl="0"/>
            <a:r>
              <a:rPr lang="en-US" sz="3900" b="1" dirty="0" smtClean="0">
                <a:solidFill>
                  <a:srgbClr val="002060"/>
                </a:solidFill>
                <a:latin typeface="Arial Black" pitchFamily="34" charset="0"/>
              </a:rPr>
              <a:t>By </a:t>
            </a:r>
          </a:p>
          <a:p>
            <a:pPr rtl="0"/>
            <a:r>
              <a:rPr lang="en-US" sz="3900" b="1" dirty="0" smtClean="0">
                <a:solidFill>
                  <a:srgbClr val="002060"/>
                </a:solidFill>
                <a:latin typeface="Arial Black" pitchFamily="34" charset="0"/>
              </a:rPr>
              <a:t>Prof. </a:t>
            </a:r>
            <a:r>
              <a:rPr lang="en-US" sz="3900" b="1" dirty="0" err="1" smtClean="0">
                <a:solidFill>
                  <a:srgbClr val="002060"/>
                </a:solidFill>
                <a:latin typeface="Arial Black" pitchFamily="34" charset="0"/>
              </a:rPr>
              <a:t>Nahed</a:t>
            </a:r>
            <a:r>
              <a:rPr lang="en-US" sz="3900" b="1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r>
              <a:rPr lang="en-US" sz="3900" b="1" dirty="0" err="1" smtClean="0">
                <a:solidFill>
                  <a:srgbClr val="002060"/>
                </a:solidFill>
                <a:latin typeface="Arial Black" pitchFamily="34" charset="0"/>
              </a:rPr>
              <a:t>hassan</a:t>
            </a:r>
            <a:endParaRPr lang="en-US" sz="4000" b="1" dirty="0" smtClean="0">
              <a:solidFill>
                <a:srgbClr val="002060"/>
              </a:solidFill>
              <a:latin typeface="Arial Black" pitchFamily="34" charset="0"/>
            </a:endParaRPr>
          </a:p>
          <a:p>
            <a:pPr rtl="0"/>
            <a:r>
              <a:rPr lang="en-US" sz="2200" b="1" i="1" dirty="0" smtClean="0">
                <a:solidFill>
                  <a:srgbClr val="C00000"/>
                </a:solidFill>
                <a:latin typeface="Arial Black" pitchFamily="34" charset="0"/>
              </a:rPr>
              <a:t>Professor of community medicine and industrial health </a:t>
            </a:r>
            <a:endParaRPr lang="ar-SA" sz="4000" b="1" i="1" dirty="0">
              <a:solidFill>
                <a:srgbClr val="C00000"/>
              </a:solidFill>
              <a:latin typeface="Arial Black" pitchFamily="34" charset="0"/>
            </a:endParaRPr>
          </a:p>
        </p:txBody>
      </p:sp>
      <p:sp>
        <p:nvSpPr>
          <p:cNvPr id="4" name="AutoShape 2" descr="125,800+ Bad News Illustrations, Royalty-Free Vector Graphics &amp; Clip Art -  iStock | Surprise, Medical shock, Bad news business"/>
          <p:cNvSpPr>
            <a:spLocks noChangeAspect="1" noChangeArrowheads="1"/>
          </p:cNvSpPr>
          <p:nvPr/>
        </p:nvSpPr>
        <p:spPr bwMode="auto">
          <a:xfrm>
            <a:off x="8597900" y="-846138"/>
            <a:ext cx="1981200" cy="1771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ar-SA"/>
          </a:p>
        </p:txBody>
      </p:sp>
      <p:sp>
        <p:nvSpPr>
          <p:cNvPr id="5" name="AutoShape 4" descr="125,800+ Bad News Illustrations, Royalty-Free Vector Graphics &amp; Clip Art -  iStock | Surprise, Medical shock, Bad news business"/>
          <p:cNvSpPr>
            <a:spLocks noChangeAspect="1" noChangeArrowheads="1"/>
          </p:cNvSpPr>
          <p:nvPr/>
        </p:nvSpPr>
        <p:spPr bwMode="auto">
          <a:xfrm>
            <a:off x="8750300" y="-693738"/>
            <a:ext cx="1981200" cy="1771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ar-SA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1844824"/>
            <a:ext cx="4032447" cy="2808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5089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>
        <p:randomBar dir="vert"/>
      </p:transition>
    </mc:Choice>
    <mc:Fallback xmlns="">
      <p:transition spd="slow">
        <p:randomBar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5888"/>
            <a:ext cx="9144000" cy="6437312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  <a:extLst/>
        </p:spPr>
      </p:pic>
    </p:spTree>
    <p:extLst>
      <p:ext uri="{BB962C8B-B14F-4D97-AF65-F5344CB8AC3E}">
        <p14:creationId xmlns:p14="http://schemas.microsoft.com/office/powerpoint/2010/main" val="1204810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pull dir="r"/>
      </p:transition>
    </mc:Choice>
    <mc:Fallback xmlns="">
      <p:transition spd="slow">
        <p:pull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3768" y="274638"/>
            <a:ext cx="4104456" cy="706090"/>
          </a:xfrm>
        </p:spPr>
        <p:txBody>
          <a:bodyPr>
            <a:normAutofit fontScale="90000"/>
          </a:bodyPr>
          <a:lstStyle/>
          <a:p>
            <a:pPr rtl="0"/>
            <a:r>
              <a:rPr lang="en-US" altLang="en-US" sz="4800" b="1" dirty="0" smtClean="0">
                <a:solidFill>
                  <a:srgbClr val="C00000"/>
                </a:solidFill>
              </a:rPr>
              <a:t>Objectives</a:t>
            </a:r>
            <a:endParaRPr lang="ar-SA" sz="36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616624"/>
          </a:xfrm>
        </p:spPr>
        <p:txBody>
          <a:bodyPr>
            <a:noAutofit/>
          </a:bodyPr>
          <a:lstStyle/>
          <a:p>
            <a:pPr algn="l" rtl="0">
              <a:lnSpc>
                <a:spcPct val="150000"/>
              </a:lnSpc>
              <a:buFont typeface="Courier New" pitchFamily="49" charset="0"/>
              <a:buChar char="o"/>
              <a:defRPr/>
            </a:pPr>
            <a:r>
              <a:rPr lang="en-US" altLang="en-US" b="1" dirty="0"/>
              <a:t>Define what is breaking bad news </a:t>
            </a:r>
          </a:p>
          <a:p>
            <a:pPr algn="l" rtl="0">
              <a:lnSpc>
                <a:spcPct val="150000"/>
              </a:lnSpc>
              <a:buFont typeface="Courier New" pitchFamily="49" charset="0"/>
              <a:buChar char="o"/>
              <a:defRPr/>
            </a:pPr>
            <a:r>
              <a:rPr lang="en-US" altLang="en-US" b="1" dirty="0"/>
              <a:t>Recognize the challenges for sharing bad news</a:t>
            </a:r>
          </a:p>
          <a:p>
            <a:pPr algn="l" rtl="0">
              <a:lnSpc>
                <a:spcPct val="150000"/>
              </a:lnSpc>
              <a:buFont typeface="Courier New" pitchFamily="49" charset="0"/>
              <a:buChar char="o"/>
              <a:defRPr/>
            </a:pPr>
            <a:r>
              <a:rPr lang="en-US" altLang="en-US" b="1" dirty="0"/>
              <a:t>Apply an effective </a:t>
            </a:r>
            <a:r>
              <a:rPr lang="en-US" altLang="en-US" b="1" dirty="0" smtClean="0"/>
              <a:t>steps for </a:t>
            </a:r>
            <a:r>
              <a:rPr lang="en-US" altLang="en-US" b="1" dirty="0"/>
              <a:t>breaking bad news</a:t>
            </a:r>
          </a:p>
          <a:p>
            <a:pPr algn="l" rtl="0">
              <a:lnSpc>
                <a:spcPct val="150000"/>
              </a:lnSpc>
              <a:buFont typeface="Courier New" pitchFamily="49" charset="0"/>
              <a:buChar char="o"/>
              <a:defRPr/>
            </a:pPr>
            <a:r>
              <a:rPr lang="en-US" altLang="en-US" b="1" dirty="0" smtClean="0"/>
              <a:t>How to deliver bad news in </a:t>
            </a:r>
            <a:r>
              <a:rPr lang="en-US" altLang="en-US" b="1" dirty="0"/>
              <a:t>the emergency department</a:t>
            </a:r>
          </a:p>
          <a:p>
            <a:pPr algn="l" rtl="0"/>
            <a:endParaRPr lang="ar-SA" sz="2800" dirty="0"/>
          </a:p>
        </p:txBody>
      </p:sp>
    </p:spTree>
    <p:extLst>
      <p:ext uri="{BB962C8B-B14F-4D97-AF65-F5344CB8AC3E}">
        <p14:creationId xmlns:p14="http://schemas.microsoft.com/office/powerpoint/2010/main" val="1919150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188640"/>
            <a:ext cx="7920880" cy="779934"/>
          </a:xfrm>
        </p:spPr>
        <p:txBody>
          <a:bodyPr>
            <a:noAutofit/>
          </a:bodyPr>
          <a:lstStyle/>
          <a:p>
            <a:pPr algn="ctr" rtl="0" eaLnBrk="1" hangingPunct="1"/>
            <a:r>
              <a:rPr lang="en-US" altLang="en-US" sz="3200" b="1" dirty="0" smtClean="0">
                <a:solidFill>
                  <a:srgbClr val="C00000"/>
                </a:solidFill>
                <a:latin typeface="Arial Black" pitchFamily="34" charset="0"/>
              </a:rPr>
              <a:t>What is “Bad News” in Medicine?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301625" y="1196752"/>
            <a:ext cx="8504238" cy="5400600"/>
          </a:xfrm>
        </p:spPr>
        <p:txBody>
          <a:bodyPr>
            <a:normAutofit/>
          </a:bodyPr>
          <a:lstStyle/>
          <a:p>
            <a:pPr algn="l" rtl="0"/>
            <a:r>
              <a:rPr lang="en-US" dirty="0" smtClean="0">
                <a:latin typeface="Arial Black" pitchFamily="34" charset="0"/>
              </a:rPr>
              <a:t>Any </a:t>
            </a:r>
            <a:r>
              <a:rPr lang="en-US" dirty="0">
                <a:latin typeface="Arial Black" pitchFamily="34" charset="0"/>
              </a:rPr>
              <a:t>information </a:t>
            </a:r>
            <a:r>
              <a:rPr lang="en-US" dirty="0" smtClean="0">
                <a:latin typeface="Arial Black" pitchFamily="34" charset="0"/>
              </a:rPr>
              <a:t>that adversely </a:t>
            </a:r>
            <a:r>
              <a:rPr lang="en-US" dirty="0">
                <a:latin typeface="Arial Black" pitchFamily="34" charset="0"/>
              </a:rPr>
              <a:t>and </a:t>
            </a:r>
            <a:r>
              <a:rPr lang="en-US" dirty="0" smtClean="0">
                <a:latin typeface="Arial Black" pitchFamily="34" charset="0"/>
              </a:rPr>
              <a:t>seriously affects a patients view </a:t>
            </a:r>
            <a:r>
              <a:rPr lang="en-US" dirty="0">
                <a:latin typeface="Arial Black" pitchFamily="34" charset="0"/>
              </a:rPr>
              <a:t>of </a:t>
            </a:r>
            <a:r>
              <a:rPr lang="en-US" dirty="0" smtClean="0">
                <a:latin typeface="Arial Black" pitchFamily="34" charset="0"/>
              </a:rPr>
              <a:t>their </a:t>
            </a:r>
            <a:r>
              <a:rPr lang="en-US" dirty="0" smtClean="0">
                <a:latin typeface="Arial Black" pitchFamily="34" charset="0"/>
              </a:rPr>
              <a:t>future</a:t>
            </a:r>
            <a:endParaRPr lang="en-US" dirty="0" smtClean="0">
              <a:latin typeface="Arial Black" pitchFamily="34" charset="0"/>
            </a:endParaRPr>
          </a:p>
          <a:p>
            <a:pPr marL="0" indent="0" algn="l" rtl="0">
              <a:buNone/>
            </a:pPr>
            <a:r>
              <a:rPr lang="en-US" altLang="en-US" dirty="0" smtClean="0">
                <a:latin typeface="Arial Black" pitchFamily="34" charset="0"/>
              </a:rPr>
              <a:t>                                       </a:t>
            </a:r>
          </a:p>
          <a:p>
            <a:pPr marL="274320" indent="-274320" algn="l" rtl="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altLang="en-US" dirty="0" smtClean="0">
                <a:latin typeface="Arial Black" pitchFamily="34" charset="0"/>
              </a:rPr>
              <a:t>Your Bad News may not be my Bad News.</a:t>
            </a:r>
          </a:p>
          <a:p>
            <a:pPr marL="0" indent="0" algn="l" rtl="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endParaRPr lang="en-US" altLang="en-US" dirty="0" smtClean="0">
              <a:latin typeface="Arial Black" pitchFamily="34" charset="0"/>
            </a:endParaRPr>
          </a:p>
          <a:p>
            <a:pPr marL="274320" indent="-274320" algn="l" rtl="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altLang="en-US" dirty="0" smtClean="0">
                <a:latin typeface="Arial Black" pitchFamily="34" charset="0"/>
              </a:rPr>
              <a:t>The skills of good communication is needed by all health staff and are easily taught and understood 		          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132523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332657"/>
            <a:ext cx="8618159" cy="1224682"/>
          </a:xfrm>
        </p:spPr>
        <p:txBody>
          <a:bodyPr>
            <a:noAutofit/>
          </a:bodyPr>
          <a:lstStyle/>
          <a:p>
            <a:pPr algn="l" rtl="0" eaLnBrk="1" hangingPunct="1"/>
            <a:r>
              <a:rPr lang="en-US" altLang="en-US" sz="2800" b="1" dirty="0" smtClean="0">
                <a:solidFill>
                  <a:srgbClr val="C00000"/>
                </a:solidFill>
                <a:latin typeface="Arial Black" pitchFamily="34" charset="0"/>
              </a:rPr>
              <a:t>Examples of bad news in medicine may include: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9388" y="1700808"/>
            <a:ext cx="8805862" cy="4624388"/>
          </a:xfrm>
        </p:spPr>
        <p:txBody>
          <a:bodyPr>
            <a:normAutofit/>
          </a:bodyPr>
          <a:lstStyle/>
          <a:p>
            <a:pPr marL="274320" indent="-274320" algn="l" rtl="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altLang="en-US" sz="2800" b="1" dirty="0" smtClean="0">
                <a:latin typeface="Arial Black" pitchFamily="34" charset="0"/>
              </a:rPr>
              <a:t>Traumatic Death</a:t>
            </a:r>
          </a:p>
          <a:p>
            <a:pPr marL="274320" indent="-274320" algn="l" rtl="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en-US" altLang="en-US" sz="2800" b="1" dirty="0">
              <a:latin typeface="Arial Black" pitchFamily="34" charset="0"/>
            </a:endParaRPr>
          </a:p>
          <a:p>
            <a:pPr marL="274320" indent="-274320" algn="l" rtl="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altLang="en-US" sz="2800" b="1" dirty="0">
                <a:latin typeface="Arial Black" pitchFamily="34" charset="0"/>
              </a:rPr>
              <a:t>Death after chronic </a:t>
            </a:r>
            <a:r>
              <a:rPr lang="en-US" altLang="en-US" sz="2800" b="1" dirty="0" smtClean="0">
                <a:latin typeface="Arial Black" pitchFamily="34" charset="0"/>
              </a:rPr>
              <a:t>illness</a:t>
            </a:r>
          </a:p>
          <a:p>
            <a:pPr marL="274320" indent="-274320" algn="l" rtl="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en-US" altLang="en-US" sz="2800" b="1" dirty="0">
              <a:latin typeface="Arial Black" pitchFamily="34" charset="0"/>
            </a:endParaRPr>
          </a:p>
          <a:p>
            <a:pPr marL="274320" indent="-274320" algn="l" rtl="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altLang="en-US" sz="2800" b="1" dirty="0">
                <a:latin typeface="Arial Black" pitchFamily="34" charset="0"/>
              </a:rPr>
              <a:t>Diagnosis of uniformly fatal chronic </a:t>
            </a:r>
            <a:r>
              <a:rPr lang="en-US" altLang="en-US" sz="2800" b="1" dirty="0" smtClean="0">
                <a:latin typeface="Arial Black" pitchFamily="34" charset="0"/>
              </a:rPr>
              <a:t>illness e.g. Cystic fibrosis </a:t>
            </a:r>
          </a:p>
          <a:p>
            <a:pPr marL="0" indent="0" algn="l" rtl="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endParaRPr lang="en-US" altLang="en-US" sz="2800" b="1" dirty="0">
              <a:latin typeface="Arial Black" pitchFamily="34" charset="0"/>
            </a:endParaRPr>
          </a:p>
          <a:p>
            <a:pPr marL="274320" indent="-274320" algn="l" rtl="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altLang="en-US" sz="2800" b="1" dirty="0" smtClean="0">
                <a:latin typeface="Arial Black" pitchFamily="34" charset="0"/>
              </a:rPr>
              <a:t>Diagnosis </a:t>
            </a:r>
            <a:r>
              <a:rPr lang="en-US" altLang="en-US" sz="2800" b="1" dirty="0">
                <a:latin typeface="Arial Black" pitchFamily="34" charset="0"/>
              </a:rPr>
              <a:t>of </a:t>
            </a:r>
            <a:r>
              <a:rPr lang="en-US" altLang="en-US" sz="2800" b="1" dirty="0" smtClean="0">
                <a:latin typeface="Arial Black" pitchFamily="34" charset="0"/>
              </a:rPr>
              <a:t>cancer</a:t>
            </a:r>
          </a:p>
          <a:p>
            <a:pPr marL="274320" indent="-274320" algn="l" rtl="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en-US" altLang="en-US" sz="2800" b="1" dirty="0">
              <a:latin typeface="Arial Black" pitchFamily="34" charset="0"/>
            </a:endParaRPr>
          </a:p>
          <a:p>
            <a:pPr marL="274320" indent="-274320" algn="l" rtl="0" eaLnBrk="1" fontAlgn="auto" hangingPunct="1">
              <a:lnSpc>
                <a:spcPct val="8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altLang="en-US" sz="2800" b="1" dirty="0">
                <a:latin typeface="Arial Black" pitchFamily="34" charset="0"/>
              </a:rPr>
              <a:t>Diagnosis of permanent disability or birth defect</a:t>
            </a:r>
          </a:p>
          <a:p>
            <a:pPr marL="274320" indent="-274320" algn="l" rtl="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en-US" sz="3600" b="1" dirty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2916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404813"/>
            <a:ext cx="8229600" cy="1079971"/>
          </a:xfrm>
        </p:spPr>
        <p:txBody>
          <a:bodyPr>
            <a:normAutofit/>
          </a:bodyPr>
          <a:lstStyle/>
          <a:p>
            <a:pPr algn="ctr" rtl="0" eaLnBrk="1" hangingPunct="1"/>
            <a:r>
              <a:rPr lang="en-US" altLang="en-US" sz="3600" b="1" dirty="0" smtClean="0">
                <a:solidFill>
                  <a:srgbClr val="C00000"/>
                </a:solidFill>
                <a:latin typeface="Arial Black" pitchFamily="34" charset="0"/>
              </a:rPr>
              <a:t>“Bad News” may also include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301625" y="1628800"/>
            <a:ext cx="8504238" cy="4943450"/>
          </a:xfrm>
        </p:spPr>
        <p:txBody>
          <a:bodyPr>
            <a:normAutofit/>
          </a:bodyPr>
          <a:lstStyle/>
          <a:p>
            <a:pPr marL="274320" indent="-274320" algn="l" rtl="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altLang="en-US" b="1" dirty="0" smtClean="0">
                <a:latin typeface="Arial Black" pitchFamily="34" charset="0"/>
              </a:rPr>
              <a:t>Unexpected admission to ICU</a:t>
            </a:r>
          </a:p>
          <a:p>
            <a:pPr marL="0" indent="0" algn="l" rtl="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endParaRPr lang="en-US" altLang="en-US" b="1" dirty="0" smtClean="0">
              <a:latin typeface="Arial Black" pitchFamily="34" charset="0"/>
            </a:endParaRPr>
          </a:p>
          <a:p>
            <a:pPr marL="274320" indent="-274320" algn="l" rtl="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altLang="en-US" b="1" dirty="0" smtClean="0">
                <a:latin typeface="Arial Black" pitchFamily="34" charset="0"/>
              </a:rPr>
              <a:t>Long bone fracture</a:t>
            </a:r>
          </a:p>
          <a:p>
            <a:pPr marL="0" indent="0" algn="l" rtl="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endParaRPr lang="en-US" altLang="en-US" b="1" dirty="0" smtClean="0">
              <a:latin typeface="Arial Black" pitchFamily="34" charset="0"/>
            </a:endParaRPr>
          </a:p>
          <a:p>
            <a:pPr marL="274320" indent="-274320" algn="l" rtl="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altLang="en-US" b="1" dirty="0" smtClean="0">
                <a:latin typeface="Arial Black" pitchFamily="34" charset="0"/>
              </a:rPr>
              <a:t>H1N1 influenza</a:t>
            </a:r>
          </a:p>
          <a:p>
            <a:pPr marL="0" indent="0" algn="l" rtl="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endParaRPr lang="en-US" altLang="en-US" b="1" dirty="0" smtClean="0">
              <a:latin typeface="Arial Black" pitchFamily="34" charset="0"/>
            </a:endParaRPr>
          </a:p>
          <a:p>
            <a:pPr marL="274320" indent="-274320" algn="l" rtl="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altLang="en-US" b="1" dirty="0" smtClean="0">
                <a:latin typeface="Arial Black" pitchFamily="34" charset="0"/>
              </a:rPr>
              <a:t>Need for surgery </a:t>
            </a:r>
            <a:endParaRPr lang="en-US" altLang="en-US" sz="2800" b="1" dirty="0" smtClean="0">
              <a:latin typeface="Arial Black" pitchFamily="34" charset="0"/>
            </a:endParaRPr>
          </a:p>
          <a:p>
            <a:pPr marL="640080" lvl="1" indent="-246888" algn="l" rtl="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altLang="en-US" sz="3200" b="1" dirty="0" smtClean="0">
              <a:latin typeface="Arial Black" pitchFamily="34" charset="0"/>
            </a:endParaRPr>
          </a:p>
        </p:txBody>
      </p:sp>
      <p:pic>
        <p:nvPicPr>
          <p:cNvPr id="27649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2780928"/>
            <a:ext cx="3168352" cy="2966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6044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187624" y="404813"/>
            <a:ext cx="6624736" cy="758825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altLang="en-US" sz="3600" b="1" dirty="0" smtClean="0">
                <a:solidFill>
                  <a:srgbClr val="C00000"/>
                </a:solidFill>
              </a:rPr>
              <a:t>Breaking Bad News “Options”</a:t>
            </a:r>
            <a:endParaRPr lang="ar-SA" altLang="en-US" sz="3600" b="1" dirty="0" smtClean="0">
              <a:solidFill>
                <a:srgbClr val="C00000"/>
              </a:solidFill>
            </a:endParaRPr>
          </a:p>
        </p:txBody>
      </p:sp>
      <p:sp>
        <p:nvSpPr>
          <p:cNvPr id="20483" name="Content Placeholder 2"/>
          <p:cNvSpPr>
            <a:spLocks noGrp="1"/>
          </p:cNvSpPr>
          <p:nvPr>
            <p:ph sz="half" idx="1"/>
          </p:nvPr>
        </p:nvSpPr>
        <p:spPr>
          <a:xfrm>
            <a:off x="395288" y="1557338"/>
            <a:ext cx="8137152" cy="4824412"/>
          </a:xfrm>
        </p:spPr>
        <p:txBody>
          <a:bodyPr>
            <a:normAutofit/>
          </a:bodyPr>
          <a:lstStyle/>
          <a:p>
            <a:pPr marL="274320" indent="-274320" algn="l" rtl="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altLang="en-US" b="1" dirty="0" smtClean="0">
                <a:solidFill>
                  <a:schemeClr val="accent1">
                    <a:lumMod val="75000"/>
                  </a:schemeClr>
                </a:solidFill>
                <a:latin typeface="Arial Black" pitchFamily="34" charset="0"/>
              </a:rPr>
              <a:t>Nondisclosure</a:t>
            </a:r>
          </a:p>
          <a:p>
            <a:pPr marL="0" indent="0" algn="l" rtl="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endParaRPr lang="en-US" altLang="en-US" dirty="0" smtClean="0">
              <a:latin typeface="Arial Black" pitchFamily="34" charset="0"/>
            </a:endParaRPr>
          </a:p>
          <a:p>
            <a:pPr marL="274320" indent="-274320" algn="l" rtl="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altLang="en-US" b="1" dirty="0" smtClean="0">
                <a:solidFill>
                  <a:schemeClr val="accent1">
                    <a:lumMod val="75000"/>
                  </a:schemeClr>
                </a:solidFill>
                <a:latin typeface="Arial Black" pitchFamily="34" charset="0"/>
              </a:rPr>
              <a:t>Full Disclosure</a:t>
            </a:r>
          </a:p>
          <a:p>
            <a:pPr marL="393192" lvl="1" indent="0" algn="l" rtl="0" eaLnBrk="1" fontAlgn="auto" hangingPunct="1">
              <a:spcAft>
                <a:spcPts val="0"/>
              </a:spcAft>
              <a:buNone/>
              <a:defRPr/>
            </a:pPr>
            <a:r>
              <a:rPr lang="en-US" altLang="en-US" dirty="0" smtClean="0">
                <a:latin typeface="Arial Black" pitchFamily="34" charset="0"/>
              </a:rPr>
              <a:t>- Give all information </a:t>
            </a:r>
          </a:p>
          <a:p>
            <a:pPr marL="393192" lvl="1" indent="0" algn="l" rtl="0" eaLnBrk="1" fontAlgn="auto" hangingPunct="1">
              <a:spcAft>
                <a:spcPts val="0"/>
              </a:spcAft>
              <a:buNone/>
              <a:defRPr/>
            </a:pPr>
            <a:r>
              <a:rPr lang="en-US" altLang="en-US" dirty="0" smtClean="0">
                <a:latin typeface="Arial Black" pitchFamily="34" charset="0"/>
              </a:rPr>
              <a:t>- As soon as it is known</a:t>
            </a:r>
          </a:p>
          <a:p>
            <a:pPr marL="393192" lvl="1" indent="0" algn="l" rtl="0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altLang="en-US" dirty="0" smtClean="0">
              <a:latin typeface="Arial Black" pitchFamily="34" charset="0"/>
            </a:endParaRPr>
          </a:p>
          <a:p>
            <a:pPr marL="274320" indent="-274320" algn="l" rtl="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altLang="en-US" b="1" dirty="0" smtClean="0">
                <a:solidFill>
                  <a:schemeClr val="accent1">
                    <a:lumMod val="75000"/>
                  </a:schemeClr>
                </a:solidFill>
                <a:latin typeface="Arial Black" pitchFamily="34" charset="0"/>
              </a:rPr>
              <a:t>Individualized Disclosure</a:t>
            </a:r>
          </a:p>
          <a:p>
            <a:pPr marL="393192" lvl="1" indent="0" algn="l" rtl="0" eaLnBrk="1" fontAlgn="auto" hangingPunct="1">
              <a:spcAft>
                <a:spcPts val="0"/>
              </a:spcAft>
              <a:buNone/>
              <a:defRPr/>
            </a:pPr>
            <a:r>
              <a:rPr lang="en-US" altLang="en-US" dirty="0" smtClean="0">
                <a:latin typeface="Arial Black" pitchFamily="34" charset="0"/>
              </a:rPr>
              <a:t>-Tailors amount and timing of information </a:t>
            </a:r>
          </a:p>
          <a:p>
            <a:pPr marL="393192" lvl="1" indent="0" algn="l" rtl="0" eaLnBrk="1" fontAlgn="auto" hangingPunct="1">
              <a:spcAft>
                <a:spcPts val="0"/>
              </a:spcAft>
              <a:buNone/>
              <a:defRPr/>
            </a:pPr>
            <a:r>
              <a:rPr lang="en-US" altLang="en-US" dirty="0" smtClean="0">
                <a:latin typeface="Arial Black" pitchFamily="34" charset="0"/>
              </a:rPr>
              <a:t>- Negotiation between  doctor and patient </a:t>
            </a:r>
          </a:p>
          <a:p>
            <a:pPr marL="393192" lvl="1" indent="0" algn="l" rtl="0" eaLnBrk="1" fontAlgn="auto" hangingPunct="1">
              <a:spcAft>
                <a:spcPts val="0"/>
              </a:spcAft>
              <a:buNone/>
              <a:defRPr/>
            </a:pPr>
            <a:r>
              <a:rPr lang="en-US" altLang="en-US" dirty="0" smtClean="0">
                <a:latin typeface="Arial Black" pitchFamily="34" charset="0"/>
              </a:rPr>
              <a:t>- As soon as it is known</a:t>
            </a:r>
          </a:p>
          <a:p>
            <a:pPr marL="274320" indent="-274320" algn="l" rtl="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ar-SA" altLang="en-US" dirty="0" smtClean="0">
              <a:latin typeface="Arial Black" pitchFamily="34" charset="0"/>
            </a:endParaRP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6450" y="1412776"/>
            <a:ext cx="2520280" cy="252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58457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flip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altLang="en-US" b="1" dirty="0">
                <a:solidFill>
                  <a:srgbClr val="FF0000"/>
                </a:solidFill>
                <a:ea typeface="ヒラギノ角ゴ Pro W3" pitchFamily="1" charset="-128"/>
                <a:cs typeface="Arial" charset="0"/>
              </a:rPr>
              <a:t>Patients give priority to</a:t>
            </a:r>
            <a:endParaRPr lang="ar-SA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91264" cy="4925144"/>
          </a:xfrm>
        </p:spPr>
        <p:txBody>
          <a:bodyPr>
            <a:noAutofit/>
          </a:bodyPr>
          <a:lstStyle/>
          <a:p>
            <a:pPr algn="l" rtl="0">
              <a:buClr>
                <a:schemeClr val="accent1"/>
              </a:buClr>
              <a:buFontTx/>
              <a:buChar char="•"/>
              <a:defRPr/>
            </a:pPr>
            <a:r>
              <a:rPr lang="en-US" altLang="en-US" sz="3200" b="1" dirty="0">
                <a:ea typeface="ヒラギノ角ゴ Pro W3" pitchFamily="1" charset="-128"/>
              </a:rPr>
              <a:t>being treated with </a:t>
            </a:r>
            <a:r>
              <a:rPr lang="en-US" altLang="en-US" sz="3200" b="1" i="1" dirty="0">
                <a:solidFill>
                  <a:srgbClr val="00B050"/>
                </a:solidFill>
                <a:ea typeface="ヒラギノ角ゴ Pro W3" pitchFamily="1" charset="-128"/>
              </a:rPr>
              <a:t>humanity</a:t>
            </a:r>
            <a:r>
              <a:rPr lang="en-US" altLang="en-US" sz="3200" b="1" i="1" dirty="0">
                <a:ea typeface="ヒラギノ角ゴ Pro W3" pitchFamily="1" charset="-128"/>
              </a:rPr>
              <a:t>, </a:t>
            </a:r>
            <a:r>
              <a:rPr lang="en-US" altLang="en-US" sz="3200" b="1" i="1" dirty="0">
                <a:solidFill>
                  <a:srgbClr val="00B050"/>
                </a:solidFill>
                <a:ea typeface="ヒラギノ角ゴ Pro W3" pitchFamily="1" charset="-128"/>
              </a:rPr>
              <a:t>dignity</a:t>
            </a:r>
            <a:r>
              <a:rPr lang="en-US" altLang="en-US" sz="3200" b="1" i="1" dirty="0">
                <a:ea typeface="ヒラギノ角ゴ Pro W3" pitchFamily="1" charset="-128"/>
              </a:rPr>
              <a:t> and </a:t>
            </a:r>
            <a:r>
              <a:rPr lang="en-US" altLang="en-US" sz="3200" b="1" i="1" dirty="0" smtClean="0">
                <a:solidFill>
                  <a:srgbClr val="00B050"/>
                </a:solidFill>
                <a:ea typeface="ヒラギノ角ゴ Pro W3" pitchFamily="1" charset="-128"/>
              </a:rPr>
              <a:t>respect</a:t>
            </a:r>
            <a:endParaRPr lang="en-US" altLang="en-US" sz="3200" b="1" i="1" dirty="0">
              <a:solidFill>
                <a:srgbClr val="00B050"/>
              </a:solidFill>
              <a:ea typeface="ヒラギノ角ゴ Pro W3" pitchFamily="1" charset="-128"/>
            </a:endParaRPr>
          </a:p>
          <a:p>
            <a:pPr algn="l" rtl="0">
              <a:buClr>
                <a:schemeClr val="accent1"/>
              </a:buClr>
              <a:buFontTx/>
              <a:buChar char="•"/>
              <a:defRPr/>
            </a:pPr>
            <a:r>
              <a:rPr lang="en-US" altLang="en-US" sz="3200" b="1" dirty="0">
                <a:ea typeface="ヒラギノ角ゴ Pro W3" pitchFamily="1" charset="-128"/>
              </a:rPr>
              <a:t>having</a:t>
            </a:r>
            <a:r>
              <a:rPr lang="en-US" altLang="en-US" sz="3200" b="1" i="1" dirty="0">
                <a:ea typeface="ヒラギノ角ゴ Pro W3" pitchFamily="1" charset="-128"/>
              </a:rPr>
              <a:t> good communication</a:t>
            </a:r>
            <a:r>
              <a:rPr lang="en-US" altLang="en-US" sz="3200" b="1" dirty="0">
                <a:ea typeface="ヒラギノ角ゴ Pro W3" pitchFamily="1" charset="-128"/>
              </a:rPr>
              <a:t> </a:t>
            </a:r>
            <a:r>
              <a:rPr lang="en-US" altLang="en-US" sz="3200" b="1" dirty="0" smtClean="0">
                <a:ea typeface="ヒラギノ角ゴ Pro W3" pitchFamily="1" charset="-128"/>
              </a:rPr>
              <a:t> with </a:t>
            </a:r>
            <a:r>
              <a:rPr lang="en-US" altLang="en-US" sz="3200" b="1" dirty="0">
                <a:ea typeface="ヒラギノ角ゴ Pro W3" pitchFamily="1" charset="-128"/>
              </a:rPr>
              <a:t>health  professionals</a:t>
            </a:r>
          </a:p>
          <a:p>
            <a:pPr algn="l" rtl="0">
              <a:buClr>
                <a:schemeClr val="accent1"/>
              </a:buClr>
              <a:buFontTx/>
              <a:buChar char="•"/>
              <a:defRPr/>
            </a:pPr>
            <a:r>
              <a:rPr lang="en-US" altLang="en-US" sz="3200" b="1" dirty="0">
                <a:ea typeface="ヒラギノ角ゴ Pro W3" pitchFamily="1" charset="-128"/>
              </a:rPr>
              <a:t>being given </a:t>
            </a:r>
            <a:r>
              <a:rPr lang="en-US" altLang="en-US" sz="3200" b="1" i="1" dirty="0">
                <a:ea typeface="ヒラギノ角ゴ Pro W3" pitchFamily="1" charset="-128"/>
              </a:rPr>
              <a:t>clear information</a:t>
            </a:r>
            <a:r>
              <a:rPr lang="en-US" altLang="en-US" sz="3200" b="1" dirty="0">
                <a:ea typeface="ヒラギノ角ゴ Pro W3" pitchFamily="1" charset="-128"/>
              </a:rPr>
              <a:t> </a:t>
            </a:r>
            <a:r>
              <a:rPr lang="en-US" altLang="en-US" sz="3200" b="1" dirty="0" smtClean="0">
                <a:ea typeface="ヒラギノ角ゴ Pro W3" pitchFamily="1" charset="-128"/>
              </a:rPr>
              <a:t> about </a:t>
            </a:r>
            <a:r>
              <a:rPr lang="en-US" altLang="en-US" sz="3200" b="1" dirty="0">
                <a:ea typeface="ヒラギノ角ゴ Pro W3" pitchFamily="1" charset="-128"/>
              </a:rPr>
              <a:t>their condition</a:t>
            </a:r>
          </a:p>
          <a:p>
            <a:pPr algn="l" rtl="0">
              <a:buClr>
                <a:schemeClr val="accent1"/>
              </a:buClr>
              <a:buFontTx/>
              <a:buChar char="•"/>
              <a:defRPr/>
            </a:pPr>
            <a:r>
              <a:rPr lang="en-US" altLang="en-US" sz="3200" b="1" dirty="0">
                <a:ea typeface="ヒラギノ角ゴ Pro W3" pitchFamily="1" charset="-128"/>
              </a:rPr>
              <a:t>receiving the </a:t>
            </a:r>
            <a:r>
              <a:rPr lang="en-US" altLang="en-US" sz="3200" b="1" i="1" dirty="0">
                <a:ea typeface="ヒラギノ角ゴ Pro W3" pitchFamily="1" charset="-128"/>
              </a:rPr>
              <a:t>best possible symptom control</a:t>
            </a:r>
          </a:p>
          <a:p>
            <a:pPr algn="l" rtl="0">
              <a:buClr>
                <a:schemeClr val="accent1"/>
              </a:buClr>
              <a:buFontTx/>
              <a:buChar char="•"/>
              <a:defRPr/>
            </a:pPr>
            <a:r>
              <a:rPr lang="en-US" altLang="en-US" sz="3200" b="1" dirty="0">
                <a:ea typeface="ヒラギノ角ゴ Pro W3" pitchFamily="1" charset="-128"/>
              </a:rPr>
              <a:t>receiving </a:t>
            </a:r>
            <a:r>
              <a:rPr lang="en-US" altLang="en-US" sz="3200" b="1" i="1" dirty="0">
                <a:ea typeface="ヒラギノ角ゴ Pro W3" pitchFamily="1" charset="-128"/>
              </a:rPr>
              <a:t>psychological support</a:t>
            </a:r>
            <a:r>
              <a:rPr lang="en-US" altLang="en-US" sz="3200" b="1" dirty="0">
                <a:ea typeface="ヒラギノ角ゴ Pro W3" pitchFamily="1" charset="-128"/>
              </a:rPr>
              <a:t> </a:t>
            </a:r>
            <a:r>
              <a:rPr lang="en-US" altLang="en-US" sz="3200" b="1" dirty="0" smtClean="0">
                <a:ea typeface="ヒラギノ角ゴ Pro W3" pitchFamily="1" charset="-128"/>
              </a:rPr>
              <a:t> when </a:t>
            </a:r>
            <a:r>
              <a:rPr lang="en-US" altLang="en-US" sz="3200" b="1" dirty="0">
                <a:ea typeface="ヒラギノ角ゴ Pro W3" pitchFamily="1" charset="-128"/>
              </a:rPr>
              <a:t>they need </a:t>
            </a:r>
            <a:r>
              <a:rPr lang="en-US" altLang="en-US" sz="3200" b="1" dirty="0" smtClean="0">
                <a:ea typeface="ヒラギノ角ゴ Pro W3" pitchFamily="1" charset="-128"/>
              </a:rPr>
              <a:t>it</a:t>
            </a:r>
            <a:endParaRPr lang="ar-SA" sz="3200" b="1" dirty="0"/>
          </a:p>
        </p:txBody>
      </p:sp>
    </p:spTree>
    <p:extLst>
      <p:ext uri="{BB962C8B-B14F-4D97-AF65-F5344CB8AC3E}">
        <p14:creationId xmlns:p14="http://schemas.microsoft.com/office/powerpoint/2010/main" val="2365623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rtl="0"/>
            <a:r>
              <a:rPr lang="en-GB" altLang="en-US" b="1" dirty="0">
                <a:solidFill>
                  <a:srgbClr val="C00000"/>
                </a:solidFill>
              </a:rPr>
              <a:t>Most patients want 2 </a:t>
            </a:r>
            <a:r>
              <a:rPr lang="en-GB" altLang="en-US" b="1" dirty="0" smtClean="0">
                <a:solidFill>
                  <a:srgbClr val="C00000"/>
                </a:solidFill>
              </a:rPr>
              <a:t>things</a:t>
            </a:r>
            <a:endParaRPr lang="ar-SA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19256" cy="4525963"/>
          </a:xfrm>
        </p:spPr>
        <p:txBody>
          <a:bodyPr>
            <a:normAutofit/>
          </a:bodyPr>
          <a:lstStyle/>
          <a:p>
            <a:pPr algn="l" rtl="0"/>
            <a:r>
              <a:rPr lang="en-GB" altLang="en-US" sz="4400" b="1" dirty="0"/>
              <a:t>A </a:t>
            </a:r>
            <a:r>
              <a:rPr lang="en-GB" altLang="en-US" sz="4400" b="1" dirty="0" smtClean="0"/>
              <a:t>certain and right amount </a:t>
            </a:r>
            <a:r>
              <a:rPr lang="en-GB" altLang="en-US" sz="4400" b="1" dirty="0"/>
              <a:t>of </a:t>
            </a:r>
            <a:r>
              <a:rPr lang="en-GB" altLang="en-US" sz="4400" b="1" dirty="0" smtClean="0"/>
              <a:t>information</a:t>
            </a:r>
          </a:p>
          <a:p>
            <a:pPr marL="0" indent="0" algn="l" rtl="0">
              <a:buNone/>
            </a:pPr>
            <a:endParaRPr lang="en-GB" altLang="en-US" sz="4000" b="1" dirty="0"/>
          </a:p>
          <a:p>
            <a:pPr algn="l" rtl="0"/>
            <a:r>
              <a:rPr lang="en-GB" altLang="en-US" sz="4400" b="1" dirty="0"/>
              <a:t>Opportunity to talk and think about their </a:t>
            </a:r>
            <a:r>
              <a:rPr lang="en-GB" altLang="en-US" sz="4400" b="1" dirty="0" smtClean="0"/>
              <a:t>situation (</a:t>
            </a:r>
            <a:r>
              <a:rPr lang="en-GB" altLang="en-US" sz="4000" b="1" dirty="0" smtClean="0"/>
              <a:t>therapeutic dialogue)</a:t>
            </a:r>
            <a:endParaRPr lang="en-US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400525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rtl="0"/>
            <a:r>
              <a:rPr lang="en-US" b="1" dirty="0" smtClean="0">
                <a:solidFill>
                  <a:srgbClr val="C00000"/>
                </a:solidFill>
              </a:rPr>
              <a:t>Response of the patients to the bad news </a:t>
            </a:r>
            <a:endParaRPr lang="ar-SA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19256" cy="4997152"/>
          </a:xfrm>
        </p:spPr>
        <p:txBody>
          <a:bodyPr>
            <a:normAutofit/>
          </a:bodyPr>
          <a:lstStyle/>
          <a:p>
            <a:pPr algn="l" rtl="0">
              <a:lnSpc>
                <a:spcPct val="80000"/>
              </a:lnSpc>
            </a:pPr>
            <a:r>
              <a:rPr lang="en-GB" altLang="en-US" sz="4000" b="1" dirty="0"/>
              <a:t>Uncontrollable upset</a:t>
            </a:r>
          </a:p>
          <a:p>
            <a:pPr algn="l" rtl="0">
              <a:lnSpc>
                <a:spcPct val="80000"/>
              </a:lnSpc>
            </a:pPr>
            <a:r>
              <a:rPr lang="en-GB" altLang="en-US" sz="4000" b="1" dirty="0"/>
              <a:t>Angry and shout</a:t>
            </a:r>
          </a:p>
          <a:p>
            <a:pPr algn="l" rtl="0">
              <a:lnSpc>
                <a:spcPct val="80000"/>
              </a:lnSpc>
            </a:pPr>
            <a:r>
              <a:rPr lang="en-GB" altLang="en-US" sz="4000" b="1" dirty="0"/>
              <a:t>Run out of the room</a:t>
            </a:r>
          </a:p>
          <a:p>
            <a:pPr algn="l" rtl="0">
              <a:lnSpc>
                <a:spcPct val="80000"/>
              </a:lnSpc>
            </a:pPr>
            <a:r>
              <a:rPr lang="en-GB" altLang="en-US" sz="4000" b="1" dirty="0"/>
              <a:t>Refuse treatment</a:t>
            </a:r>
          </a:p>
          <a:p>
            <a:pPr algn="l" rtl="0">
              <a:lnSpc>
                <a:spcPct val="80000"/>
              </a:lnSpc>
            </a:pPr>
            <a:r>
              <a:rPr lang="en-GB" altLang="en-US" sz="4000" b="1" dirty="0"/>
              <a:t>Go silent</a:t>
            </a:r>
          </a:p>
          <a:p>
            <a:pPr algn="l" rtl="0">
              <a:lnSpc>
                <a:spcPct val="80000"/>
              </a:lnSpc>
            </a:pPr>
            <a:r>
              <a:rPr lang="en-GB" altLang="en-US" sz="4000" b="1" dirty="0"/>
              <a:t>Start asking difficult question</a:t>
            </a:r>
          </a:p>
          <a:p>
            <a:pPr algn="l" rtl="0">
              <a:lnSpc>
                <a:spcPct val="80000"/>
              </a:lnSpc>
            </a:pPr>
            <a:r>
              <a:rPr lang="en-GB" altLang="en-US" sz="4000" b="1" dirty="0" smtClean="0"/>
              <a:t>Give </a:t>
            </a:r>
            <a:r>
              <a:rPr lang="en-GB" altLang="en-US" sz="4000" b="1" dirty="0"/>
              <a:t>up and die</a:t>
            </a:r>
          </a:p>
          <a:p>
            <a:pPr algn="l" rtl="0">
              <a:lnSpc>
                <a:spcPct val="80000"/>
              </a:lnSpc>
            </a:pPr>
            <a:r>
              <a:rPr lang="en-GB" altLang="en-US" sz="4000" b="1" dirty="0"/>
              <a:t>Commit suicide</a:t>
            </a:r>
          </a:p>
          <a:p>
            <a:pPr algn="l" rtl="0"/>
            <a:endParaRPr lang="ar-SA" sz="4000" b="1" dirty="0"/>
          </a:p>
        </p:txBody>
      </p:sp>
    </p:spTree>
    <p:extLst>
      <p:ext uri="{BB962C8B-B14F-4D97-AF65-F5344CB8AC3E}">
        <p14:creationId xmlns:p14="http://schemas.microsoft.com/office/powerpoint/2010/main" val="2652848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 fontScale="90000"/>
          </a:bodyPr>
          <a:lstStyle/>
          <a:p>
            <a:pPr rtl="0"/>
            <a:r>
              <a:rPr lang="en-US" b="1" dirty="0" smtClean="0">
                <a:solidFill>
                  <a:srgbClr val="C00000"/>
                </a:solidFill>
              </a:rPr>
              <a:t>Problems affect delivering bad news </a:t>
            </a:r>
            <a:endParaRPr lang="ar-SA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12776"/>
            <a:ext cx="8219256" cy="4925144"/>
          </a:xfrm>
        </p:spPr>
        <p:txBody>
          <a:bodyPr>
            <a:noAutofit/>
          </a:bodyPr>
          <a:lstStyle/>
          <a:p>
            <a:pPr marL="0" indent="0" algn="l" rtl="0">
              <a:buNone/>
            </a:pPr>
            <a:r>
              <a:rPr lang="en-GB" altLang="en-US" sz="4400" b="1" i="1" dirty="0" smtClean="0">
                <a:solidFill>
                  <a:srgbClr val="00B050"/>
                </a:solidFill>
              </a:rPr>
              <a:t>Mainly </a:t>
            </a:r>
            <a:r>
              <a:rPr lang="en-GB" altLang="en-US" sz="4000" b="1" i="1" dirty="0" smtClean="0">
                <a:solidFill>
                  <a:srgbClr val="00B050"/>
                </a:solidFill>
              </a:rPr>
              <a:t>problems in the </a:t>
            </a:r>
            <a:r>
              <a:rPr lang="en-GB" altLang="en-US" sz="4000" b="1" i="1" u="sng" dirty="0" smtClean="0">
                <a:solidFill>
                  <a:srgbClr val="00B050"/>
                </a:solidFill>
              </a:rPr>
              <a:t>working environment </a:t>
            </a:r>
          </a:p>
          <a:p>
            <a:pPr algn="l" rtl="0"/>
            <a:r>
              <a:rPr lang="en-GB" altLang="en-US" sz="4000" b="1" dirty="0" smtClean="0"/>
              <a:t>Lack </a:t>
            </a:r>
            <a:r>
              <a:rPr lang="en-GB" altLang="en-US" sz="4000" b="1" dirty="0"/>
              <a:t>of privacy, time and space</a:t>
            </a:r>
          </a:p>
          <a:p>
            <a:pPr algn="l" rtl="0"/>
            <a:r>
              <a:rPr lang="en-GB" altLang="en-US" sz="4000" b="1" dirty="0"/>
              <a:t>Lack of support</a:t>
            </a:r>
          </a:p>
          <a:p>
            <a:pPr algn="l" rtl="0"/>
            <a:r>
              <a:rPr lang="en-GB" altLang="en-US" sz="4000" b="1" dirty="0"/>
              <a:t>Colleagues not perceived as being concerned about </a:t>
            </a:r>
            <a:r>
              <a:rPr lang="en-GB" altLang="en-US" sz="4000" b="1" dirty="0" smtClean="0"/>
              <a:t>patients welfare</a:t>
            </a:r>
            <a:endParaRPr lang="en-GB" altLang="en-US" sz="4000" b="1" dirty="0"/>
          </a:p>
          <a:p>
            <a:pPr algn="l" rtl="0"/>
            <a:r>
              <a:rPr lang="en-GB" altLang="en-US" sz="4000" b="1" dirty="0"/>
              <a:t>Lack of help </a:t>
            </a:r>
            <a:r>
              <a:rPr lang="en-GB" altLang="en-US" sz="4000" b="1" dirty="0" smtClean="0"/>
              <a:t>when needed </a:t>
            </a:r>
            <a:r>
              <a:rPr lang="en-US" sz="4000" b="1" dirty="0" smtClean="0"/>
              <a:t> </a:t>
            </a:r>
            <a:endParaRPr lang="ar-SA" sz="4000" b="1" dirty="0"/>
          </a:p>
        </p:txBody>
      </p:sp>
    </p:spTree>
    <p:extLst>
      <p:ext uri="{BB962C8B-B14F-4D97-AF65-F5344CB8AC3E}">
        <p14:creationId xmlns:p14="http://schemas.microsoft.com/office/powerpoint/2010/main" val="32460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547664" y="260648"/>
            <a:ext cx="5616624" cy="791741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sz="4000" b="1" dirty="0" smtClean="0">
                <a:solidFill>
                  <a:srgbClr val="C00000"/>
                </a:solidFill>
              </a:rPr>
              <a:t>Basic Principles </a:t>
            </a:r>
            <a:endParaRPr lang="en-US" altLang="en-US" sz="4000" b="1" dirty="0">
              <a:solidFill>
                <a:srgbClr val="C00000"/>
              </a:solidFill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340768"/>
            <a:ext cx="8229600" cy="5184576"/>
          </a:xfrm>
        </p:spPr>
        <p:txBody>
          <a:bodyPr>
            <a:noAutofit/>
          </a:bodyPr>
          <a:lstStyle/>
          <a:p>
            <a:pPr algn="l" rtl="0" eaLnBrk="1" hangingPunct="1"/>
            <a:r>
              <a:rPr lang="en-US" altLang="en-US" sz="2800" b="1" dirty="0" smtClean="0">
                <a:solidFill>
                  <a:srgbClr val="0070C0"/>
                </a:solidFill>
              </a:rPr>
              <a:t>When to be informed ?</a:t>
            </a:r>
          </a:p>
          <a:p>
            <a:pPr lvl="1" algn="l" rtl="0" eaLnBrk="1" hangingPunct="1"/>
            <a:r>
              <a:rPr lang="en-US" altLang="en-US" b="1" dirty="0" smtClean="0"/>
              <a:t>As soon as information is clearly known</a:t>
            </a:r>
          </a:p>
          <a:p>
            <a:pPr lvl="1" algn="l" rtl="0" eaLnBrk="1" hangingPunct="1"/>
            <a:r>
              <a:rPr lang="en-US" altLang="en-US" b="1" dirty="0" smtClean="0"/>
              <a:t>Don’t pass on unsure information too soon</a:t>
            </a:r>
          </a:p>
          <a:p>
            <a:pPr algn="l" rtl="0" eaLnBrk="1" hangingPunct="1"/>
            <a:r>
              <a:rPr lang="en-US" altLang="en-US" sz="2800" b="1" dirty="0" smtClean="0">
                <a:solidFill>
                  <a:srgbClr val="0070C0"/>
                </a:solidFill>
              </a:rPr>
              <a:t>Where to be informed ?</a:t>
            </a:r>
          </a:p>
          <a:p>
            <a:pPr lvl="1" algn="l" rtl="0" eaLnBrk="1" hangingPunct="1"/>
            <a:r>
              <a:rPr lang="en-US" altLang="en-US" b="1" dirty="0" smtClean="0"/>
              <a:t>Private setting</a:t>
            </a:r>
          </a:p>
          <a:p>
            <a:pPr lvl="1" algn="l" rtl="0" eaLnBrk="1" hangingPunct="1"/>
            <a:r>
              <a:rPr lang="en-US" altLang="en-US" b="1" dirty="0" smtClean="0"/>
              <a:t>In person</a:t>
            </a:r>
          </a:p>
          <a:p>
            <a:pPr algn="l" rtl="0" eaLnBrk="1" hangingPunct="1"/>
            <a:r>
              <a:rPr lang="en-US" altLang="en-US" sz="2800" b="1" dirty="0" smtClean="0">
                <a:solidFill>
                  <a:srgbClr val="0070C0"/>
                </a:solidFill>
              </a:rPr>
              <a:t>Support persons present</a:t>
            </a:r>
          </a:p>
          <a:p>
            <a:pPr lvl="1" algn="l" rtl="0" eaLnBrk="1" hangingPunct="1"/>
            <a:r>
              <a:rPr lang="en-US" altLang="en-US" b="1" dirty="0" smtClean="0"/>
              <a:t>Both parents</a:t>
            </a:r>
          </a:p>
          <a:p>
            <a:pPr lvl="1" algn="l" rtl="0" eaLnBrk="1" hangingPunct="1"/>
            <a:r>
              <a:rPr lang="en-US" altLang="en-US" b="1" dirty="0" smtClean="0"/>
              <a:t>Other support people, family, friends, hospital support</a:t>
            </a:r>
          </a:p>
          <a:p>
            <a:pPr lvl="1" algn="l" rtl="0" eaLnBrk="1" hangingPunct="1"/>
            <a:endParaRPr lang="en-US" altLang="en-US" b="1" dirty="0" smtClean="0"/>
          </a:p>
        </p:txBody>
      </p:sp>
      <p:pic>
        <p:nvPicPr>
          <p:cNvPr id="25601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2996952"/>
            <a:ext cx="3299088" cy="244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12150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wheel spokes="1"/>
      </p:transition>
    </mc:Choice>
    <mc:Fallback xmlns="">
      <p:transition spd="slow">
        <p:wheel spokes="1"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188641"/>
            <a:ext cx="7704856" cy="720080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altLang="en-US" sz="4000" b="1" dirty="0" smtClean="0">
                <a:solidFill>
                  <a:srgbClr val="C00000"/>
                </a:solidFill>
              </a:rPr>
              <a:t>“So you have to do the following : 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323850" y="1196752"/>
            <a:ext cx="8640638" cy="5301208"/>
          </a:xfrm>
        </p:spPr>
        <p:txBody>
          <a:bodyPr>
            <a:noAutofit/>
          </a:bodyPr>
          <a:lstStyle/>
          <a:p>
            <a:pPr marL="274320" indent="-274320" algn="l" rtl="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altLang="en-US" sz="3600" b="1" dirty="0" smtClean="0"/>
              <a:t>Ensure Privacy and Adequate Time</a:t>
            </a:r>
          </a:p>
          <a:p>
            <a:pPr marL="0" indent="0" algn="l" rtl="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endParaRPr lang="en-US" altLang="en-US" sz="2400" b="1" dirty="0" smtClean="0"/>
          </a:p>
          <a:p>
            <a:pPr marL="274320" indent="-274320" algn="l" rtl="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altLang="en-US" sz="3600" b="1" dirty="0" smtClean="0"/>
              <a:t>Provide Information Simply and Honestly</a:t>
            </a:r>
          </a:p>
          <a:p>
            <a:pPr marL="0" indent="0" algn="l" rtl="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endParaRPr lang="en-US" altLang="en-US" sz="2000" b="1" dirty="0" smtClean="0"/>
          </a:p>
          <a:p>
            <a:pPr marL="274320" indent="-274320" algn="l" rtl="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altLang="en-US" sz="3600" b="1" dirty="0" smtClean="0"/>
              <a:t>Encourage Patients to Express Feelings</a:t>
            </a:r>
          </a:p>
          <a:p>
            <a:pPr marL="0" indent="0" algn="l" rtl="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endParaRPr lang="en-US" altLang="en-US" sz="2000" b="1" dirty="0" smtClean="0"/>
          </a:p>
          <a:p>
            <a:pPr marL="274320" indent="-274320" algn="l" rtl="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altLang="en-US" sz="3600" b="1" dirty="0" smtClean="0"/>
              <a:t>Discuss all the available suitable Options</a:t>
            </a:r>
          </a:p>
          <a:p>
            <a:pPr marL="0" indent="0" algn="l" rtl="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endParaRPr lang="en-US" altLang="en-US" sz="2400" b="1" dirty="0" smtClean="0"/>
          </a:p>
          <a:p>
            <a:pPr marL="274320" indent="-274320" algn="l" rtl="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altLang="en-US" sz="3600" b="1" dirty="0" smtClean="0"/>
              <a:t>Provide Information About Support Services</a:t>
            </a:r>
          </a:p>
          <a:p>
            <a:pPr marL="0" indent="0" algn="l" rtl="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endParaRPr lang="en-US" altLang="en-US" sz="2000" b="1" dirty="0" smtClean="0"/>
          </a:p>
          <a:p>
            <a:pPr marL="274320" indent="-274320" algn="l" rtl="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altLang="en-US" sz="3600" b="1" dirty="0" smtClean="0"/>
              <a:t>Document Information Given</a:t>
            </a:r>
          </a:p>
        </p:txBody>
      </p:sp>
    </p:spTree>
    <p:extLst>
      <p:ext uri="{BB962C8B-B14F-4D97-AF65-F5344CB8AC3E}">
        <p14:creationId xmlns:p14="http://schemas.microsoft.com/office/powerpoint/2010/main" val="22402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395288" y="260350"/>
            <a:ext cx="8229600" cy="1143000"/>
          </a:xfrm>
        </p:spPr>
        <p:txBody>
          <a:bodyPr>
            <a:normAutofit/>
          </a:bodyPr>
          <a:lstStyle/>
          <a:p>
            <a:pPr algn="ctr" rtl="0" eaLnBrk="1" hangingPunct="1"/>
            <a:r>
              <a:rPr lang="en-US" altLang="ar-SA" sz="4000" b="1" dirty="0" smtClean="0">
                <a:solidFill>
                  <a:srgbClr val="C00000"/>
                </a:solidFill>
              </a:rPr>
              <a:t>How should </a:t>
            </a:r>
            <a:r>
              <a:rPr lang="en-US" altLang="ar-SA" sz="4000" b="1" i="1" dirty="0" smtClean="0">
                <a:solidFill>
                  <a:srgbClr val="C00000"/>
                </a:solidFill>
              </a:rPr>
              <a:t>Bad News </a:t>
            </a:r>
            <a:r>
              <a:rPr lang="en-US" altLang="ar-SA" sz="4000" b="1" dirty="0" smtClean="0">
                <a:solidFill>
                  <a:srgbClr val="C00000"/>
                </a:solidFill>
              </a:rPr>
              <a:t>be delivered?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179388" y="1484313"/>
            <a:ext cx="8785225" cy="4840287"/>
          </a:xfrm>
        </p:spPr>
        <p:txBody>
          <a:bodyPr>
            <a:normAutofit/>
          </a:bodyPr>
          <a:lstStyle/>
          <a:p>
            <a:pPr marL="274320" indent="-274320" algn="l" rtl="0" eaLnBrk="1" fontAlgn="auto" hangingPunct="1">
              <a:spcAft>
                <a:spcPts val="0"/>
              </a:spcAft>
              <a:buClr>
                <a:schemeClr val="accent3"/>
              </a:buClr>
              <a:buFont typeface="Wingdings 2" pitchFamily="18" charset="2"/>
              <a:buNone/>
              <a:defRPr/>
            </a:pPr>
            <a:r>
              <a:rPr lang="en-US" altLang="en-US" sz="3600" b="1" u="sng" dirty="0" smtClean="0">
                <a:solidFill>
                  <a:srgbClr val="00B050"/>
                </a:solidFill>
              </a:rPr>
              <a:t>A . The 6 Steps Protocol:</a:t>
            </a:r>
          </a:p>
          <a:p>
            <a:pPr marL="274320" indent="-274320" algn="l" rtl="0" eaLnBrk="1" fontAlgn="auto" hangingPunct="1">
              <a:spcAft>
                <a:spcPts val="0"/>
              </a:spcAft>
              <a:buClr>
                <a:schemeClr val="accent3"/>
              </a:buClr>
              <a:buFont typeface="Wingdings 2" pitchFamily="18" charset="2"/>
              <a:buNone/>
              <a:defRPr/>
            </a:pPr>
            <a:endParaRPr lang="en-US" altLang="en-US" sz="1400" b="1" dirty="0" smtClean="0">
              <a:solidFill>
                <a:srgbClr val="00B050"/>
              </a:solidFill>
            </a:endParaRPr>
          </a:p>
          <a:p>
            <a:pPr marL="274320" indent="-274320" algn="l" rtl="0" eaLnBrk="1" fontAlgn="auto" hangingPunct="1">
              <a:spcAft>
                <a:spcPts val="0"/>
              </a:spcAft>
              <a:buClr>
                <a:schemeClr val="accent3"/>
              </a:buClr>
              <a:buFont typeface="Wingdings 2" pitchFamily="18" charset="2"/>
              <a:buNone/>
              <a:defRPr/>
            </a:pPr>
            <a:r>
              <a:rPr lang="en-US" altLang="en-US" b="1" dirty="0" smtClean="0"/>
              <a:t>1- Getting started  (getting the setting right)</a:t>
            </a:r>
          </a:p>
          <a:p>
            <a:pPr marL="274320" indent="-274320" algn="l" rtl="0" eaLnBrk="1" fontAlgn="auto" hangingPunct="1">
              <a:spcAft>
                <a:spcPts val="0"/>
              </a:spcAft>
              <a:buClr>
                <a:schemeClr val="accent3"/>
              </a:buClr>
              <a:buFont typeface="Wingdings 2" pitchFamily="18" charset="2"/>
              <a:buNone/>
              <a:defRPr/>
            </a:pPr>
            <a:r>
              <a:rPr lang="en-US" altLang="en-US" b="1" dirty="0" smtClean="0"/>
              <a:t>2- What does the patient know?</a:t>
            </a:r>
          </a:p>
          <a:p>
            <a:pPr marL="274320" indent="-274320" algn="l" rtl="0" eaLnBrk="1" fontAlgn="auto" hangingPunct="1">
              <a:spcAft>
                <a:spcPts val="0"/>
              </a:spcAft>
              <a:buClr>
                <a:schemeClr val="accent3"/>
              </a:buClr>
              <a:buFont typeface="Wingdings 2" pitchFamily="18" charset="2"/>
              <a:buNone/>
              <a:defRPr/>
            </a:pPr>
            <a:r>
              <a:rPr lang="en-US" altLang="en-US" b="1" dirty="0" smtClean="0"/>
              <a:t>3- How much does the patient want to know?</a:t>
            </a:r>
          </a:p>
          <a:p>
            <a:pPr marL="274320" indent="-274320" algn="l" rtl="0" eaLnBrk="1" fontAlgn="auto" hangingPunct="1">
              <a:spcAft>
                <a:spcPts val="0"/>
              </a:spcAft>
              <a:buClr>
                <a:schemeClr val="accent3"/>
              </a:buClr>
              <a:buFont typeface="Wingdings 2" pitchFamily="18" charset="2"/>
              <a:buNone/>
              <a:defRPr/>
            </a:pPr>
            <a:r>
              <a:rPr lang="en-US" altLang="en-US" b="1" dirty="0" smtClean="0"/>
              <a:t>4- Providing information</a:t>
            </a:r>
          </a:p>
          <a:p>
            <a:pPr marL="274320" indent="-274320" algn="l" rtl="0" eaLnBrk="1" fontAlgn="auto" hangingPunct="1">
              <a:spcAft>
                <a:spcPts val="0"/>
              </a:spcAft>
              <a:buClr>
                <a:schemeClr val="accent3"/>
              </a:buClr>
              <a:buFont typeface="Wingdings 2" pitchFamily="18" charset="2"/>
              <a:buNone/>
              <a:defRPr/>
            </a:pPr>
            <a:r>
              <a:rPr lang="en-US" altLang="en-US" b="1" dirty="0" smtClean="0"/>
              <a:t>5- Responding to patient and family feelings</a:t>
            </a:r>
          </a:p>
          <a:p>
            <a:pPr marL="274320" indent="-274320" algn="l" rtl="0" eaLnBrk="1" fontAlgn="auto" hangingPunct="1">
              <a:spcAft>
                <a:spcPts val="0"/>
              </a:spcAft>
              <a:buClr>
                <a:schemeClr val="accent3"/>
              </a:buClr>
              <a:buFont typeface="Wingdings 2" pitchFamily="18" charset="2"/>
              <a:buNone/>
              <a:defRPr/>
            </a:pPr>
            <a:r>
              <a:rPr lang="en-US" altLang="en-US" b="1" dirty="0" smtClean="0"/>
              <a:t>6- Planning and follow up</a:t>
            </a:r>
          </a:p>
        </p:txBody>
      </p:sp>
    </p:spTree>
    <p:extLst>
      <p:ext uri="{BB962C8B-B14F-4D97-AF65-F5344CB8AC3E}">
        <p14:creationId xmlns:p14="http://schemas.microsoft.com/office/powerpoint/2010/main" val="2624898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rtl="0"/>
            <a:r>
              <a:rPr lang="en-US" altLang="ar-SA" b="1" dirty="0" smtClean="0">
                <a:solidFill>
                  <a:srgbClr val="C00000"/>
                </a:solidFill>
              </a:rPr>
              <a:t>How should </a:t>
            </a:r>
            <a:r>
              <a:rPr lang="en-US" altLang="ar-SA" b="1" i="1" dirty="0" smtClean="0">
                <a:solidFill>
                  <a:srgbClr val="002060"/>
                </a:solidFill>
              </a:rPr>
              <a:t>Bad News </a:t>
            </a:r>
            <a:r>
              <a:rPr lang="en-US" altLang="ar-SA" b="1" dirty="0" smtClean="0">
                <a:solidFill>
                  <a:srgbClr val="C00000"/>
                </a:solidFill>
              </a:rPr>
              <a:t>be delivered?</a:t>
            </a:r>
            <a:endParaRPr lang="ar-SA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95536" y="2492897"/>
            <a:ext cx="2016224" cy="11521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0">
              <a:buNone/>
            </a:pPr>
            <a:r>
              <a:rPr lang="en-US" sz="2400" b="1" dirty="0" smtClean="0"/>
              <a:t> Step 1, 2, 3 </a:t>
            </a:r>
          </a:p>
          <a:p>
            <a:pPr marL="0" indent="0" algn="ctr" rtl="0">
              <a:buNone/>
            </a:pPr>
            <a:r>
              <a:rPr lang="en-US" sz="2400" b="1" dirty="0" smtClean="0">
                <a:solidFill>
                  <a:srgbClr val="0070C0"/>
                </a:solidFill>
              </a:rPr>
              <a:t>Preparation</a:t>
            </a:r>
            <a:r>
              <a:rPr lang="en-US" sz="2400" b="1" dirty="0" smtClean="0"/>
              <a:t> </a:t>
            </a:r>
            <a:endParaRPr lang="ar-SA" sz="2400" b="1" dirty="0"/>
          </a:p>
        </p:txBody>
      </p:sp>
      <p:cxnSp>
        <p:nvCxnSpPr>
          <p:cNvPr id="6" name="Straight Arrow Connector 5"/>
          <p:cNvCxnSpPr>
            <a:endCxn id="8" idx="0"/>
          </p:cNvCxnSpPr>
          <p:nvPr/>
        </p:nvCxnSpPr>
        <p:spPr>
          <a:xfrm>
            <a:off x="4608004" y="1417638"/>
            <a:ext cx="0" cy="1147266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/>
          <p:cNvSpPr txBox="1">
            <a:spLocks/>
          </p:cNvSpPr>
          <p:nvPr/>
        </p:nvSpPr>
        <p:spPr>
          <a:xfrm>
            <a:off x="3347864" y="2564904"/>
            <a:ext cx="2520280" cy="11521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 vert="horz" lIns="91440" tIns="45720" rIns="91440" bIns="45720" rtlCol="1">
            <a:normAutofit fontScale="92500"/>
          </a:bodyPr>
          <a:lstStyle>
            <a:lvl1pPr marL="342900" indent="-3429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0">
              <a:buNone/>
            </a:pPr>
            <a:r>
              <a:rPr lang="en-US" sz="2400" b="1" dirty="0" smtClean="0"/>
              <a:t>Step 4 </a:t>
            </a:r>
          </a:p>
          <a:p>
            <a:pPr marL="0" indent="0" algn="ctr" rtl="0">
              <a:buNone/>
            </a:pPr>
            <a:r>
              <a:rPr lang="en-US" sz="2400" b="1" dirty="0" smtClean="0">
                <a:solidFill>
                  <a:srgbClr val="0070C0"/>
                </a:solidFill>
              </a:rPr>
              <a:t>Delivering the news  </a:t>
            </a:r>
            <a:endParaRPr lang="ar-SA" sz="2400" b="1" dirty="0">
              <a:solidFill>
                <a:srgbClr val="0070C0"/>
              </a:solidFill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6300192" y="2564904"/>
            <a:ext cx="2520280" cy="11521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 vert="horz" lIns="91440" tIns="45720" rIns="91440" bIns="45720" rtlCol="1">
            <a:normAutofit fontScale="85000" lnSpcReduction="10000"/>
          </a:bodyPr>
          <a:lstStyle>
            <a:lvl1pPr marL="342900" indent="-3429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0">
              <a:buNone/>
            </a:pPr>
            <a:r>
              <a:rPr lang="en-US" sz="2400" b="1" dirty="0" smtClean="0"/>
              <a:t>Step </a:t>
            </a:r>
            <a:r>
              <a:rPr lang="en-US" sz="2400" b="1" dirty="0" smtClean="0"/>
              <a:t>5, 6 </a:t>
            </a:r>
            <a:endParaRPr lang="en-US" sz="2400" b="1" dirty="0" smtClean="0"/>
          </a:p>
          <a:p>
            <a:pPr marL="0" indent="0" algn="ctr" rtl="0">
              <a:buNone/>
            </a:pPr>
            <a:r>
              <a:rPr lang="en-US" sz="2400" b="1" dirty="0" smtClean="0">
                <a:solidFill>
                  <a:srgbClr val="0070C0"/>
                </a:solidFill>
              </a:rPr>
              <a:t>Response to patient reaction &amp; care plan   </a:t>
            </a:r>
            <a:endParaRPr lang="ar-SA" sz="2400" b="1" dirty="0">
              <a:solidFill>
                <a:srgbClr val="0070C0"/>
              </a:solidFill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1475656" y="1417638"/>
            <a:ext cx="0" cy="1147266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7524328" y="1412776"/>
            <a:ext cx="0" cy="1147266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4005064"/>
            <a:ext cx="3600400" cy="259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83396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49027"/>
            <a:ext cx="8229600" cy="791741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b="1" dirty="0" smtClean="0">
                <a:solidFill>
                  <a:srgbClr val="0070C0"/>
                </a:solidFill>
              </a:rPr>
              <a:t>Steps of Preparation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395288" y="1700213"/>
            <a:ext cx="4824784" cy="3024931"/>
          </a:xfrm>
        </p:spPr>
        <p:txBody>
          <a:bodyPr>
            <a:noAutofit/>
          </a:bodyPr>
          <a:lstStyle/>
          <a:p>
            <a:pPr marL="0" indent="0" algn="l" rtl="0" eaLnBrk="1" hangingPunct="1">
              <a:lnSpc>
                <a:spcPct val="200000"/>
              </a:lnSpc>
              <a:buNone/>
            </a:pPr>
            <a:r>
              <a:rPr lang="en-GB" altLang="en-US" sz="3200" b="1" dirty="0" smtClean="0"/>
              <a:t>1.  Prepare </a:t>
            </a:r>
            <a:r>
              <a:rPr lang="en-GB" altLang="en-US" sz="3200" b="1" i="1" dirty="0" smtClean="0">
                <a:solidFill>
                  <a:srgbClr val="00B050"/>
                </a:solidFill>
              </a:rPr>
              <a:t>Yourself</a:t>
            </a:r>
          </a:p>
          <a:p>
            <a:pPr marL="0" indent="0" algn="l" rtl="0" eaLnBrk="1" hangingPunct="1">
              <a:lnSpc>
                <a:spcPct val="200000"/>
              </a:lnSpc>
              <a:buNone/>
            </a:pPr>
            <a:r>
              <a:rPr lang="en-GB" altLang="en-US" sz="3200" b="1" dirty="0" smtClean="0"/>
              <a:t>2.  Prepare </a:t>
            </a:r>
            <a:r>
              <a:rPr lang="en-GB" altLang="en-US" sz="3200" b="1" i="1" dirty="0" smtClean="0">
                <a:solidFill>
                  <a:srgbClr val="00B050"/>
                </a:solidFill>
              </a:rPr>
              <a:t>Your Setting</a:t>
            </a:r>
          </a:p>
          <a:p>
            <a:pPr marL="0" indent="0" algn="l" rtl="0" eaLnBrk="1" hangingPunct="1">
              <a:lnSpc>
                <a:spcPct val="200000"/>
              </a:lnSpc>
              <a:buNone/>
            </a:pPr>
            <a:r>
              <a:rPr lang="en-GB" altLang="en-US" sz="3200" b="1" dirty="0" smtClean="0"/>
              <a:t>3.  Prepare </a:t>
            </a:r>
            <a:r>
              <a:rPr lang="en-GB" altLang="en-US" sz="3200" b="1" i="1" dirty="0" smtClean="0">
                <a:solidFill>
                  <a:srgbClr val="00B050"/>
                </a:solidFill>
              </a:rPr>
              <a:t>Your Patient</a:t>
            </a:r>
          </a:p>
          <a:p>
            <a:pPr marL="609600" indent="-609600" algn="l" rtl="0" eaLnBrk="1" hangingPunct="1">
              <a:lnSpc>
                <a:spcPct val="90000"/>
              </a:lnSpc>
            </a:pPr>
            <a:endParaRPr lang="en-GB" altLang="en-US" sz="3600" b="1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2329632"/>
            <a:ext cx="3384376" cy="3691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41639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648"/>
            <a:ext cx="8229600" cy="1224136"/>
          </a:xfrm>
        </p:spPr>
        <p:txBody>
          <a:bodyPr>
            <a:normAutofit fontScale="90000"/>
          </a:bodyPr>
          <a:lstStyle/>
          <a:p>
            <a:pPr algn="ctr" rtl="0" eaLnBrk="1" fontAlgn="auto" hangingPunct="1">
              <a:spcAft>
                <a:spcPts val="0"/>
              </a:spcAft>
              <a:defRPr/>
            </a:pPr>
            <a:r>
              <a:rPr lang="en-GB" altLang="en-US" sz="4900" b="1" dirty="0" smtClean="0">
                <a:solidFill>
                  <a:srgbClr val="0070C0"/>
                </a:solidFill>
              </a:rPr>
              <a:t>Preparation</a:t>
            </a:r>
            <a:r>
              <a:rPr lang="en-GB" altLang="en-US" sz="3200" b="1" dirty="0" smtClean="0"/>
              <a:t/>
            </a:r>
            <a:br>
              <a:rPr lang="en-GB" altLang="en-US" sz="3200" b="1" dirty="0" smtClean="0"/>
            </a:br>
            <a:r>
              <a:rPr lang="en-GB" altLang="en-US" sz="3600" b="1" dirty="0" smtClean="0">
                <a:solidFill>
                  <a:srgbClr val="00B050"/>
                </a:solidFill>
              </a:rPr>
              <a:t>1. (Prepare Yourself) </a:t>
            </a:r>
            <a:endParaRPr lang="en-GB" altLang="en-US" sz="3600" b="1" dirty="0">
              <a:solidFill>
                <a:srgbClr val="00B050"/>
              </a:solidFill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1916832"/>
            <a:ext cx="7920880" cy="4464496"/>
          </a:xfrm>
        </p:spPr>
        <p:txBody>
          <a:bodyPr>
            <a:noAutofit/>
          </a:bodyPr>
          <a:lstStyle/>
          <a:p>
            <a:pPr marL="274320" indent="-274320" algn="l" rtl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GB" altLang="en-US" b="1" dirty="0" smtClean="0">
                <a:latin typeface="+mj-lt"/>
              </a:rPr>
              <a:t>Review the patient's history and know about possible management </a:t>
            </a:r>
          </a:p>
          <a:p>
            <a:pPr marL="274320" indent="-274320" algn="l" rtl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GB" altLang="en-US" b="1" dirty="0" smtClean="0">
                <a:latin typeface="+mj-lt"/>
              </a:rPr>
              <a:t>Practice the interview for possible questions and answers</a:t>
            </a:r>
          </a:p>
          <a:p>
            <a:pPr marL="274320" indent="-274320" algn="l" rtl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pPr>
            <a:r>
              <a:rPr lang="en-GB" altLang="en-US" b="1" dirty="0" smtClean="0">
                <a:latin typeface="+mj-lt"/>
              </a:rPr>
              <a:t>Relatives can be present, but , follow the patient’s wish</a:t>
            </a:r>
          </a:p>
        </p:txBody>
      </p:sp>
    </p:spTree>
    <p:extLst>
      <p:ext uri="{BB962C8B-B14F-4D97-AF65-F5344CB8AC3E}">
        <p14:creationId xmlns:p14="http://schemas.microsoft.com/office/powerpoint/2010/main" val="2070662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403648" y="476672"/>
            <a:ext cx="6480720" cy="1152103"/>
          </a:xfrm>
        </p:spPr>
        <p:txBody>
          <a:bodyPr>
            <a:noAutofit/>
          </a:bodyPr>
          <a:lstStyle/>
          <a:p>
            <a:pPr algn="ctr" rtl="0" eaLnBrk="1" fontAlgn="auto" hangingPunct="1">
              <a:spcAft>
                <a:spcPts val="0"/>
              </a:spcAft>
              <a:defRPr/>
            </a:pPr>
            <a:r>
              <a:rPr lang="en-GB" altLang="en-US" b="1" dirty="0" smtClean="0">
                <a:solidFill>
                  <a:srgbClr val="0070C0"/>
                </a:solidFill>
              </a:rPr>
              <a:t>Preparation</a:t>
            </a:r>
            <a:r>
              <a:rPr lang="en-GB" altLang="en-US" sz="3600" b="1" dirty="0" smtClean="0">
                <a:solidFill>
                  <a:srgbClr val="C00000"/>
                </a:solidFill>
              </a:rPr>
              <a:t/>
            </a:r>
            <a:br>
              <a:rPr lang="en-GB" altLang="en-US" sz="3600" b="1" dirty="0" smtClean="0">
                <a:solidFill>
                  <a:srgbClr val="C00000"/>
                </a:solidFill>
              </a:rPr>
            </a:br>
            <a:r>
              <a:rPr lang="en-GB" altLang="en-US" sz="3200" b="1" dirty="0" smtClean="0">
                <a:solidFill>
                  <a:srgbClr val="00B050"/>
                </a:solidFill>
              </a:rPr>
              <a:t>2. (Prepare </a:t>
            </a:r>
            <a:r>
              <a:rPr lang="en-GB" altLang="en-US" sz="3200" b="1" dirty="0">
                <a:solidFill>
                  <a:srgbClr val="00B050"/>
                </a:solidFill>
              </a:rPr>
              <a:t>Your </a:t>
            </a:r>
            <a:r>
              <a:rPr lang="en-GB" altLang="en-US" sz="3200" b="1" dirty="0" smtClean="0">
                <a:solidFill>
                  <a:srgbClr val="00B050"/>
                </a:solidFill>
              </a:rPr>
              <a:t>Setting) </a:t>
            </a:r>
            <a:endParaRPr lang="en-GB" altLang="en-US" sz="3200" b="1" dirty="0">
              <a:solidFill>
                <a:srgbClr val="00B050"/>
              </a:solidFill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611560" y="1916832"/>
            <a:ext cx="7992888" cy="4392488"/>
          </a:xfrm>
        </p:spPr>
        <p:txBody>
          <a:bodyPr>
            <a:noAutofit/>
          </a:bodyPr>
          <a:lstStyle/>
          <a:p>
            <a:pPr marL="274320" indent="-274320" algn="l" rtl="0" eaLnBrk="1" fontAlgn="auto" hangingPunct="1">
              <a:lnSpc>
                <a:spcPct val="150000"/>
              </a:lnSpc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en-GB" altLang="en-US" sz="3600" b="1" dirty="0" smtClean="0">
                <a:latin typeface="+mj-lt"/>
              </a:rPr>
              <a:t>Arrange to meet in a quiet </a:t>
            </a:r>
            <a:r>
              <a:rPr lang="en-GB" altLang="en-US" sz="3600" b="1" dirty="0">
                <a:latin typeface="+mj-lt"/>
              </a:rPr>
              <a:t>room.</a:t>
            </a:r>
          </a:p>
          <a:p>
            <a:pPr marL="274320" indent="-274320" algn="l" rtl="0" eaLnBrk="1" fontAlgn="auto" hangingPunct="1">
              <a:lnSpc>
                <a:spcPct val="150000"/>
              </a:lnSpc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en-GB" altLang="en-US" sz="3600" b="1" dirty="0" smtClean="0">
                <a:latin typeface="+mj-lt"/>
              </a:rPr>
              <a:t>Make sure that you </a:t>
            </a:r>
            <a:r>
              <a:rPr lang="en-GB" altLang="en-US" sz="3600" b="1" dirty="0">
                <a:latin typeface="+mj-lt"/>
              </a:rPr>
              <a:t>are not going to be disturbed. </a:t>
            </a:r>
          </a:p>
          <a:p>
            <a:pPr marL="274320" indent="-274320" algn="l" rtl="0" eaLnBrk="1" fontAlgn="auto" hangingPunct="1">
              <a:lnSpc>
                <a:spcPct val="150000"/>
              </a:lnSpc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en-GB" altLang="en-US" sz="3600" b="1" dirty="0">
                <a:latin typeface="+mj-lt"/>
              </a:rPr>
              <a:t>If </a:t>
            </a:r>
            <a:r>
              <a:rPr lang="en-GB" altLang="en-US" sz="3600" b="1" dirty="0" smtClean="0">
                <a:latin typeface="+mj-lt"/>
              </a:rPr>
              <a:t>recently </a:t>
            </a:r>
            <a:r>
              <a:rPr lang="en-GB" altLang="en-US" sz="3600" b="1" dirty="0">
                <a:latin typeface="+mj-lt"/>
              </a:rPr>
              <a:t>examined </a:t>
            </a:r>
            <a:r>
              <a:rPr lang="en-GB" altLang="en-US" sz="3600" b="1" dirty="0" smtClean="0">
                <a:latin typeface="+mj-lt"/>
              </a:rPr>
              <a:t>allow him/her to </a:t>
            </a:r>
            <a:r>
              <a:rPr lang="en-GB" altLang="en-US" sz="3600" b="1" dirty="0">
                <a:latin typeface="+mj-lt"/>
              </a:rPr>
              <a:t>dress before </a:t>
            </a:r>
            <a:r>
              <a:rPr lang="en-GB" altLang="en-US" sz="3600" b="1" dirty="0" smtClean="0">
                <a:latin typeface="+mj-lt"/>
              </a:rPr>
              <a:t>the interview</a:t>
            </a:r>
            <a:r>
              <a:rPr lang="en-GB" altLang="en-US" sz="3600" b="1" dirty="0">
                <a:latin typeface="+mj-lt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153154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 thruBlk="1"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 rtl="0" eaLnBrk="1" hangingPunct="1"/>
            <a:r>
              <a:rPr lang="en-GB" altLang="en-US" b="1" dirty="0" smtClean="0">
                <a:solidFill>
                  <a:srgbClr val="0070C0"/>
                </a:solidFill>
              </a:rPr>
              <a:t>Preparation</a:t>
            </a:r>
            <a:r>
              <a:rPr lang="en-GB" altLang="en-US" sz="3600" b="1" dirty="0" smtClean="0"/>
              <a:t/>
            </a:r>
            <a:br>
              <a:rPr lang="en-GB" altLang="en-US" sz="3600" b="1" dirty="0" smtClean="0"/>
            </a:br>
            <a:r>
              <a:rPr lang="en-GB" altLang="en-US" sz="3200" b="1" dirty="0" smtClean="0">
                <a:solidFill>
                  <a:srgbClr val="00B050"/>
                </a:solidFill>
              </a:rPr>
              <a:t>3.(Prepare Your Patient)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301624" y="1916833"/>
            <a:ext cx="7798767" cy="4249018"/>
          </a:xfrm>
        </p:spPr>
        <p:txBody>
          <a:bodyPr>
            <a:noAutofit/>
          </a:bodyPr>
          <a:lstStyle/>
          <a:p>
            <a:pPr marL="0" indent="-274320" algn="l" rtl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 2" pitchFamily="18" charset="2"/>
              <a:buNone/>
              <a:defRPr/>
            </a:pPr>
            <a:r>
              <a:rPr lang="en-GB" altLang="en-US" sz="3600" b="1" dirty="0" smtClean="0"/>
              <a:t> </a:t>
            </a:r>
            <a:r>
              <a:rPr lang="en-GB" altLang="en-US" sz="3600" b="1" i="1" dirty="0">
                <a:solidFill>
                  <a:srgbClr val="C00000"/>
                </a:solidFill>
              </a:rPr>
              <a:t>T</a:t>
            </a:r>
            <a:r>
              <a:rPr lang="en-GB" altLang="en-US" sz="3600" b="1" i="1" dirty="0" smtClean="0">
                <a:solidFill>
                  <a:srgbClr val="C00000"/>
                </a:solidFill>
              </a:rPr>
              <a:t>ry first to focus on </a:t>
            </a:r>
            <a:r>
              <a:rPr lang="en-GB" altLang="en-US" sz="3600" b="1" dirty="0" smtClean="0">
                <a:solidFill>
                  <a:srgbClr val="0070C0"/>
                </a:solidFill>
              </a:rPr>
              <a:t>;</a:t>
            </a:r>
          </a:p>
          <a:p>
            <a:pPr marL="0" indent="-274320" algn="l" rtl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GB" altLang="en-US" sz="3600" b="1" dirty="0" smtClean="0"/>
              <a:t>What do they know already? </a:t>
            </a:r>
          </a:p>
          <a:p>
            <a:pPr marL="0" indent="-274320" algn="l" rtl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GB" altLang="en-US" sz="3600" b="1" dirty="0" smtClean="0"/>
              <a:t>What do they want to know? </a:t>
            </a:r>
          </a:p>
          <a:p>
            <a:pPr marL="0" indent="0" algn="l" rtl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GB" altLang="en-US" sz="3600" b="1" dirty="0" smtClean="0"/>
              <a:t> Some patients do not want details</a:t>
            </a:r>
          </a:p>
          <a:p>
            <a:pPr marL="0" indent="0" algn="l" rtl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GB" altLang="en-US" sz="3600" b="1" dirty="0" smtClean="0"/>
              <a:t>  Always build up gradually.</a:t>
            </a:r>
          </a:p>
          <a:p>
            <a:pPr marL="0" indent="-274320" algn="l" rtl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en-GB" altLang="en-US" sz="3600" b="1" dirty="0" smtClean="0"/>
          </a:p>
        </p:txBody>
      </p:sp>
    </p:spTree>
    <p:extLst>
      <p:ext uri="{BB962C8B-B14F-4D97-AF65-F5344CB8AC3E}">
        <p14:creationId xmlns:p14="http://schemas.microsoft.com/office/powerpoint/2010/main" val="2645084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475656" y="260648"/>
            <a:ext cx="6192688" cy="792162"/>
          </a:xfrm>
        </p:spPr>
        <p:txBody>
          <a:bodyPr>
            <a:normAutofit/>
          </a:bodyPr>
          <a:lstStyle/>
          <a:p>
            <a:pPr algn="ctr" rtl="0" eaLnBrk="1" hangingPunct="1"/>
            <a:r>
              <a:rPr lang="en-GB" altLang="en-US" b="1" dirty="0" smtClean="0">
                <a:solidFill>
                  <a:srgbClr val="0070C0"/>
                </a:solidFill>
              </a:rPr>
              <a:t>Delivering the News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772816"/>
            <a:ext cx="8699500" cy="4968552"/>
          </a:xfrm>
        </p:spPr>
        <p:txBody>
          <a:bodyPr>
            <a:noAutofit/>
          </a:bodyPr>
          <a:lstStyle/>
          <a:p>
            <a:pPr algn="l" rtl="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GB" altLang="en-US" b="1" dirty="0" smtClean="0">
                <a:latin typeface="+mj-lt"/>
              </a:rPr>
              <a:t>Use simple language, listen, follow verbal and non-verbal cues.</a:t>
            </a:r>
          </a:p>
          <a:p>
            <a:pPr algn="l" rtl="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en-GB" altLang="en-US" b="1" dirty="0" smtClean="0">
              <a:latin typeface="+mj-lt"/>
            </a:endParaRPr>
          </a:p>
          <a:p>
            <a:pPr algn="l" rtl="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GB" altLang="en-US" b="1" dirty="0" smtClean="0">
                <a:latin typeface="+mj-lt"/>
              </a:rPr>
              <a:t>Be at level of understanding and vocabulary of the patient. </a:t>
            </a:r>
          </a:p>
          <a:p>
            <a:pPr algn="l" rtl="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en-GB" altLang="en-US" b="1" dirty="0" smtClean="0">
              <a:latin typeface="+mj-lt"/>
            </a:endParaRPr>
          </a:p>
          <a:p>
            <a:pPr algn="l" rtl="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GB" altLang="en-US" b="1" dirty="0" smtClean="0">
                <a:latin typeface="+mj-lt"/>
              </a:rPr>
              <a:t>Avoid excessive bluntness, it may leave the patient isolated .</a:t>
            </a:r>
          </a:p>
          <a:p>
            <a:pPr algn="l" rtl="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en-GB" altLang="en-US" b="1" dirty="0">
              <a:latin typeface="+mj-lt"/>
            </a:endParaRPr>
          </a:p>
          <a:p>
            <a:pPr algn="l" rtl="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GB" altLang="en-US" b="1" dirty="0" smtClean="0">
                <a:latin typeface="+mj-lt"/>
              </a:rPr>
              <a:t>Set the tone. e.g. "</a:t>
            </a:r>
            <a:r>
              <a:rPr lang="en-GB" altLang="en-US" b="1" i="1" dirty="0" smtClean="0">
                <a:latin typeface="+mj-lt"/>
              </a:rPr>
              <a:t>I am afraid I have some bad news</a:t>
            </a:r>
            <a:r>
              <a:rPr lang="en-GB" altLang="en-US" b="1" dirty="0" smtClean="0">
                <a:latin typeface="+mj-lt"/>
              </a:rPr>
              <a:t>"</a:t>
            </a:r>
          </a:p>
        </p:txBody>
      </p:sp>
      <p:sp>
        <p:nvSpPr>
          <p:cNvPr id="2" name="Rectangle 1"/>
          <p:cNvSpPr/>
          <p:nvPr/>
        </p:nvSpPr>
        <p:spPr>
          <a:xfrm>
            <a:off x="1644650" y="1052736"/>
            <a:ext cx="5545138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rtl="0" eaLnBrk="1" fontAlgn="auto" hangingPunct="1">
              <a:spcAft>
                <a:spcPts val="0"/>
              </a:spcAft>
              <a:defRPr/>
            </a:pPr>
            <a:r>
              <a:rPr lang="en-GB" altLang="en-US" sz="3200" b="1" dirty="0">
                <a:solidFill>
                  <a:srgbClr val="00B050"/>
                </a:solidFill>
                <a:latin typeface="Calibri"/>
                <a:ea typeface="+mj-ea"/>
                <a:cs typeface="+mj-cs"/>
              </a:rPr>
              <a:t>Always Remember to;</a:t>
            </a:r>
          </a:p>
        </p:txBody>
      </p:sp>
    </p:spTree>
    <p:extLst>
      <p:ext uri="{BB962C8B-B14F-4D97-AF65-F5344CB8AC3E}">
        <p14:creationId xmlns:p14="http://schemas.microsoft.com/office/powerpoint/2010/main" val="412588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323528" y="620688"/>
            <a:ext cx="8447087" cy="5280248"/>
          </a:xfrm>
        </p:spPr>
        <p:txBody>
          <a:bodyPr>
            <a:noAutofit/>
          </a:bodyPr>
          <a:lstStyle/>
          <a:p>
            <a:pPr marL="182880" indent="-457200" algn="l" rtl="0" eaLnBrk="1" fontAlgn="auto" hangingPunct="1">
              <a:lnSpc>
                <a:spcPct val="110000"/>
              </a:lnSpc>
              <a:spcBef>
                <a:spcPts val="0"/>
              </a:spcBef>
              <a:buFont typeface="Wingdings" pitchFamily="2" charset="2"/>
              <a:buChar char="§"/>
              <a:defRPr/>
            </a:pPr>
            <a:r>
              <a:rPr lang="en-GB" altLang="en-US" sz="3200" b="1" dirty="0" smtClean="0"/>
              <a:t>Give the information in small sentences </a:t>
            </a:r>
          </a:p>
          <a:p>
            <a:pPr marL="0" algn="l" rtl="0">
              <a:lnSpc>
                <a:spcPct val="110000"/>
              </a:lnSpc>
              <a:spcBef>
                <a:spcPts val="0"/>
              </a:spcBef>
              <a:buFont typeface="Wingdings" pitchFamily="2" charset="2"/>
              <a:buChar char="§"/>
              <a:defRPr/>
            </a:pPr>
            <a:endParaRPr lang="en-GB" altLang="en-US" sz="1800" b="1" dirty="0" smtClean="0"/>
          </a:p>
          <a:p>
            <a:pPr marL="114300" indent="-457200" algn="l" rtl="0">
              <a:lnSpc>
                <a:spcPct val="110000"/>
              </a:lnSpc>
              <a:spcBef>
                <a:spcPts val="0"/>
              </a:spcBef>
              <a:buSzPct val="108000"/>
              <a:buFont typeface="Wingdings" pitchFamily="2" charset="2"/>
              <a:buChar char="§"/>
              <a:defRPr/>
            </a:pPr>
            <a:r>
              <a:rPr lang="en-GB" altLang="en-US" sz="3200" b="1" dirty="0"/>
              <a:t>Avoid using </a:t>
            </a:r>
            <a:r>
              <a:rPr lang="en-GB" altLang="en-US" sz="3200" b="1" dirty="0" smtClean="0"/>
              <a:t>hopelessness terms </a:t>
            </a:r>
          </a:p>
          <a:p>
            <a:pPr algn="l" rtl="0" eaLnBrk="1" fontAlgn="auto" hangingPunct="1">
              <a:lnSpc>
                <a:spcPct val="110000"/>
              </a:lnSpc>
              <a:spcBef>
                <a:spcPts val="0"/>
              </a:spcBef>
              <a:buFont typeface="Wingdings" pitchFamily="2" charset="2"/>
              <a:buChar char="§"/>
              <a:defRPr/>
            </a:pPr>
            <a:endParaRPr lang="en-GB" altLang="en-US" sz="1800" b="1" dirty="0" smtClean="0"/>
          </a:p>
          <a:p>
            <a:pPr marL="182880" indent="-457200" algn="l" rtl="0" eaLnBrk="1" fontAlgn="auto" hangingPunct="1">
              <a:lnSpc>
                <a:spcPct val="110000"/>
              </a:lnSpc>
              <a:spcBef>
                <a:spcPts val="0"/>
              </a:spcBef>
              <a:buFont typeface="Wingdings" pitchFamily="2" charset="2"/>
              <a:buChar char="§"/>
              <a:defRPr/>
            </a:pPr>
            <a:r>
              <a:rPr lang="en-GB" altLang="en-US" sz="3200" b="1" dirty="0" smtClean="0"/>
              <a:t>Be truthful, gentle and courteous</a:t>
            </a:r>
          </a:p>
          <a:p>
            <a:pPr marL="11430" indent="-285750" algn="l" rtl="0" eaLnBrk="1" fontAlgn="auto" hangingPunct="1">
              <a:lnSpc>
                <a:spcPct val="110000"/>
              </a:lnSpc>
              <a:spcBef>
                <a:spcPts val="0"/>
              </a:spcBef>
              <a:buFont typeface="Wingdings" pitchFamily="2" charset="2"/>
              <a:buChar char="§"/>
              <a:defRPr/>
            </a:pPr>
            <a:endParaRPr lang="en-GB" altLang="en-US" sz="1800" b="1" dirty="0" smtClean="0"/>
          </a:p>
          <a:p>
            <a:pPr marL="182880" indent="-457200" algn="l" rtl="0" eaLnBrk="1" fontAlgn="auto" hangingPunct="1">
              <a:lnSpc>
                <a:spcPct val="110000"/>
              </a:lnSpc>
              <a:spcBef>
                <a:spcPts val="0"/>
              </a:spcBef>
              <a:buFont typeface="Wingdings" pitchFamily="2" charset="2"/>
              <a:buChar char="§"/>
              <a:defRPr/>
            </a:pPr>
            <a:r>
              <a:rPr lang="en-GB" altLang="en-US" sz="3200" b="1" dirty="0" smtClean="0"/>
              <a:t>Offer hope</a:t>
            </a:r>
          </a:p>
          <a:p>
            <a:pPr marL="11430" indent="-285750" algn="l" rtl="0" eaLnBrk="1" fontAlgn="auto" hangingPunct="1">
              <a:lnSpc>
                <a:spcPct val="110000"/>
              </a:lnSpc>
              <a:spcBef>
                <a:spcPts val="0"/>
              </a:spcBef>
              <a:buFont typeface="Wingdings" pitchFamily="2" charset="2"/>
              <a:buChar char="§"/>
              <a:defRPr/>
            </a:pPr>
            <a:endParaRPr lang="en-GB" altLang="en-US" sz="1800" b="1" dirty="0" smtClean="0"/>
          </a:p>
          <a:p>
            <a:pPr marL="182880" indent="-457200" algn="l" rtl="0" eaLnBrk="1" fontAlgn="auto" hangingPunct="1">
              <a:lnSpc>
                <a:spcPct val="110000"/>
              </a:lnSpc>
              <a:spcBef>
                <a:spcPts val="0"/>
              </a:spcBef>
              <a:buFont typeface="Wingdings" pitchFamily="2" charset="2"/>
              <a:buChar char="§"/>
              <a:defRPr/>
            </a:pPr>
            <a:r>
              <a:rPr lang="en-GB" altLang="en-US" sz="3200" b="1" dirty="0" smtClean="0"/>
              <a:t>Emphasize the positive</a:t>
            </a:r>
          </a:p>
          <a:p>
            <a:pPr algn="l" rtl="0" eaLnBrk="1" fontAlgn="auto" hangingPunct="1">
              <a:lnSpc>
                <a:spcPct val="110000"/>
              </a:lnSpc>
              <a:spcBef>
                <a:spcPts val="0"/>
              </a:spcBef>
              <a:buFont typeface="Wingdings" pitchFamily="2" charset="2"/>
              <a:buChar char="§"/>
              <a:defRPr/>
            </a:pPr>
            <a:endParaRPr lang="en-GB" altLang="en-US" sz="1800" b="1" dirty="0" smtClean="0"/>
          </a:p>
          <a:p>
            <a:pPr marL="182880" indent="-457200" algn="l" rtl="0" eaLnBrk="1" fontAlgn="auto" hangingPunct="1">
              <a:lnSpc>
                <a:spcPct val="110000"/>
              </a:lnSpc>
              <a:spcBef>
                <a:spcPts val="0"/>
              </a:spcBef>
              <a:buFont typeface="Wingdings" pitchFamily="2" charset="2"/>
              <a:buChar char="§"/>
              <a:defRPr/>
            </a:pPr>
            <a:r>
              <a:rPr lang="en-GB" altLang="en-US" sz="3200" b="1" dirty="0" smtClean="0"/>
              <a:t>Allow questions</a:t>
            </a:r>
            <a:r>
              <a:rPr lang="en-GB" altLang="en-US" sz="3600" b="1" dirty="0" smtClean="0"/>
              <a:t>.</a:t>
            </a:r>
          </a:p>
          <a:p>
            <a:pPr marL="0" indent="-274320" algn="l" rtl="0" eaLnBrk="1" fontAlgn="auto" hangingPunct="1">
              <a:lnSpc>
                <a:spcPct val="80000"/>
              </a:lnSpc>
              <a:spcBef>
                <a:spcPts val="0"/>
              </a:spcBef>
              <a:buClr>
                <a:schemeClr val="accent3"/>
              </a:buClr>
              <a:buFont typeface="Wingdings 2"/>
              <a:buChar char=""/>
              <a:defRPr/>
            </a:pPr>
            <a:endParaRPr lang="en-GB" altLang="en-US" sz="3600" b="1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3212976"/>
            <a:ext cx="3384376" cy="3384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09105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827584" y="188640"/>
            <a:ext cx="7560840" cy="648072"/>
          </a:xfrm>
        </p:spPr>
        <p:txBody>
          <a:bodyPr>
            <a:noAutofit/>
          </a:bodyPr>
          <a:lstStyle/>
          <a:p>
            <a:pPr algn="ctr" rtl="0" eaLnBrk="1" fontAlgn="auto" hangingPunct="1">
              <a:spcAft>
                <a:spcPts val="0"/>
              </a:spcAft>
              <a:defRPr/>
            </a:pPr>
            <a:r>
              <a:rPr lang="en-US" altLang="en-US" sz="4000" b="1" dirty="0" smtClean="0">
                <a:solidFill>
                  <a:srgbClr val="0070C0"/>
                </a:solidFill>
              </a:rPr>
              <a:t>Response </a:t>
            </a:r>
            <a:r>
              <a:rPr lang="en-US" altLang="en-US" sz="4000" b="1" dirty="0">
                <a:solidFill>
                  <a:srgbClr val="0070C0"/>
                </a:solidFill>
              </a:rPr>
              <a:t>to </a:t>
            </a:r>
            <a:r>
              <a:rPr lang="en-US" altLang="en-US" sz="4000" b="1" dirty="0" smtClean="0">
                <a:solidFill>
                  <a:srgbClr val="0070C0"/>
                </a:solidFill>
              </a:rPr>
              <a:t>Reaction </a:t>
            </a:r>
            <a:r>
              <a:rPr lang="en-US" altLang="en-US" sz="4000" b="1" dirty="0">
                <a:solidFill>
                  <a:srgbClr val="0070C0"/>
                </a:solidFill>
              </a:rPr>
              <a:t>&amp; Care Plan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196752"/>
            <a:ext cx="8785225" cy="5256584"/>
          </a:xfrm>
        </p:spPr>
        <p:txBody>
          <a:bodyPr>
            <a:normAutofit fontScale="77500" lnSpcReduction="20000"/>
          </a:bodyPr>
          <a:lstStyle/>
          <a:p>
            <a:pPr marL="0" indent="0" algn="l" rtl="0" eaLnBrk="1" fontAlgn="auto" hangingPunct="1">
              <a:lnSpc>
                <a:spcPct val="12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GB" altLang="en-US" sz="3100" b="1" dirty="0" smtClean="0"/>
              <a:t>    </a:t>
            </a:r>
            <a:r>
              <a:rPr lang="en-GB" altLang="en-US" sz="4100" b="1" i="1" dirty="0" smtClean="0">
                <a:solidFill>
                  <a:srgbClr val="00B050"/>
                </a:solidFill>
              </a:rPr>
              <a:t>Respond </a:t>
            </a:r>
            <a:r>
              <a:rPr lang="en-GB" altLang="en-US" sz="4100" b="1" i="1" dirty="0">
                <a:solidFill>
                  <a:srgbClr val="00B050"/>
                </a:solidFill>
              </a:rPr>
              <a:t>to Patient &amp; Family Feelings</a:t>
            </a:r>
            <a:endParaRPr lang="en-GB" altLang="en-US" sz="4100" i="1" dirty="0" smtClean="0">
              <a:solidFill>
                <a:srgbClr val="00B050"/>
              </a:solidFill>
            </a:endParaRPr>
          </a:p>
          <a:p>
            <a:pPr algn="just" rtl="0" eaLnBrk="1" fontAlgn="auto" hangingPunct="1">
              <a:lnSpc>
                <a:spcPct val="200000"/>
              </a:lnSpc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GB" altLang="en-US" sz="3600" b="1" dirty="0" smtClean="0"/>
              <a:t>Acknowledge the emotions experienced by the patient and if a patient is silent use open questions, e.g.</a:t>
            </a:r>
          </a:p>
          <a:p>
            <a:pPr marL="0" indent="0" algn="ctr" rtl="0" eaLnBrk="1" fontAlgn="auto" hangingPunct="1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GB" altLang="en-US" sz="3600" b="1" dirty="0" smtClean="0"/>
              <a:t> "</a:t>
            </a:r>
            <a:r>
              <a:rPr lang="en-GB" altLang="en-US" sz="3600" b="1" i="1" dirty="0" smtClean="0"/>
              <a:t>How are you feeling now</a:t>
            </a:r>
            <a:r>
              <a:rPr lang="en-GB" altLang="en-US" sz="3600" b="1" dirty="0" smtClean="0"/>
              <a:t>?“</a:t>
            </a:r>
          </a:p>
          <a:p>
            <a:pPr algn="just" rtl="0" eaLnBrk="1" fontAlgn="auto" hangingPunct="1">
              <a:lnSpc>
                <a:spcPct val="200000"/>
              </a:lnSpc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GB" altLang="en-US" sz="3600" b="1" dirty="0" smtClean="0"/>
              <a:t>Allow the patient and family time to express their emotions and let the patient know you understand and acknowledge their emotions. </a:t>
            </a:r>
          </a:p>
        </p:txBody>
      </p:sp>
    </p:spTree>
    <p:extLst>
      <p:ext uri="{BB962C8B-B14F-4D97-AF65-F5344CB8AC3E}">
        <p14:creationId xmlns:p14="http://schemas.microsoft.com/office/powerpoint/2010/main" val="375015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250824" y="620688"/>
            <a:ext cx="8425631" cy="5760640"/>
          </a:xfrm>
        </p:spPr>
        <p:txBody>
          <a:bodyPr>
            <a:noAutofit/>
          </a:bodyPr>
          <a:lstStyle/>
          <a:p>
            <a:pPr algn="l" rtl="0" eaLnBrk="1" fontAlgn="auto" hangingPunct="1"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altLang="en-US" sz="3600" b="1" dirty="0" smtClean="0"/>
              <a:t>Don't leave the patient confused</a:t>
            </a:r>
          </a:p>
          <a:p>
            <a:pPr algn="l" rtl="0" eaLnBrk="1" fontAlgn="auto" hangingPunct="1"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GB" altLang="en-US" sz="3600" b="1" dirty="0" smtClean="0"/>
              <a:t>Provide a clear care plan with treatment options  </a:t>
            </a:r>
          </a:p>
          <a:p>
            <a:pPr algn="l" rtl="0" eaLnBrk="1" fontAlgn="auto" hangingPunct="1"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GB" altLang="en-US" sz="3600" b="1" dirty="0" smtClean="0"/>
              <a:t>Identify support systems; involve relatives and friends.</a:t>
            </a:r>
          </a:p>
          <a:p>
            <a:pPr algn="l" rtl="0" eaLnBrk="1" fontAlgn="auto" hangingPunct="1"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GB" altLang="en-US" sz="3600" b="1" dirty="0" smtClean="0"/>
              <a:t>Offer to meet and talk to the family if not present. </a:t>
            </a:r>
          </a:p>
          <a:p>
            <a:pPr algn="l" rtl="0" eaLnBrk="1" fontAlgn="auto" hangingPunct="1"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GB" altLang="en-US" sz="3600" b="1" dirty="0" smtClean="0"/>
              <a:t>Make written materials available.</a:t>
            </a:r>
          </a:p>
          <a:p>
            <a:pPr algn="l" rtl="0" eaLnBrk="1" fontAlgn="auto" hangingPunct="1"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GB" altLang="en-US" sz="3600" b="1" dirty="0" smtClean="0"/>
              <a:t>Summarise.</a:t>
            </a:r>
          </a:p>
        </p:txBody>
      </p:sp>
    </p:spTree>
    <p:extLst>
      <p:ext uri="{BB962C8B-B14F-4D97-AF65-F5344CB8AC3E}">
        <p14:creationId xmlns:p14="http://schemas.microsoft.com/office/powerpoint/2010/main" val="1344164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1835695" y="476250"/>
            <a:ext cx="5616625" cy="720502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GB" altLang="en-US" b="1" dirty="0" smtClean="0"/>
              <a:t>What </a:t>
            </a:r>
            <a:r>
              <a:rPr lang="en-GB" altLang="en-US" b="1" i="1" dirty="0" smtClean="0">
                <a:solidFill>
                  <a:srgbClr val="C00000"/>
                </a:solidFill>
              </a:rPr>
              <a:t>Not to Do </a:t>
            </a:r>
            <a:r>
              <a:rPr lang="en-GB" altLang="en-US" b="1" dirty="0" smtClean="0"/>
              <a:t>?</a:t>
            </a:r>
            <a:endParaRPr lang="en-US" altLang="en-US" b="1" dirty="0" smtClean="0"/>
          </a:p>
        </p:txBody>
      </p:sp>
      <p:pic>
        <p:nvPicPr>
          <p:cNvPr id="27651" name="Picture 4" descr="C:\Users\user\Desktop\1227105573778_BadNews.gif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7545" y="1412875"/>
            <a:ext cx="8021136" cy="4895850"/>
          </a:xfrm>
          <a:noFill/>
        </p:spPr>
      </p:pic>
    </p:spTree>
    <p:extLst>
      <p:ext uri="{BB962C8B-B14F-4D97-AF65-F5344CB8AC3E}">
        <p14:creationId xmlns:p14="http://schemas.microsoft.com/office/powerpoint/2010/main" val="354551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648"/>
            <a:ext cx="8229600" cy="636588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GB" altLang="en-US" b="1" dirty="0" smtClean="0">
                <a:solidFill>
                  <a:srgbClr val="C00000"/>
                </a:solidFill>
              </a:rPr>
              <a:t>What </a:t>
            </a:r>
            <a:r>
              <a:rPr lang="en-GB" altLang="en-US" b="1" i="1" dirty="0" smtClean="0">
                <a:solidFill>
                  <a:srgbClr val="0070C0"/>
                </a:solidFill>
              </a:rPr>
              <a:t>Not to Do </a:t>
            </a:r>
            <a:r>
              <a:rPr lang="en-GB" altLang="en-US" b="1" dirty="0" smtClean="0">
                <a:solidFill>
                  <a:srgbClr val="C00000"/>
                </a:solidFill>
              </a:rPr>
              <a:t>?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908720"/>
            <a:ext cx="8504238" cy="5472608"/>
          </a:xfrm>
        </p:spPr>
        <p:txBody>
          <a:bodyPr>
            <a:noAutofit/>
          </a:bodyPr>
          <a:lstStyle/>
          <a:p>
            <a:pPr marL="274320" indent="-274320" algn="just" rtl="0" eaLnBrk="1" fontAlgn="auto" hangingPunct="1">
              <a:lnSpc>
                <a:spcPct val="15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GB" altLang="en-US" b="1" dirty="0" smtClean="0"/>
              <a:t>Don’t Break bad news over the phone.</a:t>
            </a:r>
          </a:p>
          <a:p>
            <a:pPr marL="274320" indent="-274320" algn="just" rtl="0" eaLnBrk="1" fontAlgn="auto" hangingPunct="1">
              <a:lnSpc>
                <a:spcPct val="15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GB" altLang="en-US" b="1" dirty="0" smtClean="0"/>
              <a:t>Don’t Avoid the patient.</a:t>
            </a:r>
          </a:p>
          <a:p>
            <a:pPr marL="274320" indent="-274320" algn="just" rtl="0" eaLnBrk="1" fontAlgn="auto" hangingPunct="1">
              <a:lnSpc>
                <a:spcPct val="15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GB" altLang="en-US" b="1" dirty="0" smtClean="0"/>
              <a:t>Don’t Leave patient in suspense.</a:t>
            </a:r>
          </a:p>
          <a:p>
            <a:pPr marL="274320" indent="-274320" algn="just" rtl="0" eaLnBrk="1" fontAlgn="auto" hangingPunct="1">
              <a:lnSpc>
                <a:spcPct val="15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GB" altLang="en-US" b="1" dirty="0" smtClean="0"/>
              <a:t>Don’t Lie to the patient.</a:t>
            </a:r>
          </a:p>
          <a:p>
            <a:pPr marL="274320" indent="-274320" algn="just" rtl="0" eaLnBrk="1" fontAlgn="auto" hangingPunct="1">
              <a:lnSpc>
                <a:spcPct val="15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GB" altLang="en-US" b="1" dirty="0" smtClean="0"/>
              <a:t>Don’t Interrupt excessively.</a:t>
            </a:r>
          </a:p>
          <a:p>
            <a:pPr marL="274320" indent="-274320" algn="just" rtl="0" eaLnBrk="1" fontAlgn="auto" hangingPunct="1">
              <a:lnSpc>
                <a:spcPct val="15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GB" altLang="en-US" b="1" dirty="0" smtClean="0"/>
              <a:t>Don’t Use jargon.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2564904"/>
            <a:ext cx="2555776" cy="3816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66098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wheel spokes="1"/>
      </p:transition>
    </mc:Choice>
    <mc:Fallback xmlns="">
      <p:transition spd="slow">
        <p:wheel spokes="1"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332656"/>
            <a:ext cx="8640638" cy="6120680"/>
          </a:xfrm>
        </p:spPr>
        <p:txBody>
          <a:bodyPr>
            <a:noAutofit/>
          </a:bodyPr>
          <a:lstStyle/>
          <a:p>
            <a:pPr marL="274320" indent="-274320" algn="l" rtl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GB" altLang="en-US" sz="3600" b="1" dirty="0" smtClean="0">
                <a:latin typeface="+mj-lt"/>
              </a:rPr>
              <a:t>Don’t Give excessive information as this causes confusion.</a:t>
            </a:r>
          </a:p>
          <a:p>
            <a:pPr marL="0" indent="0" algn="l" rtl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endParaRPr lang="en-GB" altLang="en-US" sz="2000" b="1" dirty="0" smtClean="0">
              <a:latin typeface="+mj-lt"/>
            </a:endParaRPr>
          </a:p>
          <a:p>
            <a:pPr marL="274320" indent="-274320" algn="l" rtl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GB" altLang="en-US" sz="3600" b="1" dirty="0" smtClean="0">
                <a:latin typeface="+mj-lt"/>
              </a:rPr>
              <a:t>Don’t Be judgmental.</a:t>
            </a:r>
          </a:p>
          <a:p>
            <a:pPr marL="0" indent="0" algn="l" rtl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endParaRPr lang="en-GB" altLang="en-US" sz="1800" b="1" dirty="0" smtClean="0">
              <a:latin typeface="+mj-lt"/>
            </a:endParaRPr>
          </a:p>
          <a:p>
            <a:pPr marL="274320" indent="-274320" algn="l" rtl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GB" altLang="en-US" sz="3600" b="1" dirty="0" smtClean="0">
                <a:latin typeface="+mj-lt"/>
              </a:rPr>
              <a:t>Don’t Give a definite time span (just say "days to weeks" or "months to years" etc.</a:t>
            </a:r>
          </a:p>
          <a:p>
            <a:pPr marL="0" indent="0" algn="l" rtl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endParaRPr lang="en-GB" altLang="en-US" sz="1800" b="1" dirty="0" smtClean="0">
              <a:latin typeface="+mj-lt"/>
            </a:endParaRPr>
          </a:p>
          <a:p>
            <a:pPr marL="274320" indent="-274320" algn="l" rtl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GB" altLang="en-US" sz="3600" b="1" dirty="0" smtClean="0">
                <a:latin typeface="+mj-lt"/>
              </a:rPr>
              <a:t>Don’t Pretend treatment is working if it isn't.</a:t>
            </a:r>
          </a:p>
          <a:p>
            <a:pPr marL="0" indent="0" algn="l" rtl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endParaRPr lang="en-GB" altLang="en-US" sz="1800" b="1" dirty="0" smtClean="0">
              <a:latin typeface="+mj-lt"/>
            </a:endParaRPr>
          </a:p>
          <a:p>
            <a:pPr marL="274320" indent="-274320" algn="l" rtl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GB" altLang="en-US" sz="3600" b="1" dirty="0" smtClean="0">
                <a:latin typeface="+mj-lt"/>
              </a:rPr>
              <a:t>Don’t Say “Nothing can be done</a:t>
            </a:r>
            <a:r>
              <a:rPr lang="en-GB" altLang="en-US" sz="3600" b="1" dirty="0" smtClean="0">
                <a:latin typeface="+mj-lt"/>
              </a:rPr>
              <a:t>”.</a:t>
            </a:r>
            <a:endParaRPr lang="en-GB" altLang="en-US" sz="3600" b="1" dirty="0" smtClean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75230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260648"/>
            <a:ext cx="8568951" cy="1152227"/>
          </a:xfrm>
        </p:spPr>
        <p:txBody>
          <a:bodyPr>
            <a:noAutofit/>
          </a:bodyPr>
          <a:lstStyle/>
          <a:p>
            <a:pPr algn="ctr" rtl="0" eaLnBrk="1" hangingPunct="1"/>
            <a:r>
              <a:rPr lang="en-US" altLang="en-US" sz="3600" b="1" dirty="0" smtClean="0">
                <a:solidFill>
                  <a:srgbClr val="C00000"/>
                </a:solidFill>
              </a:rPr>
              <a:t>“Breaking Bad News" in the Emergency Department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539551" y="1772345"/>
            <a:ext cx="8064897" cy="4825007"/>
          </a:xfrm>
        </p:spPr>
        <p:txBody>
          <a:bodyPr>
            <a:normAutofit fontScale="62500" lnSpcReduction="20000"/>
          </a:bodyPr>
          <a:lstStyle/>
          <a:p>
            <a:pPr marL="0" indent="0" algn="l" rtl="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GB" altLang="en-US" sz="5800" b="1" dirty="0">
                <a:solidFill>
                  <a:srgbClr val="00B050"/>
                </a:solidFill>
              </a:rPr>
              <a:t>I</a:t>
            </a:r>
            <a:r>
              <a:rPr lang="en-GB" altLang="en-US" sz="5800" b="1" i="1" u="sng" dirty="0">
                <a:solidFill>
                  <a:srgbClr val="00B050"/>
                </a:solidFill>
              </a:rPr>
              <a:t>t is a difficult task because;</a:t>
            </a:r>
            <a:endParaRPr lang="en-US" altLang="en-US" sz="5800" b="1" i="1" u="sng" dirty="0" smtClean="0">
              <a:solidFill>
                <a:srgbClr val="00B050"/>
              </a:solidFill>
            </a:endParaRPr>
          </a:p>
          <a:p>
            <a:pPr marL="274320" indent="-274320" algn="just" rtl="0" eaLnBrk="1" fontAlgn="auto" hangingPunct="1">
              <a:lnSpc>
                <a:spcPct val="20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altLang="en-US" sz="4500" b="1" dirty="0" smtClean="0"/>
              <a:t>Families do not have time to prepare for the bad news.</a:t>
            </a:r>
          </a:p>
          <a:p>
            <a:pPr marL="274320" indent="-274320" algn="just" rtl="0" eaLnBrk="1" fontAlgn="auto" hangingPunct="1">
              <a:lnSpc>
                <a:spcPct val="20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altLang="en-US" sz="4500" b="1" dirty="0" smtClean="0"/>
              <a:t>Practitioners do not  have a previous relation with patient or family </a:t>
            </a:r>
          </a:p>
          <a:p>
            <a:pPr marL="274320" indent="-274320" algn="just" rtl="0" eaLnBrk="1" fontAlgn="auto" hangingPunct="1">
              <a:lnSpc>
                <a:spcPct val="20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altLang="en-US" sz="4500" b="1" dirty="0" smtClean="0"/>
              <a:t>A stressful situation for practitioners.</a:t>
            </a:r>
          </a:p>
          <a:p>
            <a:pPr marL="274320" indent="-274320" algn="l" rtl="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en-US" alt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4212790582"/>
      </p:ext>
    </p:extLst>
  </p:cSld>
  <p:clrMapOvr>
    <a:masterClrMapping/>
  </p:clrMapOvr>
  <p:transition spd="slow">
    <p:pull dir="r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188640"/>
            <a:ext cx="8641085" cy="1008111"/>
          </a:xfrm>
        </p:spPr>
        <p:txBody>
          <a:bodyPr>
            <a:noAutofit/>
          </a:bodyPr>
          <a:lstStyle/>
          <a:p>
            <a:pPr algn="ctr" rtl="0" eaLnBrk="1" fontAlgn="auto" hangingPunct="1">
              <a:spcAft>
                <a:spcPts val="0"/>
              </a:spcAft>
              <a:defRPr/>
            </a:pPr>
            <a:r>
              <a:rPr lang="en-US" altLang="en-US" sz="2800" b="1" dirty="0" smtClean="0">
                <a:solidFill>
                  <a:srgbClr val="C00000"/>
                </a:solidFill>
              </a:rPr>
              <a:t>Breaking bad news </a:t>
            </a:r>
            <a:r>
              <a:rPr lang="en-US" altLang="en-US" sz="2800" b="1" dirty="0" smtClean="0">
                <a:solidFill>
                  <a:srgbClr val="0070C0"/>
                </a:solidFill>
              </a:rPr>
              <a:t>(Death Notifications) </a:t>
            </a:r>
            <a:r>
              <a:rPr lang="en-US" altLang="en-US" sz="2800" b="1" dirty="0">
                <a:solidFill>
                  <a:srgbClr val="C00000"/>
                </a:solidFill>
              </a:rPr>
              <a:t>In The Emergency Department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1340768"/>
            <a:ext cx="8856662" cy="5256584"/>
          </a:xfrm>
        </p:spPr>
        <p:txBody>
          <a:bodyPr>
            <a:normAutofit fontScale="92500" lnSpcReduction="10000"/>
          </a:bodyPr>
          <a:lstStyle/>
          <a:p>
            <a:pPr marL="0" indent="0" algn="l" rtl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b="1" dirty="0" smtClean="0">
                <a:solidFill>
                  <a:srgbClr val="00B050"/>
                </a:solidFill>
              </a:rPr>
              <a:t>BE READY FOR</a:t>
            </a:r>
          </a:p>
          <a:p>
            <a:pPr marL="274320" indent="-274320" algn="l" rtl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b="1" dirty="0" smtClean="0"/>
              <a:t>Initial reaction of eruption of grief</a:t>
            </a:r>
          </a:p>
          <a:p>
            <a:pPr marL="274320" indent="-274320" algn="l" rtl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b="1" dirty="0" smtClean="0"/>
              <a:t>Reactions are varied according to the culture of the people </a:t>
            </a:r>
          </a:p>
          <a:p>
            <a:pPr marL="274320" indent="-274320" algn="l" rtl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b="1" dirty="0" smtClean="0"/>
              <a:t>Very rarely yet chances of hostile reaction towards the staff</a:t>
            </a:r>
          </a:p>
          <a:p>
            <a:pPr marL="393192" lvl="1" indent="0" algn="l" rtl="0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None/>
              <a:defRPr/>
            </a:pPr>
            <a:endParaRPr lang="en-US" b="1" dirty="0" smtClean="0"/>
          </a:p>
          <a:p>
            <a:pPr marL="0" indent="0" algn="l" rtl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b="1" dirty="0">
                <a:solidFill>
                  <a:srgbClr val="00B050"/>
                </a:solidFill>
              </a:rPr>
              <a:t>WHAT TO </a:t>
            </a:r>
            <a:r>
              <a:rPr lang="en-US" b="1" dirty="0" smtClean="0">
                <a:solidFill>
                  <a:srgbClr val="00B050"/>
                </a:solidFill>
              </a:rPr>
              <a:t>DO? </a:t>
            </a:r>
            <a:endParaRPr lang="en-US" b="1" dirty="0">
              <a:solidFill>
                <a:srgbClr val="00B050"/>
              </a:solidFill>
            </a:endParaRPr>
          </a:p>
          <a:p>
            <a:pPr marL="274320" indent="-274320" algn="l" rtl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b="1" dirty="0" smtClean="0"/>
              <a:t>Physician should stay in room with family: </a:t>
            </a:r>
          </a:p>
          <a:p>
            <a:pPr marL="640080" lvl="1" indent="-246888" algn="l" rtl="0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b="1" dirty="0" smtClean="0"/>
              <a:t>As a resource</a:t>
            </a:r>
          </a:p>
          <a:p>
            <a:pPr marL="640080" lvl="1" indent="-246888" algn="l" rtl="0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b="1" dirty="0" smtClean="0"/>
              <a:t>As a silent presence</a:t>
            </a:r>
          </a:p>
          <a:p>
            <a:pPr marL="640080" lvl="1" indent="-246888" algn="l" rtl="0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b="1" dirty="0" smtClean="0"/>
              <a:t>Remind family members that it was not their fault.</a:t>
            </a:r>
          </a:p>
        </p:txBody>
      </p:sp>
    </p:spTree>
    <p:extLst>
      <p:ext uri="{BB962C8B-B14F-4D97-AF65-F5344CB8AC3E}">
        <p14:creationId xmlns:p14="http://schemas.microsoft.com/office/powerpoint/2010/main" val="4213585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1720" y="116632"/>
            <a:ext cx="4824536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b="1" dirty="0" smtClean="0">
                <a:solidFill>
                  <a:schemeClr val="accent2">
                    <a:lumMod val="75000"/>
                  </a:schemeClr>
                </a:solidFill>
              </a:rPr>
              <a:t>What to do 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544616"/>
          </a:xfrm>
        </p:spPr>
        <p:txBody>
          <a:bodyPr>
            <a:normAutofit lnSpcReduction="10000"/>
          </a:bodyPr>
          <a:lstStyle/>
          <a:p>
            <a:pPr algn="l" rtl="0">
              <a:defRPr/>
            </a:pPr>
            <a:r>
              <a:rPr lang="en-US" altLang="en-US" b="1" dirty="0" smtClean="0"/>
              <a:t>Gather the family to support them </a:t>
            </a:r>
          </a:p>
          <a:p>
            <a:pPr algn="l" rtl="0">
              <a:defRPr/>
            </a:pPr>
            <a:r>
              <a:rPr lang="en-US" altLang="en-US" b="1" dirty="0" smtClean="0"/>
              <a:t>Identify the deceased patient by name and the knowledge to be disclosed to the family. </a:t>
            </a:r>
          </a:p>
          <a:p>
            <a:pPr algn="l" rtl="0">
              <a:defRPr/>
            </a:pPr>
            <a:r>
              <a:rPr lang="en-US" altLang="en-US" b="1" dirty="0" smtClean="0"/>
              <a:t>Explain to family about the event that occurred for their deceased in the emergency.</a:t>
            </a:r>
          </a:p>
          <a:p>
            <a:pPr algn="l" rtl="0">
              <a:defRPr/>
            </a:pPr>
            <a:r>
              <a:rPr lang="en-US" altLang="en-US" b="1" dirty="0" smtClean="0"/>
              <a:t>Give the family personal space and time for emotional moment and absorb the information.</a:t>
            </a:r>
          </a:p>
          <a:p>
            <a:pPr algn="l" rtl="0">
              <a:defRPr/>
            </a:pPr>
            <a:r>
              <a:rPr lang="en-US" altLang="en-US" b="1" dirty="0"/>
              <a:t>Ask if there are any questions, answer them all.</a:t>
            </a:r>
          </a:p>
        </p:txBody>
      </p:sp>
    </p:spTree>
    <p:extLst>
      <p:ext uri="{BB962C8B-B14F-4D97-AF65-F5344CB8AC3E}">
        <p14:creationId xmlns:p14="http://schemas.microsoft.com/office/powerpoint/2010/main" val="3828638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6"/>
          <p:cNvSpPr>
            <a:spLocks noGrp="1" noChangeArrowheads="1"/>
          </p:cNvSpPr>
          <p:nvPr>
            <p:ph type="title"/>
          </p:nvPr>
        </p:nvSpPr>
        <p:spPr>
          <a:xfrm>
            <a:off x="2339752" y="71438"/>
            <a:ext cx="4176464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b="1" dirty="0" smtClean="0">
                <a:solidFill>
                  <a:srgbClr val="990033"/>
                </a:solidFill>
              </a:rPr>
              <a:t>Conclusion</a:t>
            </a:r>
            <a:endParaRPr lang="en-GB" altLang="en-US" b="1" dirty="0" smtClean="0">
              <a:solidFill>
                <a:srgbClr val="990033"/>
              </a:solidFill>
            </a:endParaRPr>
          </a:p>
        </p:txBody>
      </p:sp>
      <p:sp>
        <p:nvSpPr>
          <p:cNvPr id="41987" name="Rectangle 7"/>
          <p:cNvSpPr>
            <a:spLocks noGrp="1" noChangeArrowheads="1"/>
          </p:cNvSpPr>
          <p:nvPr>
            <p:ph idx="1"/>
          </p:nvPr>
        </p:nvSpPr>
        <p:spPr>
          <a:xfrm>
            <a:off x="500062" y="1052736"/>
            <a:ext cx="8104385" cy="5616624"/>
          </a:xfrm>
        </p:spPr>
        <p:txBody>
          <a:bodyPr>
            <a:noAutofit/>
          </a:bodyPr>
          <a:lstStyle/>
          <a:p>
            <a:pPr marL="274320" indent="-274320" algn="l" rtl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GB" altLang="en-US" b="1" smtClean="0"/>
              <a:t>Preparation</a:t>
            </a:r>
          </a:p>
          <a:p>
            <a:pPr marL="274320" indent="-274320" algn="l" rtl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GB" altLang="en-US" b="1" smtClean="0"/>
              <a:t>What does the patient know?</a:t>
            </a:r>
          </a:p>
          <a:p>
            <a:pPr marL="274320" indent="-274320" algn="l" rtl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GB" altLang="en-US" b="1" smtClean="0"/>
              <a:t>Is more information wanted?</a:t>
            </a:r>
          </a:p>
          <a:p>
            <a:pPr marL="274320" indent="-274320" algn="l" rtl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GB" altLang="en-US" b="1" smtClean="0"/>
              <a:t>Give a warning shot</a:t>
            </a:r>
          </a:p>
          <a:p>
            <a:pPr marL="274320" indent="-274320" algn="l" rtl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GB" altLang="en-US" b="1" smtClean="0"/>
              <a:t>Allow denial</a:t>
            </a:r>
          </a:p>
          <a:p>
            <a:pPr marL="274320" indent="-274320" algn="l" rtl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GB" altLang="en-US" b="1" smtClean="0"/>
              <a:t>Explain (if requested)</a:t>
            </a:r>
          </a:p>
          <a:p>
            <a:pPr marL="274320" indent="-274320" algn="l" rtl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GB" altLang="en-US" b="1" smtClean="0"/>
              <a:t>Listen to concerns</a:t>
            </a:r>
          </a:p>
          <a:p>
            <a:pPr marL="274320" indent="-274320" algn="l" rtl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GB" altLang="en-US" b="1" smtClean="0"/>
              <a:t>Encourage ventilation of feelings</a:t>
            </a:r>
          </a:p>
          <a:p>
            <a:pPr marL="274320" indent="-274320" algn="l" rtl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GB" altLang="en-US" b="1" smtClean="0"/>
              <a:t>Summary –and –plan</a:t>
            </a:r>
          </a:p>
          <a:p>
            <a:pPr marL="274320" indent="-274320" algn="l" rtl="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GB" altLang="en-US" b="1" smtClean="0"/>
              <a:t>Offer availability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908720"/>
            <a:ext cx="2880320" cy="3888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3193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Content Placeholder 2"/>
          <p:cNvSpPr>
            <a:spLocks noGrp="1"/>
          </p:cNvSpPr>
          <p:nvPr>
            <p:ph idx="1"/>
          </p:nvPr>
        </p:nvSpPr>
        <p:spPr>
          <a:xfrm>
            <a:off x="899592" y="332656"/>
            <a:ext cx="7560840" cy="1008112"/>
          </a:xfrm>
          <a:ln w="57150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274320" indent="-274320" algn="ctr" rtl="0" eaLnBrk="1" fontAlgn="auto" hangingPunct="1">
              <a:spcAft>
                <a:spcPts val="0"/>
              </a:spcAft>
              <a:buClr>
                <a:schemeClr val="accent3"/>
              </a:buClr>
              <a:buFont typeface="Wingdings 2" pitchFamily="18" charset="2"/>
              <a:buNone/>
              <a:defRPr/>
            </a:pPr>
            <a:r>
              <a:rPr lang="en-US" sz="3600" dirty="0" smtClean="0">
                <a:solidFill>
                  <a:srgbClr val="00B050"/>
                </a:solidFill>
              </a:rPr>
              <a:t>‘</a:t>
            </a:r>
            <a:r>
              <a:rPr lang="en-US" sz="4400" b="1" dirty="0" smtClean="0">
                <a:solidFill>
                  <a:srgbClr val="00B050"/>
                </a:solidFill>
              </a:rPr>
              <a:t>The task of breaking bad news </a:t>
            </a:r>
          </a:p>
          <a:p>
            <a:pPr marL="274320" indent="-274320" algn="ctr" rtl="0" eaLnBrk="1" fontAlgn="auto" hangingPunct="1">
              <a:spcAft>
                <a:spcPts val="0"/>
              </a:spcAft>
              <a:buClr>
                <a:schemeClr val="accent3"/>
              </a:buClr>
              <a:buFont typeface="Wingdings 2" pitchFamily="18" charset="2"/>
              <a:buNone/>
              <a:defRPr/>
            </a:pPr>
            <a:endParaRPr lang="en-US" sz="2800" b="1" i="1" dirty="0" smtClean="0">
              <a:solidFill>
                <a:srgbClr val="0070C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 rot="21028498">
            <a:off x="4067944" y="2276872"/>
            <a:ext cx="4824536" cy="1368152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vert="horz" lIns="91440" tIns="45720" rIns="91440" bIns="45720" rtlCol="1">
            <a:noAutofit/>
          </a:bodyPr>
          <a:lstStyle>
            <a:lvl1pPr marL="342900" indent="-3429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indent="-274320" algn="ctr" rtl="0">
              <a:buClr>
                <a:schemeClr val="accent3"/>
              </a:buClr>
              <a:buFont typeface="Wingdings 2" pitchFamily="18" charset="2"/>
              <a:buNone/>
              <a:defRPr/>
            </a:pPr>
            <a:r>
              <a:rPr lang="en-US" b="1" dirty="0" smtClean="0">
                <a:solidFill>
                  <a:srgbClr val="00B050"/>
                </a:solidFill>
              </a:rPr>
              <a:t>‘</a:t>
            </a:r>
            <a:r>
              <a:rPr lang="en-US" b="1" i="1" dirty="0" smtClean="0">
                <a:solidFill>
                  <a:srgbClr val="0070C0"/>
                </a:solidFill>
              </a:rPr>
              <a:t>if we do it well,</a:t>
            </a:r>
            <a:r>
              <a:rPr lang="en-US" sz="2800" b="1" i="1" dirty="0" smtClean="0"/>
              <a:t> </a:t>
            </a:r>
          </a:p>
          <a:p>
            <a:pPr marL="274320" indent="-274320" algn="ctr" rtl="0">
              <a:buClr>
                <a:schemeClr val="accent3"/>
              </a:buClr>
              <a:buFont typeface="Wingdings 2" pitchFamily="18" charset="2"/>
              <a:buNone/>
              <a:defRPr/>
            </a:pPr>
            <a:r>
              <a:rPr lang="en-US" b="1" dirty="0" smtClean="0"/>
              <a:t>they will </a:t>
            </a:r>
            <a:r>
              <a:rPr lang="en-US" b="1" dirty="0" smtClean="0">
                <a:solidFill>
                  <a:srgbClr val="FF0000"/>
                </a:solidFill>
              </a:rPr>
              <a:t>never forget us</a:t>
            </a:r>
            <a:endParaRPr lang="en-US" b="1" dirty="0" smtClean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 rot="1217341">
            <a:off x="326554" y="4149080"/>
            <a:ext cx="5901630" cy="1800200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vert="horz" lIns="91440" tIns="45720" rIns="91440" bIns="45720" rtlCol="1">
            <a:normAutofit fontScale="77500" lnSpcReduction="20000"/>
          </a:bodyPr>
          <a:lstStyle>
            <a:lvl1pPr marL="342900" indent="-3429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indent="-274320">
              <a:buClr>
                <a:schemeClr val="accent3"/>
              </a:buClr>
              <a:buFont typeface="Wingdings 2" pitchFamily="18" charset="2"/>
              <a:buNone/>
              <a:defRPr/>
            </a:pPr>
            <a:endParaRPr lang="en-US" dirty="0" smtClean="0"/>
          </a:p>
          <a:p>
            <a:pPr marL="274320" indent="-274320" algn="ctr" rtl="0">
              <a:buClr>
                <a:schemeClr val="accent3"/>
              </a:buClr>
              <a:buFont typeface="Wingdings 2" pitchFamily="18" charset="2"/>
              <a:buNone/>
              <a:defRPr/>
            </a:pPr>
            <a:r>
              <a:rPr lang="en-US" sz="4000" b="1" i="1" dirty="0" smtClean="0">
                <a:solidFill>
                  <a:srgbClr val="0070C0"/>
                </a:solidFill>
              </a:rPr>
              <a:t>If we do it badly </a:t>
            </a:r>
            <a:r>
              <a:rPr lang="en-US" i="1" dirty="0" smtClean="0">
                <a:solidFill>
                  <a:srgbClr val="0070C0"/>
                </a:solidFill>
              </a:rPr>
              <a:t>,</a:t>
            </a:r>
          </a:p>
          <a:p>
            <a:pPr marL="274320" indent="-274320" algn="ctr" rtl="0">
              <a:buClr>
                <a:schemeClr val="accent3"/>
              </a:buClr>
              <a:buFont typeface="Wingdings 2" pitchFamily="18" charset="2"/>
              <a:buNone/>
              <a:defRPr/>
            </a:pPr>
            <a:r>
              <a:rPr lang="en-US" sz="3600" b="1" dirty="0" smtClean="0"/>
              <a:t>the patients or  family members may</a:t>
            </a:r>
          </a:p>
          <a:p>
            <a:pPr marL="274320" indent="-274320" algn="ctr" rtl="0">
              <a:buClr>
                <a:schemeClr val="accent3"/>
              </a:buClr>
              <a:buFont typeface="Wingdings 2" pitchFamily="18" charset="2"/>
              <a:buNone/>
              <a:defRPr/>
            </a:pPr>
            <a:r>
              <a:rPr lang="en-US" sz="3600" b="1" dirty="0" smtClean="0"/>
              <a:t> </a:t>
            </a:r>
            <a:r>
              <a:rPr lang="en-US" sz="3600" b="1" dirty="0" smtClean="0">
                <a:solidFill>
                  <a:srgbClr val="FF0000"/>
                </a:solidFill>
              </a:rPr>
              <a:t>never forgive us</a:t>
            </a:r>
            <a:endParaRPr lang="en-US" sz="3600" b="1" dirty="0" smtClean="0"/>
          </a:p>
        </p:txBody>
      </p:sp>
      <p:cxnSp>
        <p:nvCxnSpPr>
          <p:cNvPr id="7" name="Straight Arrow Connector 6"/>
          <p:cNvCxnSpPr>
            <a:stCxn id="44035" idx="2"/>
          </p:cNvCxnSpPr>
          <p:nvPr/>
        </p:nvCxnSpPr>
        <p:spPr>
          <a:xfrm>
            <a:off x="4680012" y="1340768"/>
            <a:ext cx="1116124" cy="936104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2123728" y="1493168"/>
            <a:ext cx="2708684" cy="2079848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7229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332656"/>
            <a:ext cx="8964488" cy="6381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40743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1239</TotalTime>
  <Words>1205</Words>
  <Application>Microsoft Office PowerPoint</Application>
  <PresentationFormat>On-screen Show (4:3)</PresentationFormat>
  <Paragraphs>218</Paragraphs>
  <Slides>32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BREAKING BAD NEWS </vt:lpstr>
      <vt:lpstr>PowerPoint Presentation</vt:lpstr>
      <vt:lpstr>Objectives</vt:lpstr>
      <vt:lpstr>What is “Bad News” in Medicine?</vt:lpstr>
      <vt:lpstr>Examples of bad news in medicine may include:</vt:lpstr>
      <vt:lpstr>“Bad News” may also include</vt:lpstr>
      <vt:lpstr>Breaking Bad News “Options”</vt:lpstr>
      <vt:lpstr>Patients give priority to</vt:lpstr>
      <vt:lpstr>Most patients want 2 things</vt:lpstr>
      <vt:lpstr>Response of the patients to the bad news </vt:lpstr>
      <vt:lpstr>Problems affect delivering bad news </vt:lpstr>
      <vt:lpstr>Basic Principles </vt:lpstr>
      <vt:lpstr>“So you have to do the following : </vt:lpstr>
      <vt:lpstr>How should Bad News be delivered?</vt:lpstr>
      <vt:lpstr>How should Bad News be delivered?</vt:lpstr>
      <vt:lpstr>Steps of Preparation</vt:lpstr>
      <vt:lpstr>Preparation 1. (Prepare Yourself) </vt:lpstr>
      <vt:lpstr>Preparation 2. (Prepare Your Setting) </vt:lpstr>
      <vt:lpstr>Preparation 3.(Prepare Your Patient)</vt:lpstr>
      <vt:lpstr>Delivering the News</vt:lpstr>
      <vt:lpstr>PowerPoint Presentation</vt:lpstr>
      <vt:lpstr>Response to Reaction &amp; Care Plan</vt:lpstr>
      <vt:lpstr>PowerPoint Presentation</vt:lpstr>
      <vt:lpstr>What Not to Do ?</vt:lpstr>
      <vt:lpstr>What Not to Do ?</vt:lpstr>
      <vt:lpstr>PowerPoint Presentation</vt:lpstr>
      <vt:lpstr>“Breaking Bad News" in the Emergency Department</vt:lpstr>
      <vt:lpstr>Breaking bad news (Death Notifications) In The Emergency Department</vt:lpstr>
      <vt:lpstr>What to do 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BREAKING BAD NEWS</dc:title>
  <dc:creator>DR Nahed</dc:creator>
  <cp:lastModifiedBy>DR Nahed</cp:lastModifiedBy>
  <cp:revision>40</cp:revision>
  <dcterms:created xsi:type="dcterms:W3CDTF">2023-09-01T16:35:33Z</dcterms:created>
  <dcterms:modified xsi:type="dcterms:W3CDTF">2023-09-04T11:35:50Z</dcterms:modified>
</cp:coreProperties>
</file>